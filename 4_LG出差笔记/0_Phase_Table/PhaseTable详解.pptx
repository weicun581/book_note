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6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8" r:id="rId9"/>
    <p:sldId id="259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6" r:id="rId18"/>
    <p:sldId id="277" r:id="rId19"/>
    <p:sldId id="272" r:id="rId20"/>
    <p:sldId id="274" r:id="rId21"/>
    <p:sldId id="273" r:id="rId22"/>
    <p:sldId id="288" r:id="rId23"/>
    <p:sldId id="289" r:id="rId24"/>
    <p:sldId id="278" r:id="rId25"/>
    <p:sldId id="279" r:id="rId26"/>
    <p:sldId id="280" r:id="rId27"/>
    <p:sldId id="281" r:id="rId28"/>
    <p:sldId id="287" r:id="rId29"/>
    <p:sldId id="282" r:id="rId30"/>
    <p:sldId id="283" r:id="rId31"/>
    <p:sldId id="285" r:id="rId32"/>
    <p:sldId id="299" r:id="rId33"/>
    <p:sldId id="286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00" r:id="rId44"/>
    <p:sldId id="301" r:id="rId4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1BB8F-1F79-4C22-AAB5-F1C08E749D77}" type="datetimeFigureOut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0BB21-7E17-4AEB-BA24-C6D90E9311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22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20BB21-7E17-4AEB-BA24-C6D90E9311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314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8E83-B14A-4F28-A656-78106973EDFA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35F4-3B2B-4ED9-A4A2-B107782D4E80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C924C-ACE1-41C3-A912-75069B1B61E8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17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3AC7-3BD6-4751-A14A-24E9F52B1D0D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30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E85D-F4EB-4731-A9B2-8A0E47A5F2E2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5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9AC4E-8C4E-4B5C-9457-EB03CEEE3616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58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6B650-9F12-411C-8D27-7C9D7CCBB75C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95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BC18-973D-43AD-9FA3-0049AB4D2037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23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8B62-8FA0-4936-898C-5498C3B6D208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1469-3F34-426E-BD3C-80B2F67C904B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25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B544-ED16-41BC-ABB3-2D930107A073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2CBDB-B6C5-47D3-9EFB-E48511BBA9F1}" type="datetime1">
              <a:rPr lang="zh-CN" altLang="en-US" smtClean="0"/>
              <a:t>2017/3/6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16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emf"/><Relationship Id="rId5" Type="http://schemas.openxmlformats.org/officeDocument/2006/relationships/image" Target="../media/image11.emf"/><Relationship Id="rId10" Type="http://schemas.openxmlformats.org/officeDocument/2006/relationships/package" Target="../embeddings/Microsoft_Excel_Worksheet3.xlsx"/><Relationship Id="rId4" Type="http://schemas.openxmlformats.org/officeDocument/2006/relationships/package" Target="../embeddings/Microsoft_Excel_Worksheet1.xlsx"/><Relationship Id="rId9" Type="http://schemas.openxmlformats.org/officeDocument/2006/relationships/oleObject" Target="../embeddings/oleObject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17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Excel_Worksheet5.xlsx"/><Relationship Id="rId12" Type="http://schemas.openxmlformats.org/officeDocument/2006/relationships/package" Target="../embeddings/Microsoft_Excel_Worksheet7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11" Type="http://schemas.openxmlformats.org/officeDocument/2006/relationships/oleObject" Target="../embeddings/oleObject12.bin"/><Relationship Id="rId5" Type="http://schemas.openxmlformats.org/officeDocument/2006/relationships/image" Target="../media/image14.emf"/><Relationship Id="rId10" Type="http://schemas.openxmlformats.org/officeDocument/2006/relationships/image" Target="../media/image16.emf"/><Relationship Id="rId4" Type="http://schemas.openxmlformats.org/officeDocument/2006/relationships/package" Target="../embeddings/Microsoft_Excel_Worksheet4.xlsx"/><Relationship Id="rId9" Type="http://schemas.openxmlformats.org/officeDocument/2006/relationships/package" Target="../embeddings/Microsoft_Excel_Worksheet6.xlsx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Excel_Worksheet9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8.emf"/><Relationship Id="rId10" Type="http://schemas.openxmlformats.org/officeDocument/2006/relationships/image" Target="../media/image20.emf"/><Relationship Id="rId4" Type="http://schemas.openxmlformats.org/officeDocument/2006/relationships/package" Target="../embeddings/Microsoft_Excel_Worksheet8.xlsx"/><Relationship Id="rId9" Type="http://schemas.openxmlformats.org/officeDocument/2006/relationships/oleObject" Target="../embeddings/oleObject1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Excel_Worksheet1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Excel_Worksheet10.xls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Excel_Worksheet12.xls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Excel_Worksheet14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Excel_Worksheet13.xls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0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5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Excel_Worksheet15.xls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Excel_Worksheet16.xls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Excel_Worksheet17.xlsx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Phase Table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 smtClean="0"/>
              <a:t>Lisa Xu</a:t>
            </a:r>
          </a:p>
          <a:p>
            <a:pPr algn="r"/>
            <a:r>
              <a:rPr lang="en-US" altLang="zh-CN" dirty="0" smtClean="0"/>
              <a:t>20170217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54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为什么需要</a:t>
            </a:r>
            <a:r>
              <a:rPr lang="en-US" altLang="zh-CN" dirty="0"/>
              <a:t>phase table?</a:t>
            </a:r>
          </a:p>
          <a:p>
            <a:r>
              <a:rPr lang="zh-CN" altLang="en-US" dirty="0" smtClean="0"/>
              <a:t>什么是</a:t>
            </a:r>
            <a:r>
              <a:rPr lang="en-US" altLang="zh-CN" dirty="0" smtClean="0"/>
              <a:t>phase table?</a:t>
            </a:r>
          </a:p>
          <a:p>
            <a:r>
              <a:rPr lang="zh-CN" altLang="en-US" dirty="0" smtClean="0"/>
              <a:t>何时需要</a:t>
            </a:r>
            <a:r>
              <a:rPr lang="en-US" altLang="zh-CN" dirty="0" smtClean="0"/>
              <a:t>phase table generate?</a:t>
            </a:r>
            <a:endParaRPr lang="en-US" altLang="zh-CN" dirty="0"/>
          </a:p>
          <a:p>
            <a:r>
              <a:rPr lang="zh-CN" altLang="en-US" dirty="0" smtClean="0"/>
              <a:t>怎样实现</a:t>
            </a:r>
            <a:r>
              <a:rPr lang="en-US" altLang="zh-CN" dirty="0" smtClean="0"/>
              <a:t>phase table generate?</a:t>
            </a:r>
          </a:p>
          <a:p>
            <a:r>
              <a:rPr lang="en-US" altLang="zh-CN" dirty="0" smtClean="0"/>
              <a:t>FW</a:t>
            </a:r>
            <a:r>
              <a:rPr lang="zh-CN" altLang="en-US" dirty="0" smtClean="0"/>
              <a:t>里的注意点</a:t>
            </a:r>
          </a:p>
        </p:txBody>
      </p:sp>
    </p:spTree>
    <p:extLst>
      <p:ext uri="{BB962C8B-B14F-4D97-AF65-F5344CB8AC3E}">
        <p14:creationId xmlns:p14="http://schemas.microsoft.com/office/powerpoint/2010/main" val="176620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</a:t>
            </a:r>
            <a:r>
              <a:rPr lang="en-US" altLang="zh-CN" dirty="0"/>
              <a:t>phase table?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N2M(Framerate </a:t>
            </a:r>
            <a:r>
              <a:rPr lang="zh-CN" altLang="en-US" dirty="0" smtClean="0"/>
              <a:t>转换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N2M = 1:1(60hz -&gt; 60hz)</a:t>
            </a:r>
          </a:p>
          <a:p>
            <a:pPr lvl="1"/>
            <a:r>
              <a:rPr lang="en-US" altLang="zh-CN" dirty="0" smtClean="0"/>
              <a:t>N2M = 1:2(30hz -&gt; 60hz)</a:t>
            </a:r>
          </a:p>
          <a:p>
            <a:r>
              <a:rPr lang="en-US" altLang="zh-CN" dirty="0" smtClean="0"/>
              <a:t>Cadence(input</a:t>
            </a:r>
            <a:r>
              <a:rPr lang="zh-CN" altLang="en-US" dirty="0" smtClean="0"/>
              <a:t>重复帧数的规律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Video(1111): ABCDEFG</a:t>
            </a:r>
          </a:p>
          <a:p>
            <a:pPr lvl="1"/>
            <a:r>
              <a:rPr lang="en-US" altLang="zh-CN" dirty="0" smtClean="0"/>
              <a:t>22(1010): AABBCCDD</a:t>
            </a:r>
          </a:p>
          <a:p>
            <a:pPr lvl="1"/>
            <a:r>
              <a:rPr lang="en-US" altLang="zh-CN" dirty="0" smtClean="0"/>
              <a:t>32(10010): AAABBCCCDD</a:t>
            </a:r>
          </a:p>
          <a:p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748397"/>
              </p:ext>
            </p:extLst>
          </p:nvPr>
        </p:nvGraphicFramePr>
        <p:xfrm>
          <a:off x="6228184" y="1556792"/>
          <a:ext cx="2474317" cy="1604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" name="Visio" r:id="rId4" imgW="1490074" imgH="967442" progId="Visio.Drawing.11">
                  <p:embed/>
                </p:oleObj>
              </mc:Choice>
              <mc:Fallback>
                <p:oleObj name="Visio" r:id="rId4" imgW="1490074" imgH="96744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28184" y="1556792"/>
                        <a:ext cx="2474317" cy="1604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524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214" y="4029432"/>
            <a:ext cx="4551195" cy="245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340768"/>
            <a:ext cx="4853449" cy="2613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为什么需要</a:t>
            </a:r>
            <a:r>
              <a:rPr lang="en-US" altLang="zh-CN" dirty="0" smtClean="0"/>
              <a:t>phase table?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60hz -&gt; 60hz</a:t>
            </a:r>
          </a:p>
          <a:p>
            <a:pPr lvl="1"/>
            <a:r>
              <a:rPr lang="en-US" altLang="zh-CN" dirty="0" smtClean="0"/>
              <a:t>Write frame: E</a:t>
            </a:r>
          </a:p>
          <a:p>
            <a:pPr lvl="1"/>
            <a:r>
              <a:rPr lang="en-US" altLang="zh-CN" dirty="0" smtClean="0"/>
              <a:t>Output frame: C</a:t>
            </a:r>
            <a:endParaRPr lang="en-US" altLang="zh-CN" dirty="0"/>
          </a:p>
          <a:p>
            <a:r>
              <a:rPr lang="en-US" altLang="zh-CN" dirty="0" smtClean="0"/>
              <a:t>60(22)</a:t>
            </a:r>
            <a:r>
              <a:rPr lang="en-US" altLang="zh-CN" dirty="0" err="1" smtClean="0"/>
              <a:t>hz</a:t>
            </a:r>
            <a:r>
              <a:rPr lang="en-US" altLang="zh-CN" dirty="0" smtClean="0"/>
              <a:t> -&gt; 60hz</a:t>
            </a:r>
          </a:p>
          <a:p>
            <a:pPr lvl="1"/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A0A1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B0B1</a:t>
            </a:r>
          </a:p>
          <a:p>
            <a:pPr lvl="1"/>
            <a:r>
              <a:rPr lang="en-US" altLang="zh-CN" dirty="0" smtClean="0"/>
              <a:t>Write frame: A0</a:t>
            </a:r>
          </a:p>
          <a:p>
            <a:pPr lvl="1"/>
            <a:r>
              <a:rPr lang="en-US" altLang="zh-CN" dirty="0" smtClean="0"/>
              <a:t>Output frame: =Y1*32 + Z1*(64-32)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8994" y="6453336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</a:t>
            </a:r>
            <a:r>
              <a:rPr lang="zh-CN" altLang="en-US" dirty="0" smtClean="0"/>
              <a:t>以</a:t>
            </a:r>
            <a:r>
              <a:rPr lang="en-US" altLang="zh-CN" dirty="0" smtClean="0"/>
              <a:t>merlin</a:t>
            </a:r>
            <a:r>
              <a:rPr lang="zh-CN" altLang="en-US" dirty="0" smtClean="0"/>
              <a:t>的表格举例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5753041" y="2647727"/>
            <a:ext cx="360040" cy="1306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969065" y="5167692"/>
            <a:ext cx="360040" cy="1306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99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为什么需要</a:t>
            </a:r>
            <a:r>
              <a:rPr lang="en-US" altLang="zh-CN" dirty="0" smtClean="0"/>
              <a:t>phase table?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</a:t>
            </a:r>
            <a:r>
              <a:rPr lang="zh-CN" altLang="en-US" dirty="0" smtClean="0"/>
              <a:t>在写的</a:t>
            </a:r>
            <a:r>
              <a:rPr lang="en-US" altLang="zh-CN" dirty="0" smtClean="0"/>
              <a:t>frame </a:t>
            </a:r>
            <a:r>
              <a:rPr lang="zh-CN" altLang="en-US" dirty="0" smtClean="0"/>
              <a:t>不能被读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=&gt; </a:t>
            </a:r>
            <a:r>
              <a:rPr lang="zh-CN" altLang="en-US" dirty="0" smtClean="0"/>
              <a:t>需要多块</a:t>
            </a:r>
            <a:r>
              <a:rPr lang="en-US" altLang="zh-CN" dirty="0" smtClean="0"/>
              <a:t>buffer</a:t>
            </a:r>
            <a:r>
              <a:rPr lang="zh-CN" altLang="en-US" dirty="0" smtClean="0"/>
              <a:t>缓存</a:t>
            </a:r>
            <a:r>
              <a:rPr lang="en-US" altLang="zh-CN" dirty="0" smtClean="0"/>
              <a:t>input frame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=&gt; Merlin/merlin2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buffer = 6</a:t>
            </a:r>
            <a:r>
              <a:rPr lang="zh-CN" altLang="en-US" dirty="0"/>
              <a:t> </a:t>
            </a:r>
            <a:r>
              <a:rPr lang="en-US" altLang="zh-CN" dirty="0" smtClean="0"/>
              <a:t>(</a:t>
            </a:r>
            <a:r>
              <a:rPr lang="zh-CN" altLang="en-US" dirty="0" smtClean="0"/>
              <a:t>空间允许</a:t>
            </a:r>
            <a:r>
              <a:rPr lang="en-US" altLang="zh-CN" dirty="0" smtClean="0"/>
              <a:t>,</a:t>
            </a:r>
            <a:r>
              <a:rPr lang="zh-CN" altLang="en-US" dirty="0" smtClean="0"/>
              <a:t>越多越好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只能读已被更新过的</a:t>
            </a:r>
            <a:r>
              <a:rPr lang="en-US" altLang="zh-CN" dirty="0" smtClean="0"/>
              <a:t>buffer</a:t>
            </a:r>
            <a:r>
              <a:rPr lang="zh-CN" altLang="en-US" dirty="0" smtClean="0"/>
              <a:t>的</a:t>
            </a:r>
            <a:r>
              <a:rPr lang="en-US" altLang="zh-CN" dirty="0" smtClean="0"/>
              <a:t>frame</a:t>
            </a:r>
          </a:p>
          <a:p>
            <a:pPr lvl="1"/>
            <a:r>
              <a:rPr lang="zh-CN" altLang="en-US" dirty="0" smtClean="0"/>
              <a:t>写指针在</a:t>
            </a:r>
            <a:r>
              <a:rPr lang="en-US" altLang="zh-CN" dirty="0" smtClean="0"/>
              <a:t>buffer3</a:t>
            </a:r>
          </a:p>
          <a:p>
            <a:pPr lvl="1"/>
            <a:r>
              <a:rPr lang="zh-CN" altLang="en-US" dirty="0" smtClean="0"/>
              <a:t>理论上只能读</a:t>
            </a:r>
            <a:r>
              <a:rPr lang="en-US" altLang="zh-CN" dirty="0" smtClean="0"/>
              <a:t>buffer2/1/0/5/4</a:t>
            </a:r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7668344" y="3573016"/>
            <a:ext cx="792088" cy="2567136"/>
            <a:chOff x="7740352" y="3573016"/>
            <a:chExt cx="792088" cy="2567136"/>
          </a:xfrm>
        </p:grpSpPr>
        <p:sp>
          <p:nvSpPr>
            <p:cNvPr id="4" name="矩形 3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0</a:t>
              </a:r>
              <a:endParaRPr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2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</a:t>
              </a:r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5</a:t>
              </a:r>
              <a:endParaRPr lang="zh-CN" altLang="en-US" dirty="0"/>
            </a:p>
          </p:txBody>
        </p:sp>
      </p:grpSp>
      <p:cxnSp>
        <p:nvCxnSpPr>
          <p:cNvPr id="13" name="直接箭头连接符 12"/>
          <p:cNvCxnSpPr/>
          <p:nvPr/>
        </p:nvCxnSpPr>
        <p:spPr>
          <a:xfrm flipH="1">
            <a:off x="8604448" y="5060032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524328" y="4005064"/>
            <a:ext cx="0" cy="12709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56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744" y="4029432"/>
            <a:ext cx="4551195" cy="245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97" y="1340768"/>
            <a:ext cx="4853449" cy="2613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为什么需要</a:t>
            </a:r>
            <a:r>
              <a:rPr lang="en-US" altLang="zh-CN" dirty="0" smtClean="0"/>
              <a:t>phase table?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03627" y="6453336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</a:t>
            </a:r>
            <a:r>
              <a:rPr lang="zh-CN" altLang="en-US" dirty="0" smtClean="0"/>
              <a:t>以</a:t>
            </a:r>
            <a:r>
              <a:rPr lang="en-US" altLang="zh-CN" dirty="0" smtClean="0"/>
              <a:t>merlin</a:t>
            </a:r>
            <a:r>
              <a:rPr lang="zh-CN" altLang="en-US" dirty="0" smtClean="0"/>
              <a:t>的表格举例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3905666" y="2647727"/>
            <a:ext cx="360040" cy="1306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049682" y="5167692"/>
            <a:ext cx="360040" cy="1306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39552" y="1340768"/>
            <a:ext cx="792088" cy="2567136"/>
            <a:chOff x="7740352" y="3573016"/>
            <a:chExt cx="792088" cy="2567136"/>
          </a:xfrm>
        </p:grpSpPr>
        <p:sp>
          <p:nvSpPr>
            <p:cNvPr id="11" name="矩形 10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</a:t>
              </a:r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</a:t>
              </a:r>
              <a:endParaRPr lang="zh-CN" altLang="en-US" dirty="0"/>
            </a:p>
          </p:txBody>
        </p:sp>
      </p:grpSp>
      <p:cxnSp>
        <p:nvCxnSpPr>
          <p:cNvPr id="17" name="直接箭头连接符 16"/>
          <p:cNvCxnSpPr/>
          <p:nvPr/>
        </p:nvCxnSpPr>
        <p:spPr>
          <a:xfrm flipH="1">
            <a:off x="1414298" y="2827784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539552" y="4238934"/>
            <a:ext cx="792088" cy="2567136"/>
            <a:chOff x="7740352" y="3573016"/>
            <a:chExt cx="792088" cy="2567136"/>
          </a:xfrm>
        </p:grpSpPr>
        <p:sp>
          <p:nvSpPr>
            <p:cNvPr id="19" name="矩形 18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Y1</a:t>
              </a:r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A0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X1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Y0</a:t>
              </a:r>
              <a:endParaRPr lang="zh-CN" altLang="en-US" dirty="0"/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H="1">
            <a:off x="1443211" y="5725950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475656" y="1988840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1475656" y="2412504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431430" y="4454958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444977" y="5256043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35696" y="1772816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835696" y="2195572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835696" y="4221088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835696" y="5075892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049178" y="5302949"/>
            <a:ext cx="2059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1. </a:t>
            </a:r>
            <a:r>
              <a:rPr lang="zh-CN" altLang="en-US" dirty="0" smtClean="0">
                <a:solidFill>
                  <a:srgbClr val="FF0000"/>
                </a:solidFill>
              </a:rPr>
              <a:t>不同</a:t>
            </a:r>
            <a:r>
              <a:rPr lang="en-US" altLang="zh-CN" dirty="0" smtClean="0">
                <a:solidFill>
                  <a:srgbClr val="FF0000"/>
                </a:solidFill>
              </a:rPr>
              <a:t>case</a:t>
            </a:r>
            <a:r>
              <a:rPr lang="zh-CN" altLang="en-US" dirty="0" smtClean="0">
                <a:solidFill>
                  <a:srgbClr val="FF0000"/>
                </a:solidFill>
              </a:rPr>
              <a:t>有不同</a:t>
            </a:r>
            <a:r>
              <a:rPr lang="en-US" altLang="zh-CN" dirty="0" smtClean="0">
                <a:solidFill>
                  <a:srgbClr val="FF0000"/>
                </a:solidFill>
              </a:rPr>
              <a:t>read frame</a:t>
            </a:r>
            <a:r>
              <a:rPr lang="zh-CN" altLang="en-US" dirty="0" smtClean="0">
                <a:solidFill>
                  <a:srgbClr val="FF0000"/>
                </a:solidFill>
              </a:rPr>
              <a:t>的规则</a:t>
            </a:r>
            <a:r>
              <a:rPr lang="en-US" altLang="zh-CN" dirty="0" smtClean="0">
                <a:solidFill>
                  <a:srgbClr val="FF0000"/>
                </a:solidFill>
              </a:rPr>
              <a:t>.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14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1" y="4432162"/>
            <a:ext cx="4551195" cy="245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为什么需要</a:t>
            </a:r>
            <a:r>
              <a:rPr lang="en-US" altLang="zh-CN" dirty="0" smtClean="0"/>
              <a:t>phase table?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77373" y="4909588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</a:t>
            </a:r>
            <a:r>
              <a:rPr lang="zh-CN" altLang="en-US" dirty="0" smtClean="0"/>
              <a:t>以</a:t>
            </a:r>
            <a:r>
              <a:rPr lang="en-US" altLang="zh-CN" dirty="0" smtClean="0"/>
              <a:t>merlin</a:t>
            </a:r>
            <a:r>
              <a:rPr lang="zh-CN" altLang="en-US" dirty="0" smtClean="0"/>
              <a:t>的表格举例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539552" y="1286606"/>
            <a:ext cx="792088" cy="2567136"/>
            <a:chOff x="7740352" y="3573016"/>
            <a:chExt cx="792088" cy="2567136"/>
          </a:xfrm>
        </p:grpSpPr>
        <p:sp>
          <p:nvSpPr>
            <p:cNvPr id="19" name="矩形 18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Y1</a:t>
              </a:r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A0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X1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Y0</a:t>
              </a:r>
              <a:endParaRPr lang="zh-CN" altLang="en-US" dirty="0"/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H="1">
            <a:off x="1443211" y="2773622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431430" y="1502630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444977" y="2303715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35696" y="126876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835696" y="2123564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79512" y="5517232"/>
            <a:ext cx="2579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2. </a:t>
            </a:r>
            <a:r>
              <a:rPr lang="zh-CN" altLang="en-US" dirty="0" smtClean="0">
                <a:solidFill>
                  <a:srgbClr val="FF0000"/>
                </a:solidFill>
              </a:rPr>
              <a:t>同一</a:t>
            </a:r>
            <a:r>
              <a:rPr lang="en-US" altLang="zh-CN" dirty="0" smtClean="0">
                <a:solidFill>
                  <a:srgbClr val="FF0000"/>
                </a:solidFill>
              </a:rPr>
              <a:t>case</a:t>
            </a:r>
            <a:r>
              <a:rPr lang="zh-CN" altLang="en-US" dirty="0" smtClean="0">
                <a:solidFill>
                  <a:srgbClr val="FF0000"/>
                </a:solidFill>
              </a:rPr>
              <a:t>有有限周期长度的</a:t>
            </a:r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P</a:t>
            </a:r>
            <a:r>
              <a:rPr lang="zh-CN" altLang="en-US" dirty="0" smtClean="0">
                <a:solidFill>
                  <a:srgbClr val="FF0000"/>
                </a:solidFill>
              </a:rPr>
              <a:t>读取方式；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362911" y="1290798"/>
            <a:ext cx="792088" cy="2567136"/>
            <a:chOff x="7740352" y="3573016"/>
            <a:chExt cx="792088" cy="2567136"/>
          </a:xfrm>
        </p:grpSpPr>
        <p:sp>
          <p:nvSpPr>
            <p:cNvPr id="38" name="矩形 37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Y1</a:t>
              </a:r>
              <a:endParaRPr lang="zh-CN" altLang="en-US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41" name="矩形 40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A1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Y0</a:t>
              </a:r>
              <a:endParaRPr lang="zh-CN" altLang="en-US" dirty="0"/>
            </a:p>
          </p:txBody>
        </p:sp>
      </p:grpSp>
      <p:cxnSp>
        <p:nvCxnSpPr>
          <p:cNvPr id="44" name="直接箭头连接符 43"/>
          <p:cNvCxnSpPr/>
          <p:nvPr/>
        </p:nvCxnSpPr>
        <p:spPr>
          <a:xfrm flipH="1">
            <a:off x="3266570" y="3165336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3254789" y="2381802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3268336" y="2760131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59055" y="2147932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3659055" y="257998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4067944" y="1293128"/>
            <a:ext cx="792088" cy="2567136"/>
            <a:chOff x="7740352" y="3573016"/>
            <a:chExt cx="792088" cy="2567136"/>
          </a:xfrm>
        </p:grpSpPr>
        <p:sp>
          <p:nvSpPr>
            <p:cNvPr id="50" name="矩形 49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Y1</a:t>
              </a:r>
              <a:endParaRPr lang="zh-CN" altLang="en-US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B0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56" name="直接箭头连接符 55"/>
          <p:cNvCxnSpPr/>
          <p:nvPr/>
        </p:nvCxnSpPr>
        <p:spPr>
          <a:xfrm flipH="1">
            <a:off x="4959822" y="3644240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959822" y="2384132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4973369" y="3120171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64088" y="2150262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5364088" y="294002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grpSp>
        <p:nvGrpSpPr>
          <p:cNvPr id="61" name="组合 60"/>
          <p:cNvGrpSpPr/>
          <p:nvPr/>
        </p:nvGrpSpPr>
        <p:grpSpPr>
          <a:xfrm>
            <a:off x="5724128" y="1293128"/>
            <a:ext cx="792088" cy="2567136"/>
            <a:chOff x="7740352" y="3573016"/>
            <a:chExt cx="792088" cy="2567136"/>
          </a:xfrm>
        </p:grpSpPr>
        <p:sp>
          <p:nvSpPr>
            <p:cNvPr id="62" name="矩形 61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B1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B0</a:t>
              </a:r>
              <a:endParaRPr lang="zh-CN" altLang="en-US" dirty="0"/>
            </a:p>
          </p:txBody>
        </p:sp>
      </p:grpSp>
      <p:cxnSp>
        <p:nvCxnSpPr>
          <p:cNvPr id="68" name="直接箭头连接符 67"/>
          <p:cNvCxnSpPr/>
          <p:nvPr/>
        </p:nvCxnSpPr>
        <p:spPr>
          <a:xfrm flipH="1">
            <a:off x="6616006" y="1509152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6616006" y="3255190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6629553" y="3633519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020272" y="302132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7020272" y="3453368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grpSp>
        <p:nvGrpSpPr>
          <p:cNvPr id="73" name="组合 72"/>
          <p:cNvGrpSpPr/>
          <p:nvPr/>
        </p:nvGrpSpPr>
        <p:grpSpPr>
          <a:xfrm>
            <a:off x="7369662" y="1293128"/>
            <a:ext cx="792088" cy="2567136"/>
            <a:chOff x="7740352" y="3573016"/>
            <a:chExt cx="792088" cy="2567136"/>
          </a:xfrm>
        </p:grpSpPr>
        <p:sp>
          <p:nvSpPr>
            <p:cNvPr id="74" name="矩形 73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B1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C0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77" name="矩形 76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A0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</a:rPr>
                <a:t>A1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B0</a:t>
              </a:r>
              <a:endParaRPr lang="zh-CN" altLang="en-US" dirty="0"/>
            </a:p>
          </p:txBody>
        </p:sp>
      </p:grpSp>
      <p:cxnSp>
        <p:nvCxnSpPr>
          <p:cNvPr id="80" name="直接箭头连接符 79"/>
          <p:cNvCxnSpPr/>
          <p:nvPr/>
        </p:nvCxnSpPr>
        <p:spPr>
          <a:xfrm flipH="1">
            <a:off x="8261540" y="1941200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8261540" y="3255190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8275087" y="1545287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665806" y="302132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8665806" y="1365136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111" name="TextBox 110"/>
          <p:cNvSpPr txBox="1"/>
          <p:nvPr/>
        </p:nvSpPr>
        <p:spPr>
          <a:xfrm>
            <a:off x="1431033" y="3769139"/>
            <a:ext cx="372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-3</a:t>
            </a:r>
          </a:p>
          <a:p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3286837" y="3770012"/>
            <a:ext cx="372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-2</a:t>
            </a:r>
          </a:p>
          <a:p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4932040" y="3789040"/>
            <a:ext cx="372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-3</a:t>
            </a:r>
          </a:p>
          <a:p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6588224" y="3790781"/>
            <a:ext cx="372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-2</a:t>
            </a:r>
          </a:p>
          <a:p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115" name="TextBox 114"/>
          <p:cNvSpPr txBox="1"/>
          <p:nvPr/>
        </p:nvSpPr>
        <p:spPr>
          <a:xfrm>
            <a:off x="8244408" y="3790781"/>
            <a:ext cx="372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-3</a:t>
            </a:r>
          </a:p>
          <a:p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323528" y="3790781"/>
            <a:ext cx="579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I-W</a:t>
            </a:r>
          </a:p>
          <a:p>
            <a:r>
              <a:rPr lang="en-US" altLang="zh-CN" dirty="0" smtClean="0"/>
              <a:t>P-W</a:t>
            </a:r>
            <a:endParaRPr lang="zh-CN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1835696" y="2555612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3625246" y="298766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19" name="TextBox 118"/>
          <p:cNvSpPr txBox="1"/>
          <p:nvPr/>
        </p:nvSpPr>
        <p:spPr>
          <a:xfrm>
            <a:off x="5281430" y="3429000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20" name="TextBox 119"/>
          <p:cNvSpPr txBox="1"/>
          <p:nvPr/>
        </p:nvSpPr>
        <p:spPr>
          <a:xfrm>
            <a:off x="6937614" y="1331476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8593798" y="1763524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179512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9512" y="17635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951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9512" y="26276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9512" y="3059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79512" y="3501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080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phase table?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适应各种</a:t>
            </a:r>
            <a:r>
              <a:rPr lang="en-US" altLang="zh-CN" sz="2400" dirty="0" smtClean="0"/>
              <a:t>N2M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Cadence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一个</a:t>
            </a:r>
            <a:r>
              <a:rPr lang="zh-CN" altLang="en-US" sz="2400" dirty="0" smtClean="0"/>
              <a:t>统一规则</a:t>
            </a:r>
            <a:endParaRPr lang="en-US" altLang="zh-CN" sz="2400" dirty="0" smtClean="0"/>
          </a:p>
          <a:p>
            <a:r>
              <a:rPr lang="zh-CN" altLang="en-US" sz="2400" dirty="0" smtClean="0"/>
              <a:t>它的作用是告诉</a:t>
            </a:r>
            <a:r>
              <a:rPr lang="en-US" altLang="zh-CN" sz="2400" dirty="0" smtClean="0"/>
              <a:t>HW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r>
              <a:rPr lang="en-US" altLang="zh-CN" sz="2400" dirty="0" smtClean="0"/>
              <a:t>1. input frame</a:t>
            </a:r>
            <a:r>
              <a:rPr lang="zh-CN" altLang="en-US" sz="2400" dirty="0" smtClean="0"/>
              <a:t>应该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写</a:t>
            </a:r>
            <a:r>
              <a:rPr lang="zh-CN" altLang="en-US" sz="2400" dirty="0" smtClean="0"/>
              <a:t>在</a:t>
            </a:r>
            <a:r>
              <a:rPr lang="en-US" altLang="zh-CN" sz="2400" dirty="0" smtClean="0"/>
              <a:t>DDR</a:t>
            </a:r>
            <a:r>
              <a:rPr lang="zh-CN" altLang="en-US" sz="2400" dirty="0" smtClean="0"/>
              <a:t>哪块</a:t>
            </a:r>
            <a:r>
              <a:rPr lang="en-US" altLang="zh-CN" sz="2400" dirty="0" smtClean="0"/>
              <a:t>buffer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en-US" altLang="zh-CN" sz="2400" dirty="0" smtClean="0"/>
              <a:t>2. </a:t>
            </a:r>
            <a:r>
              <a:rPr lang="zh-CN" altLang="en-US" sz="2400" dirty="0" smtClean="0"/>
              <a:t>应该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读</a:t>
            </a:r>
            <a:r>
              <a:rPr lang="zh-CN" altLang="en-US" sz="2400" dirty="0" smtClean="0"/>
              <a:t>哪两张</a:t>
            </a:r>
            <a:r>
              <a:rPr lang="en-US" altLang="zh-CN" sz="2400" dirty="0" smtClean="0"/>
              <a:t>input frame</a:t>
            </a:r>
            <a:r>
              <a:rPr lang="zh-CN" altLang="en-US" sz="2400" dirty="0" smtClean="0"/>
              <a:t>做</a:t>
            </a:r>
            <a:r>
              <a:rPr lang="en-US" altLang="zh-CN" sz="2400" dirty="0" smtClean="0"/>
              <a:t>ME</a:t>
            </a:r>
            <a:r>
              <a:rPr lang="zh-CN" altLang="en-US" sz="2400" dirty="0" smtClean="0"/>
              <a:t>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读</a:t>
            </a:r>
            <a:r>
              <a:rPr lang="zh-CN" altLang="en-US" sz="2400" dirty="0" smtClean="0"/>
              <a:t>哪两张</a:t>
            </a:r>
            <a:r>
              <a:rPr lang="en-US" altLang="zh-CN" sz="2400" dirty="0" smtClean="0"/>
              <a:t>input frame</a:t>
            </a:r>
            <a:r>
              <a:rPr lang="zh-CN" altLang="en-US" sz="2400" dirty="0" smtClean="0"/>
              <a:t>做</a:t>
            </a:r>
            <a:r>
              <a:rPr lang="en-US" altLang="zh-CN" sz="2400" dirty="0" smtClean="0"/>
              <a:t>MC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en-US" altLang="zh-CN" sz="2400" dirty="0" smtClean="0"/>
              <a:t>3. MEMC</a:t>
            </a:r>
            <a:r>
              <a:rPr lang="zh-CN" altLang="en-US" sz="2400" dirty="0" smtClean="0"/>
              <a:t>应该</a:t>
            </a:r>
            <a:r>
              <a:rPr lang="en-US" altLang="zh-CN" sz="2400" dirty="0" smtClean="0"/>
              <a:t>interpolate</a:t>
            </a:r>
            <a:r>
              <a:rPr lang="zh-CN" altLang="en-US" sz="2400" dirty="0" smtClean="0"/>
              <a:t>在哪个位置</a:t>
            </a:r>
            <a:r>
              <a:rPr lang="en-US" altLang="zh-CN" sz="2400" dirty="0" smtClean="0"/>
              <a:t>(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phase</a:t>
            </a:r>
            <a:r>
              <a:rPr lang="en-US" altLang="zh-CN" sz="2400" dirty="0" smtClean="0"/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3988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phase table?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71600" y="1268760"/>
            <a:ext cx="4404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3. MEMC</a:t>
            </a:r>
            <a:r>
              <a:rPr lang="zh-CN" altLang="en-US" dirty="0"/>
              <a:t>应该</a:t>
            </a:r>
            <a:r>
              <a:rPr lang="en-US" altLang="zh-CN" dirty="0"/>
              <a:t>interpolate</a:t>
            </a:r>
            <a:r>
              <a:rPr lang="zh-CN" altLang="en-US" dirty="0"/>
              <a:t>在哪个位置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phase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039470"/>
              </p:ext>
            </p:extLst>
          </p:nvPr>
        </p:nvGraphicFramePr>
        <p:xfrm>
          <a:off x="971600" y="1733702"/>
          <a:ext cx="5763624" cy="509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1" name="Visio" r:id="rId3" imgW="3763246" imgH="3326122" progId="Visio.Drawing.11">
                  <p:embed/>
                </p:oleObj>
              </mc:Choice>
              <mc:Fallback>
                <p:oleObj name="Visio" r:id="rId3" imgW="3763246" imgH="332612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1733702"/>
                        <a:ext cx="5763624" cy="509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64288" y="213285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30hz-&gt;60hz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24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phase table? (merlin2)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484784"/>
            <a:ext cx="9046262" cy="458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10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phase table?(merlin)</a:t>
            </a:r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9059426" cy="437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618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phase table?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Part1. Output Table(&lt;--phase table)</a:t>
            </a:r>
          </a:p>
          <a:p>
            <a:pPr lvl="1"/>
            <a:r>
              <a:rPr lang="zh-CN" altLang="en-US" dirty="0" smtClean="0"/>
              <a:t>怎样</a:t>
            </a:r>
            <a:r>
              <a:rPr lang="zh-CN" altLang="en-US" b="1" dirty="0" smtClean="0">
                <a:solidFill>
                  <a:srgbClr val="FF0000"/>
                </a:solidFill>
              </a:rPr>
              <a:t>读</a:t>
            </a:r>
            <a:r>
              <a:rPr lang="en-US" altLang="zh-CN" dirty="0" smtClean="0"/>
              <a:t>frame</a:t>
            </a:r>
            <a:r>
              <a:rPr lang="zh-CN" altLang="en-US" dirty="0" smtClean="0"/>
              <a:t>来做</a:t>
            </a:r>
            <a:r>
              <a:rPr lang="en-US" altLang="zh-CN" dirty="0" smtClean="0"/>
              <a:t>ME/MC</a:t>
            </a:r>
          </a:p>
          <a:p>
            <a:r>
              <a:rPr lang="en-US" altLang="zh-CN" dirty="0" smtClean="0"/>
              <a:t>Part2. Input Table</a:t>
            </a:r>
          </a:p>
          <a:p>
            <a:pPr lvl="1"/>
            <a:r>
              <a:rPr lang="zh-CN" altLang="en-US" dirty="0" smtClean="0"/>
              <a:t>怎样将</a:t>
            </a:r>
            <a:r>
              <a:rPr lang="en-US" altLang="zh-CN" dirty="0" smtClean="0"/>
              <a:t>input frame</a:t>
            </a:r>
            <a:r>
              <a:rPr lang="zh-CN" altLang="en-US" b="1" dirty="0" smtClean="0">
                <a:solidFill>
                  <a:srgbClr val="FF0000"/>
                </a:solidFill>
              </a:rPr>
              <a:t>写</a:t>
            </a:r>
            <a:r>
              <a:rPr lang="zh-CN" altLang="en-US" dirty="0" smtClean="0"/>
              <a:t>到</a:t>
            </a:r>
            <a:r>
              <a:rPr lang="en-US" altLang="zh-CN" dirty="0" smtClean="0"/>
              <a:t>DDR.</a:t>
            </a:r>
          </a:p>
          <a:p>
            <a:r>
              <a:rPr lang="en-US" altLang="zh-CN" dirty="0" smtClean="0"/>
              <a:t>Part3. read back register</a:t>
            </a:r>
          </a:p>
          <a:p>
            <a:pPr lvl="1"/>
            <a:r>
              <a:rPr lang="zh-CN" altLang="en-US" dirty="0" smtClean="0"/>
              <a:t>连续</a:t>
            </a:r>
            <a:r>
              <a:rPr lang="en-US" altLang="zh-CN" dirty="0" smtClean="0"/>
              <a:t>12</a:t>
            </a:r>
            <a:r>
              <a:rPr lang="zh-CN" altLang="en-US" dirty="0" smtClean="0"/>
              <a:t>帧的</a:t>
            </a:r>
            <a:r>
              <a:rPr lang="en-US" altLang="zh-CN" dirty="0" smtClean="0"/>
              <a:t>input table</a:t>
            </a:r>
            <a:r>
              <a:rPr lang="zh-CN" altLang="en-US" dirty="0" smtClean="0"/>
              <a:t>和</a:t>
            </a:r>
            <a:r>
              <a:rPr lang="en-US" altLang="zh-CN" dirty="0" smtClean="0"/>
              <a:t>output table</a:t>
            </a:r>
            <a:r>
              <a:rPr lang="zh-CN" altLang="en-US" dirty="0" smtClean="0"/>
              <a:t>的内容</a:t>
            </a:r>
            <a:endParaRPr lang="en-US" altLang="zh-CN" dirty="0" smtClean="0"/>
          </a:p>
          <a:p>
            <a:r>
              <a:rPr lang="en-US" altLang="zh-CN" dirty="0" smtClean="0"/>
              <a:t>Part4. read back register</a:t>
            </a:r>
          </a:p>
          <a:p>
            <a:pPr lvl="1"/>
            <a:r>
              <a:rPr lang="en-US" altLang="zh-CN" dirty="0" smtClean="0"/>
              <a:t>N2M, Cadence(film phase), </a:t>
            </a:r>
            <a:r>
              <a:rPr lang="en-US" altLang="zh-CN" dirty="0" err="1" smtClean="0"/>
              <a:t>etc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148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 smtClean="0"/>
              <a:t>什么是</a:t>
            </a:r>
            <a:r>
              <a:rPr lang="en-US" altLang="zh-CN" sz="3200" dirty="0" smtClean="0"/>
              <a:t>phase table?-</a:t>
            </a:r>
            <a:r>
              <a:rPr lang="en-US" altLang="zh-CN" sz="3200" dirty="0" smtClean="0">
                <a:solidFill>
                  <a:srgbClr val="FF0000"/>
                </a:solidFill>
              </a:rPr>
              <a:t>Part2. Input Table </a:t>
            </a:r>
            <a:r>
              <a:rPr lang="en-US" altLang="zh-CN" sz="3200" dirty="0" smtClean="0"/>
              <a:t>(merlin2)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3317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1800" dirty="0" smtClean="0"/>
              <a:t>有</a:t>
            </a:r>
            <a:r>
              <a:rPr lang="en-US" altLang="zh-CN" sz="1800" dirty="0" smtClean="0"/>
              <a:t>64</a:t>
            </a:r>
            <a:r>
              <a:rPr lang="zh-CN" altLang="en-US" sz="1800" dirty="0" smtClean="0"/>
              <a:t>个</a:t>
            </a:r>
            <a:r>
              <a:rPr lang="en-US" altLang="zh-CN" sz="1800" dirty="0" smtClean="0"/>
              <a:t>Register</a:t>
            </a:r>
            <a:r>
              <a:rPr lang="en-US" altLang="zh-CN" sz="1600" dirty="0" smtClean="0"/>
              <a:t>:</a:t>
            </a:r>
          </a:p>
          <a:p>
            <a:pPr lvl="1"/>
            <a:r>
              <a:rPr lang="en-US" altLang="zh-CN" sz="1600" dirty="0" smtClean="0"/>
              <a:t>8bits, pack format: [7:5, </a:t>
            </a:r>
            <a:r>
              <a:rPr lang="en-US" altLang="zh-CN" sz="1600" dirty="0" err="1" smtClean="0"/>
              <a:t>mc_idx</a:t>
            </a:r>
            <a:r>
              <a:rPr lang="en-US" altLang="zh-CN" sz="1600" dirty="0" smtClean="0"/>
              <a:t>] </a:t>
            </a:r>
            <a:r>
              <a:rPr lang="en-US" altLang="zh-CN" sz="1600" dirty="0" smtClean="0">
                <a:solidFill>
                  <a:srgbClr val="3333CC"/>
                </a:solidFill>
              </a:rPr>
              <a:t>+[4, </a:t>
            </a:r>
            <a:r>
              <a:rPr lang="en-US" altLang="zh-CN" sz="1600" dirty="0" err="1" smtClean="0">
                <a:solidFill>
                  <a:srgbClr val="3333CC"/>
                </a:solidFill>
              </a:rPr>
              <a:t>mc_finalphase</a:t>
            </a:r>
            <a:r>
              <a:rPr lang="en-US" altLang="zh-CN" sz="1600" dirty="0" smtClean="0">
                <a:solidFill>
                  <a:srgbClr val="3333FF"/>
                </a:solidFill>
              </a:rPr>
              <a:t>] </a:t>
            </a:r>
            <a:r>
              <a:rPr lang="en-US" altLang="zh-CN" sz="1600" dirty="0" smtClean="0"/>
              <a:t>+[3:1, </a:t>
            </a:r>
            <a:r>
              <a:rPr lang="en-US" altLang="zh-CN" sz="1600" dirty="0" err="1" smtClean="0"/>
              <a:t>me_idx</a:t>
            </a:r>
            <a:r>
              <a:rPr lang="en-US" altLang="zh-CN" sz="1600" dirty="0" smtClean="0"/>
              <a:t>] +[0, </a:t>
            </a:r>
            <a:r>
              <a:rPr lang="en-US" altLang="zh-CN" sz="1600" dirty="0" err="1" smtClean="0"/>
              <a:t>logo_en</a:t>
            </a:r>
            <a:r>
              <a:rPr lang="en-US" altLang="zh-CN" sz="1600" dirty="0" smtClean="0"/>
              <a:t>]</a:t>
            </a:r>
          </a:p>
          <a:p>
            <a:pPr lvl="1"/>
            <a:r>
              <a:rPr lang="en-US" altLang="zh-CN" sz="1600" dirty="0" smtClean="0">
                <a:solidFill>
                  <a:srgbClr val="3333CC"/>
                </a:solidFill>
              </a:rPr>
              <a:t>4bits, pack format: me2_idx</a:t>
            </a:r>
          </a:p>
          <a:p>
            <a:r>
              <a:rPr lang="en-US" altLang="zh-CN" sz="1800" dirty="0" smtClean="0">
                <a:solidFill>
                  <a:srgbClr val="3333CC"/>
                </a:solidFill>
              </a:rPr>
              <a:t>Me2_index</a:t>
            </a:r>
            <a:r>
              <a:rPr lang="en-US" altLang="zh-CN" sz="1800" dirty="0" smtClean="0"/>
              <a:t>/</a:t>
            </a:r>
            <a:r>
              <a:rPr lang="en-US" altLang="zh-CN" sz="1800" dirty="0" err="1" smtClean="0"/>
              <a:t>mc_index</a:t>
            </a:r>
            <a:r>
              <a:rPr lang="zh-CN" altLang="en-US" sz="1800" dirty="0" smtClean="0"/>
              <a:t>相等</a:t>
            </a:r>
            <a:endParaRPr lang="en-US" altLang="zh-CN" sz="1800" dirty="0" smtClean="0"/>
          </a:p>
          <a:p>
            <a:pPr lvl="1"/>
            <a:r>
              <a:rPr lang="en-US" altLang="zh-CN" sz="1600" dirty="0" smtClean="0"/>
              <a:t>0: </a:t>
            </a:r>
            <a:r>
              <a:rPr lang="zh-CN" altLang="en-US" sz="1600" dirty="0" smtClean="0"/>
              <a:t>写指针移动</a:t>
            </a:r>
            <a:endParaRPr lang="en-US" altLang="zh-CN" sz="1600" dirty="0" smtClean="0"/>
          </a:p>
          <a:p>
            <a:pPr lvl="1"/>
            <a:r>
              <a:rPr lang="en-US" altLang="zh-CN" sz="1600" dirty="0" smtClean="0"/>
              <a:t>5: </a:t>
            </a:r>
            <a:r>
              <a:rPr lang="zh-CN" altLang="en-US" sz="1600" dirty="0" smtClean="0"/>
              <a:t>写指针不移动 </a:t>
            </a:r>
            <a:r>
              <a:rPr lang="en-US" altLang="zh-CN" sz="1600" dirty="0" smtClean="0"/>
              <a:t>[=</a:t>
            </a:r>
            <a:r>
              <a:rPr lang="en-US" altLang="zh-CN" sz="1600" dirty="0" err="1" smtClean="0"/>
              <a:t>max_buf_size</a:t>
            </a:r>
            <a:r>
              <a:rPr lang="en-US" altLang="zh-CN" sz="1600" dirty="0" smtClean="0"/>
              <a:t> -1]</a:t>
            </a:r>
          </a:p>
          <a:p>
            <a:pPr lvl="1"/>
            <a:r>
              <a:rPr lang="zh-CN" altLang="en-US" sz="1600" dirty="0" smtClean="0"/>
              <a:t>需要对应</a:t>
            </a:r>
            <a:r>
              <a:rPr lang="en-US" altLang="zh-CN" sz="1600" i="1" dirty="0" err="1" smtClean="0">
                <a:solidFill>
                  <a:srgbClr val="FF0000"/>
                </a:solidFill>
              </a:rPr>
              <a:t>usableflag</a:t>
            </a:r>
            <a:r>
              <a:rPr lang="zh-CN" altLang="en-US" sz="1600" dirty="0" smtClean="0"/>
              <a:t>一起看</a:t>
            </a:r>
            <a:endParaRPr lang="en-US" altLang="zh-CN" sz="1600" dirty="0" smtClean="0"/>
          </a:p>
          <a:p>
            <a:pPr lvl="2"/>
            <a:r>
              <a:rPr lang="en-US" altLang="zh-CN" sz="1400" dirty="0" smtClean="0"/>
              <a:t>check</a:t>
            </a:r>
            <a:r>
              <a:rPr lang="zh-CN" altLang="en-US" sz="1400" dirty="0" smtClean="0"/>
              <a:t>结构体</a:t>
            </a:r>
            <a:r>
              <a:rPr lang="en-US" altLang="zh-CN" sz="1400" dirty="0" err="1" smtClean="0"/>
              <a:t>frc_cadTable</a:t>
            </a:r>
            <a:endParaRPr lang="en-US" altLang="zh-CN" sz="1400" dirty="0" smtClean="0"/>
          </a:p>
          <a:p>
            <a:r>
              <a:rPr lang="en-US" altLang="zh-CN" sz="1800" dirty="0" smtClean="0"/>
              <a:t>Me1_index</a:t>
            </a:r>
            <a:r>
              <a:rPr lang="zh-CN" altLang="en-US" sz="1800" dirty="0" smtClean="0"/>
              <a:t>可能跟</a:t>
            </a:r>
            <a:r>
              <a:rPr lang="en-US" altLang="zh-CN" sz="1800" dirty="0" smtClean="0"/>
              <a:t>me2_index/</a:t>
            </a:r>
            <a:r>
              <a:rPr lang="en-US" altLang="zh-CN" sz="1800" dirty="0" err="1" smtClean="0"/>
              <a:t>mc_index</a:t>
            </a:r>
            <a:r>
              <a:rPr lang="zh-CN" altLang="en-US" sz="1800" dirty="0" smtClean="0"/>
              <a:t>不相等，但意义一致</a:t>
            </a:r>
            <a:endParaRPr lang="en-US" altLang="zh-CN" sz="1800" dirty="0" smtClean="0"/>
          </a:p>
          <a:p>
            <a:r>
              <a:rPr lang="en-US" altLang="zh-CN" sz="1800" dirty="0" err="1"/>
              <a:t>inTable</a:t>
            </a:r>
            <a:r>
              <a:rPr lang="zh-CN" altLang="en-US" sz="1800" dirty="0"/>
              <a:t>应该跟</a:t>
            </a:r>
            <a:r>
              <a:rPr lang="en-US" altLang="zh-CN" sz="1800" dirty="0"/>
              <a:t>cadence</a:t>
            </a:r>
            <a:r>
              <a:rPr lang="zh-CN" altLang="en-US" sz="1800" dirty="0"/>
              <a:t>的</a:t>
            </a:r>
            <a:r>
              <a:rPr lang="en-US" altLang="zh-CN" sz="1800" dirty="0" err="1"/>
              <a:t>outLen</a:t>
            </a:r>
            <a:r>
              <a:rPr lang="zh-CN" altLang="en-US" sz="1800" dirty="0"/>
              <a:t>一样</a:t>
            </a:r>
            <a:r>
              <a:rPr lang="zh-CN" altLang="en-US" sz="1800" dirty="0" smtClean="0"/>
              <a:t>长</a:t>
            </a:r>
            <a:endParaRPr lang="en-US" altLang="zh-CN" sz="1800" dirty="0" smtClean="0"/>
          </a:p>
          <a:p>
            <a:r>
              <a:rPr lang="en-US" altLang="zh-CN" sz="1800" dirty="0" smtClean="0">
                <a:solidFill>
                  <a:srgbClr val="FF0000"/>
                </a:solidFill>
              </a:rPr>
              <a:t>Content: Video+22+32(</a:t>
            </a:r>
            <a:r>
              <a:rPr lang="zh-CN" altLang="en-US" sz="1800" dirty="0" smtClean="0">
                <a:solidFill>
                  <a:srgbClr val="FF0000"/>
                </a:solidFill>
              </a:rPr>
              <a:t>这</a:t>
            </a:r>
            <a:r>
              <a:rPr lang="en-US" altLang="zh-CN" sz="1800" dirty="0" smtClean="0">
                <a:solidFill>
                  <a:srgbClr val="FF0000"/>
                </a:solidFill>
              </a:rPr>
              <a:t>3</a:t>
            </a:r>
            <a:r>
              <a:rPr lang="zh-CN" altLang="en-US" sz="1800" dirty="0" smtClean="0">
                <a:solidFill>
                  <a:srgbClr val="FF0000"/>
                </a:solidFill>
              </a:rPr>
              <a:t>个固定填好</a:t>
            </a:r>
            <a:r>
              <a:rPr lang="en-US" altLang="zh-CN" sz="1800" dirty="0" smtClean="0">
                <a:solidFill>
                  <a:srgbClr val="FF0000"/>
                </a:solidFill>
              </a:rPr>
              <a:t>)+other cad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44" b="72569"/>
          <a:stretch/>
        </p:blipFill>
        <p:spPr bwMode="auto">
          <a:xfrm>
            <a:off x="395242" y="4797152"/>
            <a:ext cx="8457991" cy="201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组合 18"/>
          <p:cNvGrpSpPr/>
          <p:nvPr/>
        </p:nvGrpSpPr>
        <p:grpSpPr>
          <a:xfrm>
            <a:off x="6876255" y="2564904"/>
            <a:ext cx="648073" cy="1703040"/>
            <a:chOff x="6705768" y="2336027"/>
            <a:chExt cx="648073" cy="1703040"/>
          </a:xfrm>
        </p:grpSpPr>
        <p:grpSp>
          <p:nvGrpSpPr>
            <p:cNvPr id="5" name="组合 4"/>
            <p:cNvGrpSpPr/>
            <p:nvPr/>
          </p:nvGrpSpPr>
          <p:grpSpPr>
            <a:xfrm>
              <a:off x="6705768" y="2336027"/>
              <a:ext cx="415725" cy="1703040"/>
              <a:chOff x="7740350" y="3573016"/>
              <a:chExt cx="792090" cy="256713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7740352" y="3573016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B</a:t>
                </a:r>
                <a:endParaRPr lang="zh-CN" altLang="en-US" dirty="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7740352" y="4005064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C</a:t>
                </a:r>
                <a:endParaRPr lang="zh-CN" altLang="en-US" dirty="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7740352" y="4428728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D</a:t>
                </a:r>
                <a:endParaRPr lang="zh-CN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7740352" y="4844008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E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740350" y="5276056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Z</a:t>
                </a:r>
                <a:endParaRPr lang="zh-CN" altLang="en-US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7740352" y="5708104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A</a:t>
                </a:r>
                <a:endParaRPr lang="zh-CN" altLang="en-US" dirty="0"/>
              </a:p>
            </p:txBody>
          </p:sp>
        </p:grpSp>
        <p:cxnSp>
          <p:nvCxnSpPr>
            <p:cNvPr id="12" name="直接箭头连接符 11"/>
            <p:cNvCxnSpPr/>
            <p:nvPr/>
          </p:nvCxnSpPr>
          <p:spPr>
            <a:xfrm flipH="1">
              <a:off x="7164876" y="3322515"/>
              <a:ext cx="18896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7668343" y="2564904"/>
            <a:ext cx="648073" cy="1703040"/>
            <a:chOff x="6705768" y="2336027"/>
            <a:chExt cx="648073" cy="1703040"/>
          </a:xfrm>
        </p:grpSpPr>
        <p:grpSp>
          <p:nvGrpSpPr>
            <p:cNvPr id="21" name="组合 20"/>
            <p:cNvGrpSpPr/>
            <p:nvPr/>
          </p:nvGrpSpPr>
          <p:grpSpPr>
            <a:xfrm>
              <a:off x="6705768" y="2336027"/>
              <a:ext cx="415725" cy="1703040"/>
              <a:chOff x="7740350" y="3573016"/>
              <a:chExt cx="792090" cy="2567136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7740352" y="3573016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B</a:t>
                </a:r>
                <a:endParaRPr lang="zh-CN" altLang="en-US" dirty="0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740352" y="4005064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C</a:t>
                </a:r>
                <a:endParaRPr lang="zh-CN" altLang="en-US" dirty="0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740352" y="4428728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D</a:t>
                </a:r>
                <a:endParaRPr lang="zh-CN" altLang="en-US" dirty="0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7740352" y="4844008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F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7740350" y="5276056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Z</a:t>
                </a:r>
                <a:endParaRPr lang="zh-CN" altLang="en-US" dirty="0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7740352" y="5708104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A</a:t>
                </a:r>
                <a:endParaRPr lang="zh-CN" altLang="en-US" dirty="0"/>
              </a:p>
            </p:txBody>
          </p:sp>
        </p:grpSp>
        <p:cxnSp>
          <p:nvCxnSpPr>
            <p:cNvPr id="22" name="直接箭头连接符 21"/>
            <p:cNvCxnSpPr/>
            <p:nvPr/>
          </p:nvCxnSpPr>
          <p:spPr>
            <a:xfrm flipH="1">
              <a:off x="7164876" y="3322515"/>
              <a:ext cx="18896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8460431" y="2564904"/>
            <a:ext cx="648073" cy="1703040"/>
            <a:chOff x="8388423" y="2302024"/>
            <a:chExt cx="648073" cy="1703040"/>
          </a:xfrm>
        </p:grpSpPr>
        <p:grpSp>
          <p:nvGrpSpPr>
            <p:cNvPr id="30" name="组合 29"/>
            <p:cNvGrpSpPr/>
            <p:nvPr/>
          </p:nvGrpSpPr>
          <p:grpSpPr>
            <a:xfrm>
              <a:off x="8388423" y="2302024"/>
              <a:ext cx="415725" cy="1703040"/>
              <a:chOff x="7740350" y="3573016"/>
              <a:chExt cx="792090" cy="2567136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740352" y="3573016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B</a:t>
                </a:r>
                <a:endParaRPr lang="zh-CN" altLang="en-US" dirty="0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7740352" y="4005064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C</a:t>
                </a:r>
                <a:endParaRPr lang="zh-CN" altLang="en-US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7740352" y="4428728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D</a:t>
                </a:r>
                <a:endParaRPr lang="zh-CN" altLang="en-US" dirty="0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7740352" y="4844008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chemeClr val="bg1"/>
                    </a:solidFill>
                  </a:rPr>
                  <a:t>E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7740350" y="5276056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>
                    <a:solidFill>
                      <a:srgbClr val="FF0000"/>
                    </a:solidFill>
                  </a:rPr>
                  <a:t>F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7740352" y="5708104"/>
                <a:ext cx="792088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A</a:t>
                </a:r>
                <a:endParaRPr lang="zh-CN" altLang="en-US" dirty="0"/>
              </a:p>
            </p:txBody>
          </p:sp>
        </p:grpSp>
        <p:cxnSp>
          <p:nvCxnSpPr>
            <p:cNvPr id="31" name="直接箭头连接符 30"/>
            <p:cNvCxnSpPr/>
            <p:nvPr/>
          </p:nvCxnSpPr>
          <p:spPr>
            <a:xfrm flipH="1">
              <a:off x="8847531" y="3573016"/>
              <a:ext cx="18896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8388424" y="4293096"/>
            <a:ext cx="707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u="sng" dirty="0" smtClean="0"/>
              <a:t>move</a:t>
            </a:r>
            <a:endParaRPr lang="zh-CN" altLang="en-US" i="1" u="sng" dirty="0"/>
          </a:p>
        </p:txBody>
      </p:sp>
      <p:sp>
        <p:nvSpPr>
          <p:cNvPr id="40" name="TextBox 39"/>
          <p:cNvSpPr txBox="1"/>
          <p:nvPr/>
        </p:nvSpPr>
        <p:spPr>
          <a:xfrm>
            <a:off x="7380312" y="4293096"/>
            <a:ext cx="1030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u="sng" dirty="0" smtClean="0"/>
              <a:t>No move</a:t>
            </a:r>
            <a:endParaRPr lang="zh-CN" altLang="en-US" i="1" u="sng" dirty="0"/>
          </a:p>
        </p:txBody>
      </p:sp>
    </p:spTree>
    <p:extLst>
      <p:ext uri="{BB962C8B-B14F-4D97-AF65-F5344CB8AC3E}">
        <p14:creationId xmlns:p14="http://schemas.microsoft.com/office/powerpoint/2010/main" val="338509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 smtClean="0"/>
              <a:t>什么是</a:t>
            </a:r>
            <a:r>
              <a:rPr lang="en-US" altLang="zh-CN" sz="3200" dirty="0" smtClean="0"/>
              <a:t>phase table?-</a:t>
            </a:r>
            <a:r>
              <a:rPr lang="en-US" altLang="zh-CN" sz="3200" dirty="0" smtClean="0">
                <a:solidFill>
                  <a:srgbClr val="FF0000"/>
                </a:solidFill>
              </a:rPr>
              <a:t>Part2. Input Table </a:t>
            </a:r>
            <a:r>
              <a:rPr lang="en-US" altLang="zh-CN" sz="3200" dirty="0" smtClean="0"/>
              <a:t>(merlin)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有</a:t>
            </a:r>
            <a:r>
              <a:rPr lang="en-US" altLang="zh-CN" sz="2000" dirty="0" smtClean="0"/>
              <a:t>64</a:t>
            </a:r>
            <a:r>
              <a:rPr lang="zh-CN" altLang="en-US" sz="2000" dirty="0" smtClean="0"/>
              <a:t>个</a:t>
            </a:r>
            <a:r>
              <a:rPr lang="en-US" altLang="zh-CN" sz="2000" dirty="0" smtClean="0"/>
              <a:t>Register</a:t>
            </a:r>
            <a:r>
              <a:rPr lang="en-US" altLang="zh-CN" sz="1800" dirty="0" smtClean="0"/>
              <a:t>:</a:t>
            </a:r>
          </a:p>
          <a:p>
            <a:pPr lvl="1"/>
            <a:r>
              <a:rPr lang="en-US" altLang="zh-CN" sz="1800" dirty="0" smtClean="0"/>
              <a:t>8bits, pack format: [7:5, </a:t>
            </a:r>
            <a:r>
              <a:rPr lang="en-US" altLang="zh-CN" sz="1800" dirty="0" err="1" smtClean="0"/>
              <a:t>mc_idx</a:t>
            </a:r>
            <a:r>
              <a:rPr lang="en-US" altLang="zh-CN" sz="1800" dirty="0" smtClean="0"/>
              <a:t>] </a:t>
            </a:r>
            <a:r>
              <a:rPr lang="en-US" altLang="zh-CN" sz="1800" dirty="0" smtClean="0">
                <a:solidFill>
                  <a:srgbClr val="3333CC"/>
                </a:solidFill>
              </a:rPr>
              <a:t>+[4, </a:t>
            </a:r>
            <a:r>
              <a:rPr lang="en-US" altLang="zh-CN" sz="1800" dirty="0" err="1" smtClean="0">
                <a:solidFill>
                  <a:srgbClr val="3333CC"/>
                </a:solidFill>
              </a:rPr>
              <a:t>mc_finalphase</a:t>
            </a:r>
            <a:r>
              <a:rPr lang="en-US" altLang="zh-CN" sz="1800" dirty="0" smtClean="0">
                <a:solidFill>
                  <a:srgbClr val="3333CC"/>
                </a:solidFill>
              </a:rPr>
              <a:t>(dummy)] </a:t>
            </a:r>
            <a:r>
              <a:rPr lang="en-US" altLang="zh-CN" sz="1800" dirty="0" smtClean="0"/>
              <a:t>+[3:1, </a:t>
            </a:r>
            <a:r>
              <a:rPr lang="en-US" altLang="zh-CN" sz="1800" dirty="0" err="1" smtClean="0"/>
              <a:t>me_idx</a:t>
            </a:r>
            <a:r>
              <a:rPr lang="en-US" altLang="zh-CN" sz="1800" dirty="0" smtClean="0"/>
              <a:t>] +[0, </a:t>
            </a:r>
            <a:r>
              <a:rPr lang="en-US" altLang="zh-CN" sz="1800" dirty="0" err="1" smtClean="0"/>
              <a:t>logo_en</a:t>
            </a:r>
            <a:r>
              <a:rPr lang="en-US" altLang="zh-CN" sz="1800" dirty="0" smtClean="0"/>
              <a:t>]</a:t>
            </a:r>
          </a:p>
          <a:p>
            <a:r>
              <a:rPr lang="en-US" altLang="zh-CN" sz="2000" dirty="0" err="1" smtClean="0"/>
              <a:t>Me_index</a:t>
            </a:r>
            <a:r>
              <a:rPr lang="en-US" altLang="zh-CN" sz="2000" dirty="0" smtClean="0"/>
              <a:t>/</a:t>
            </a:r>
            <a:r>
              <a:rPr lang="en-US" altLang="zh-CN" sz="2000" dirty="0" err="1" smtClean="0"/>
              <a:t>mc_index</a:t>
            </a:r>
            <a:r>
              <a:rPr lang="zh-CN" altLang="en-US" sz="2000" dirty="0" smtClean="0"/>
              <a:t>相等</a:t>
            </a:r>
            <a:endParaRPr lang="en-US" altLang="zh-CN" sz="2000" dirty="0" smtClean="0"/>
          </a:p>
          <a:p>
            <a:pPr lvl="1"/>
            <a:r>
              <a:rPr lang="en-US" altLang="zh-CN" sz="1800" dirty="0" smtClean="0"/>
              <a:t>0: </a:t>
            </a:r>
            <a:r>
              <a:rPr lang="zh-CN" altLang="en-US" sz="1800" dirty="0" smtClean="0"/>
              <a:t>写指针移动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5: </a:t>
            </a:r>
            <a:r>
              <a:rPr lang="zh-CN" altLang="en-US" sz="1800" dirty="0" smtClean="0"/>
              <a:t>写指针不移动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需要对应</a:t>
            </a:r>
            <a:r>
              <a:rPr lang="en-US" altLang="zh-CN" sz="1800" i="1" dirty="0" err="1" smtClean="0">
                <a:solidFill>
                  <a:srgbClr val="FF0000"/>
                </a:solidFill>
              </a:rPr>
              <a:t>usableflag</a:t>
            </a:r>
            <a:r>
              <a:rPr lang="zh-CN" altLang="en-US" sz="1800" dirty="0" smtClean="0"/>
              <a:t>一起看</a:t>
            </a:r>
            <a:endParaRPr lang="en-US" altLang="zh-CN" sz="1800" dirty="0" smtClean="0"/>
          </a:p>
          <a:p>
            <a:pPr lvl="2"/>
            <a:r>
              <a:rPr lang="en-US" altLang="zh-CN" sz="1600" dirty="0" smtClean="0"/>
              <a:t>check</a:t>
            </a:r>
            <a:r>
              <a:rPr lang="zh-CN" altLang="en-US" sz="1600" dirty="0" smtClean="0"/>
              <a:t>结构体</a:t>
            </a:r>
            <a:r>
              <a:rPr lang="en-US" altLang="zh-CN" sz="1600" dirty="0" err="1" smtClean="0"/>
              <a:t>frc_cadTable</a:t>
            </a:r>
            <a:endParaRPr lang="en-US" altLang="zh-CN" sz="1600" dirty="0" smtClean="0"/>
          </a:p>
          <a:p>
            <a:r>
              <a:rPr lang="en-US" altLang="zh-CN" sz="2000" dirty="0" err="1" smtClean="0"/>
              <a:t>inTable</a:t>
            </a:r>
            <a:r>
              <a:rPr lang="zh-CN" altLang="en-US" sz="2000" dirty="0" smtClean="0"/>
              <a:t>应该跟</a:t>
            </a:r>
            <a:r>
              <a:rPr lang="en-US" altLang="zh-CN" sz="2000" dirty="0" smtClean="0"/>
              <a:t>cadence</a:t>
            </a:r>
            <a:r>
              <a:rPr lang="zh-CN" altLang="en-US" sz="2000" dirty="0" smtClean="0"/>
              <a:t>的</a:t>
            </a:r>
            <a:r>
              <a:rPr lang="en-US" altLang="zh-CN" sz="2000" dirty="0" err="1" smtClean="0"/>
              <a:t>outLen</a:t>
            </a:r>
            <a:r>
              <a:rPr lang="zh-CN" altLang="en-US" sz="2000" dirty="0" smtClean="0"/>
              <a:t>一样长</a:t>
            </a:r>
            <a:endParaRPr lang="en-US" altLang="zh-CN" sz="2000" dirty="0" smtClean="0"/>
          </a:p>
          <a:p>
            <a:r>
              <a:rPr lang="en-US" altLang="zh-CN" sz="2000" dirty="0">
                <a:solidFill>
                  <a:srgbClr val="FF0000"/>
                </a:solidFill>
              </a:rPr>
              <a:t>Content: </a:t>
            </a:r>
            <a:r>
              <a:rPr lang="zh-CN" altLang="en-US" sz="2000" dirty="0" smtClean="0">
                <a:solidFill>
                  <a:srgbClr val="FF0000"/>
                </a:solidFill>
              </a:rPr>
              <a:t>根据</a:t>
            </a:r>
            <a:r>
              <a:rPr lang="en-US" altLang="zh-CN" sz="2000" dirty="0" smtClean="0">
                <a:solidFill>
                  <a:srgbClr val="FF0000"/>
                </a:solidFill>
              </a:rPr>
              <a:t>film mode</a:t>
            </a:r>
            <a:endParaRPr lang="zh-CN" altLang="en-US" sz="2000" dirty="0" smtClean="0"/>
          </a:p>
          <a:p>
            <a:endParaRPr lang="zh-CN" altLang="en-US" sz="28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76" b="76200"/>
          <a:stretch/>
        </p:blipFill>
        <p:spPr bwMode="auto">
          <a:xfrm>
            <a:off x="323528" y="4941168"/>
            <a:ext cx="871981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702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 dirty="0" smtClean="0"/>
              <a:t>什么是</a:t>
            </a:r>
            <a:r>
              <a:rPr lang="en-US" altLang="zh-CN" sz="2800" dirty="0" smtClean="0"/>
              <a:t>phase table?-</a:t>
            </a:r>
            <a:r>
              <a:rPr lang="en-US" altLang="zh-CN" sz="2800" dirty="0" smtClean="0">
                <a:solidFill>
                  <a:srgbClr val="FF0000"/>
                </a:solidFill>
              </a:rPr>
              <a:t>Part1. Output Table </a:t>
            </a:r>
            <a:r>
              <a:rPr lang="en-US" altLang="zh-CN" sz="2800" dirty="0" smtClean="0"/>
              <a:t>(merlin2)</a:t>
            </a:r>
            <a:endParaRPr lang="zh-CN" altLang="en-US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38" b="20050"/>
          <a:stretch/>
        </p:blipFill>
        <p:spPr bwMode="auto">
          <a:xfrm>
            <a:off x="53550" y="1196752"/>
            <a:ext cx="3798370" cy="537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923929" y="1196752"/>
            <a:ext cx="4896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表头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dirty="0" smtClean="0"/>
              <a:t>Out_3d_enable: 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3d</a:t>
            </a:r>
            <a:endParaRPr lang="en-US" altLang="zh-CN" dirty="0"/>
          </a:p>
          <a:p>
            <a:r>
              <a:rPr lang="en-US" altLang="zh-CN" dirty="0" err="1" smtClean="0"/>
              <a:t>Film_mode</a:t>
            </a:r>
            <a:r>
              <a:rPr lang="en-US" altLang="zh-CN" dirty="0" smtClean="0"/>
              <a:t>: 0:video</a:t>
            </a:r>
            <a:r>
              <a:rPr lang="en-US" altLang="zh-CN" dirty="0"/>
              <a:t>; 1:22; 2:32; </a:t>
            </a:r>
            <a:r>
              <a:rPr lang="en-US" altLang="zh-CN" dirty="0" smtClean="0"/>
              <a:t>3:others</a:t>
            </a:r>
          </a:p>
          <a:p>
            <a:r>
              <a:rPr lang="en-US" altLang="zh-CN" dirty="0" err="1" smtClean="0"/>
              <a:t>Out_phase</a:t>
            </a:r>
            <a:r>
              <a:rPr lang="en-US" altLang="zh-CN" dirty="0" smtClean="0"/>
              <a:t>: in/out</a:t>
            </a:r>
            <a:r>
              <a:rPr lang="zh-CN" altLang="en-US" dirty="0"/>
              <a:t> </a:t>
            </a:r>
            <a:r>
              <a:rPr lang="en-US" altLang="zh-CN" dirty="0" smtClean="0"/>
              <a:t>framerate</a:t>
            </a:r>
            <a:r>
              <a:rPr lang="zh-CN" altLang="en-US" dirty="0" smtClean="0"/>
              <a:t>的最简比的表示</a:t>
            </a:r>
            <a:endParaRPr lang="en-US" altLang="zh-CN" dirty="0"/>
          </a:p>
          <a:p>
            <a:r>
              <a:rPr lang="en-US" altLang="zh-CN" dirty="0" err="1" smtClean="0"/>
              <a:t>Film_phase</a:t>
            </a:r>
            <a:r>
              <a:rPr lang="en-US" altLang="zh-CN" dirty="0" smtClean="0"/>
              <a:t>: 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cadence</a:t>
            </a:r>
            <a:r>
              <a:rPr lang="zh-CN" altLang="en-US" dirty="0" smtClean="0"/>
              <a:t>周期内的表示</a:t>
            </a:r>
            <a:endParaRPr lang="en-US" altLang="zh-CN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3923928" y="2780928"/>
            <a:ext cx="47500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me1</a:t>
            </a:r>
            <a:r>
              <a:rPr lang="zh-CN" altLang="en-US" b="1" dirty="0" smtClean="0"/>
              <a:t>的读指针</a:t>
            </a:r>
            <a:r>
              <a:rPr lang="en-US" altLang="zh-CN" b="1" dirty="0" smtClean="0"/>
              <a:t>:</a:t>
            </a:r>
          </a:p>
          <a:p>
            <a:r>
              <a:rPr lang="en-US" altLang="zh-CN" dirty="0" err="1" smtClean="0"/>
              <a:t>me_dts_p_offset</a:t>
            </a:r>
            <a:r>
              <a:rPr lang="en-US" altLang="zh-CN" dirty="0" smtClean="0"/>
              <a:t>: me1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 frame</a:t>
            </a:r>
            <a:r>
              <a:rPr lang="zh-CN" altLang="en-US" dirty="0" smtClean="0"/>
              <a:t>相对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有多远</a:t>
            </a:r>
            <a:endParaRPr lang="en-US" altLang="zh-CN" dirty="0" smtClean="0"/>
          </a:p>
          <a:p>
            <a:r>
              <a:rPr lang="en-US" altLang="zh-CN" dirty="0" err="1" smtClean="0"/>
              <a:t>me_dts_i_offset</a:t>
            </a:r>
            <a:r>
              <a:rPr lang="en-US" altLang="zh-CN" dirty="0" smtClean="0"/>
              <a:t>: me1</a:t>
            </a:r>
            <a:r>
              <a:rPr lang="zh-CN" altLang="en-US" dirty="0" smtClean="0"/>
              <a:t>的</a:t>
            </a:r>
            <a:r>
              <a:rPr lang="en-US" altLang="zh-CN" dirty="0" err="1"/>
              <a:t>i</a:t>
            </a:r>
            <a:r>
              <a:rPr lang="en-US" altLang="zh-CN" dirty="0" smtClean="0"/>
              <a:t> frame</a:t>
            </a:r>
            <a:r>
              <a:rPr lang="zh-CN" altLang="en-US" dirty="0" smtClean="0"/>
              <a:t>相对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有多远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23928" y="3789040"/>
            <a:ext cx="527766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solidFill>
                  <a:srgbClr val="3333CC"/>
                </a:solidFill>
              </a:rPr>
              <a:t>me2</a:t>
            </a:r>
            <a:r>
              <a:rPr lang="zh-CN" altLang="en-US" sz="1600" b="1" dirty="0" smtClean="0">
                <a:solidFill>
                  <a:srgbClr val="3333CC"/>
                </a:solidFill>
              </a:rPr>
              <a:t>的读指针</a:t>
            </a:r>
            <a:r>
              <a:rPr lang="en-US" altLang="zh-CN" sz="1600" b="1" dirty="0" smtClean="0">
                <a:solidFill>
                  <a:srgbClr val="3333CC"/>
                </a:solidFill>
              </a:rPr>
              <a:t>:</a:t>
            </a:r>
          </a:p>
          <a:p>
            <a:r>
              <a:rPr lang="en-US" altLang="zh-CN" sz="1600" dirty="0" smtClean="0">
                <a:solidFill>
                  <a:srgbClr val="3333CC"/>
                </a:solidFill>
              </a:rPr>
              <a:t>me2_lbme_p_index_offset: me2</a:t>
            </a:r>
            <a:r>
              <a:rPr lang="zh-CN" altLang="en-US" sz="1600" dirty="0" smtClean="0">
                <a:solidFill>
                  <a:srgbClr val="3333CC"/>
                </a:solidFill>
              </a:rPr>
              <a:t>的</a:t>
            </a:r>
            <a:r>
              <a:rPr lang="en-US" altLang="zh-CN" sz="1600" dirty="0" smtClean="0">
                <a:solidFill>
                  <a:srgbClr val="3333CC"/>
                </a:solidFill>
              </a:rPr>
              <a:t>p frame</a:t>
            </a:r>
            <a:r>
              <a:rPr lang="zh-CN" altLang="en-US" sz="1600" dirty="0" smtClean="0">
                <a:solidFill>
                  <a:srgbClr val="3333CC"/>
                </a:solidFill>
              </a:rPr>
              <a:t>相对</a:t>
            </a:r>
            <a:r>
              <a:rPr lang="en-US" altLang="zh-CN" sz="1600" dirty="0" err="1" smtClean="0">
                <a:solidFill>
                  <a:srgbClr val="3333CC"/>
                </a:solidFill>
              </a:rPr>
              <a:t>wrt</a:t>
            </a:r>
            <a:r>
              <a:rPr lang="zh-CN" altLang="en-US" sz="1600" dirty="0" smtClean="0">
                <a:solidFill>
                  <a:srgbClr val="3333CC"/>
                </a:solidFill>
              </a:rPr>
              <a:t>有多远</a:t>
            </a:r>
            <a:endParaRPr lang="en-US" altLang="zh-CN" sz="1600" dirty="0" smtClean="0">
              <a:solidFill>
                <a:srgbClr val="3333CC"/>
              </a:solidFill>
            </a:endParaRPr>
          </a:p>
          <a:p>
            <a:r>
              <a:rPr lang="en-US" altLang="zh-CN" sz="1600" dirty="0" smtClean="0">
                <a:solidFill>
                  <a:srgbClr val="3333CC"/>
                </a:solidFill>
              </a:rPr>
              <a:t>me2_lbme_i_index_offset: me2</a:t>
            </a:r>
            <a:r>
              <a:rPr lang="zh-CN" altLang="en-US" sz="1600" dirty="0" smtClean="0">
                <a:solidFill>
                  <a:srgbClr val="3333CC"/>
                </a:solidFill>
              </a:rPr>
              <a:t>的</a:t>
            </a:r>
            <a:r>
              <a:rPr lang="en-US" altLang="zh-CN" sz="1600" dirty="0" err="1">
                <a:solidFill>
                  <a:srgbClr val="3333CC"/>
                </a:solidFill>
              </a:rPr>
              <a:t>i</a:t>
            </a:r>
            <a:r>
              <a:rPr lang="en-US" altLang="zh-CN" sz="1600" dirty="0" smtClean="0">
                <a:solidFill>
                  <a:srgbClr val="3333CC"/>
                </a:solidFill>
              </a:rPr>
              <a:t> frame</a:t>
            </a:r>
            <a:r>
              <a:rPr lang="zh-CN" altLang="en-US" sz="1600" dirty="0" smtClean="0">
                <a:solidFill>
                  <a:srgbClr val="3333CC"/>
                </a:solidFill>
              </a:rPr>
              <a:t>相对</a:t>
            </a:r>
            <a:r>
              <a:rPr lang="en-US" altLang="zh-CN" sz="1600" dirty="0" err="1" smtClean="0">
                <a:solidFill>
                  <a:srgbClr val="3333CC"/>
                </a:solidFill>
              </a:rPr>
              <a:t>wrt</a:t>
            </a:r>
            <a:r>
              <a:rPr lang="zh-CN" altLang="en-US" sz="1600" dirty="0" smtClean="0">
                <a:solidFill>
                  <a:srgbClr val="3333CC"/>
                </a:solidFill>
              </a:rPr>
              <a:t>有多远</a:t>
            </a:r>
            <a:endParaRPr lang="en-US" altLang="zh-CN" sz="1600" dirty="0" smtClean="0">
              <a:solidFill>
                <a:srgbClr val="3333CC"/>
              </a:solidFill>
            </a:endParaRPr>
          </a:p>
          <a:p>
            <a:r>
              <a:rPr lang="en-US" altLang="zh-CN" sz="1600" dirty="0">
                <a:solidFill>
                  <a:srgbClr val="3333CC"/>
                </a:solidFill>
              </a:rPr>
              <a:t>m</a:t>
            </a:r>
            <a:r>
              <a:rPr lang="en-US" altLang="zh-CN" sz="1600" dirty="0" smtClean="0">
                <a:solidFill>
                  <a:srgbClr val="3333CC"/>
                </a:solidFill>
              </a:rPr>
              <a:t>e2_ppfv_buf_idx: me2</a:t>
            </a:r>
            <a:r>
              <a:rPr lang="zh-CN" altLang="en-US" sz="1600" dirty="0" smtClean="0">
                <a:solidFill>
                  <a:srgbClr val="3333CC"/>
                </a:solidFill>
              </a:rPr>
              <a:t>读的</a:t>
            </a:r>
            <a:r>
              <a:rPr lang="en-US" altLang="zh-CN" sz="1600" dirty="0" err="1" smtClean="0">
                <a:solidFill>
                  <a:srgbClr val="3333CC"/>
                </a:solidFill>
              </a:rPr>
              <a:t>ppfv</a:t>
            </a:r>
            <a:r>
              <a:rPr lang="zh-CN" altLang="en-US" sz="1600" dirty="0" smtClean="0">
                <a:solidFill>
                  <a:srgbClr val="3333CC"/>
                </a:solidFill>
              </a:rPr>
              <a:t>相对</a:t>
            </a:r>
            <a:r>
              <a:rPr lang="en-US" altLang="zh-CN" sz="1600" dirty="0" smtClean="0">
                <a:solidFill>
                  <a:srgbClr val="3333CC"/>
                </a:solidFill>
              </a:rPr>
              <a:t>me1</a:t>
            </a:r>
            <a:r>
              <a:rPr lang="zh-CN" altLang="en-US" sz="1600" dirty="0" smtClean="0">
                <a:solidFill>
                  <a:srgbClr val="3333CC"/>
                </a:solidFill>
              </a:rPr>
              <a:t>在写的</a:t>
            </a:r>
            <a:r>
              <a:rPr lang="en-US" altLang="zh-CN" sz="1600" dirty="0" err="1" smtClean="0">
                <a:solidFill>
                  <a:srgbClr val="3333CC"/>
                </a:solidFill>
              </a:rPr>
              <a:t>pfv</a:t>
            </a:r>
            <a:r>
              <a:rPr lang="zh-CN" altLang="en-US" sz="1600" dirty="0" smtClean="0">
                <a:solidFill>
                  <a:srgbClr val="3333CC"/>
                </a:solidFill>
              </a:rPr>
              <a:t>有多远</a:t>
            </a:r>
            <a:endParaRPr lang="en-US" altLang="zh-CN" sz="1600" dirty="0" smtClean="0">
              <a:solidFill>
                <a:srgbClr val="3333CC"/>
              </a:solidFill>
            </a:endParaRPr>
          </a:p>
          <a:p>
            <a:endParaRPr lang="en-US" altLang="zh-CN" sz="1600" dirty="0"/>
          </a:p>
          <a:p>
            <a:r>
              <a:rPr lang="en-US" altLang="zh-CN" sz="1600" b="1" dirty="0" smtClean="0"/>
              <a:t>mc</a:t>
            </a:r>
            <a:r>
              <a:rPr lang="zh-CN" altLang="en-US" sz="1600" b="1" dirty="0" smtClean="0"/>
              <a:t>的读指针：</a:t>
            </a:r>
            <a:endParaRPr lang="en-US" altLang="zh-CN" sz="1600" b="1" dirty="0" smtClean="0"/>
          </a:p>
          <a:p>
            <a:r>
              <a:rPr lang="en-US" altLang="zh-CN" sz="1600" dirty="0" err="1" smtClean="0"/>
              <a:t>Mc_cts_p_offset</a:t>
            </a:r>
            <a:r>
              <a:rPr lang="en-US" altLang="zh-CN" sz="1600" dirty="0" smtClean="0"/>
              <a:t>: </a:t>
            </a:r>
            <a:r>
              <a:rPr lang="en-US" altLang="zh-CN" sz="1600" dirty="0" smtClean="0">
                <a:solidFill>
                  <a:srgbClr val="3333CC"/>
                </a:solidFill>
              </a:rPr>
              <a:t>= me2_lbme_p_index_offset</a:t>
            </a:r>
          </a:p>
          <a:p>
            <a:r>
              <a:rPr lang="en-US" altLang="zh-CN" sz="1600" dirty="0" err="1" smtClean="0"/>
              <a:t>Mc_cts_i_offset</a:t>
            </a:r>
            <a:r>
              <a:rPr lang="en-US" altLang="zh-CN" sz="1600" dirty="0" smtClean="0"/>
              <a:t>: </a:t>
            </a:r>
            <a:r>
              <a:rPr lang="en-US" altLang="zh-CN" sz="1600" dirty="0" smtClean="0">
                <a:solidFill>
                  <a:srgbClr val="3333CC"/>
                </a:solidFill>
              </a:rPr>
              <a:t>= me2_lbme_i_index_offset</a:t>
            </a:r>
          </a:p>
        </p:txBody>
      </p:sp>
      <p:sp>
        <p:nvSpPr>
          <p:cNvPr id="9" name="矩形 8"/>
          <p:cNvSpPr/>
          <p:nvPr/>
        </p:nvSpPr>
        <p:spPr>
          <a:xfrm>
            <a:off x="3960440" y="604433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 smtClean="0"/>
              <a:t>me2_phase/</a:t>
            </a:r>
            <a:r>
              <a:rPr lang="en-US" altLang="zh-CN" b="1" dirty="0" err="1" smtClean="0"/>
              <a:t>mc_phase</a:t>
            </a:r>
            <a:r>
              <a:rPr lang="en-US" altLang="zh-CN" b="1" dirty="0"/>
              <a:t>:</a:t>
            </a:r>
          </a:p>
          <a:p>
            <a:r>
              <a:rPr lang="zh-CN" altLang="en-US" dirty="0"/>
              <a:t>两帧间</a:t>
            </a:r>
            <a:r>
              <a:rPr lang="en-US" altLang="zh-CN" dirty="0"/>
              <a:t>interpolate</a:t>
            </a:r>
            <a:r>
              <a:rPr lang="zh-CN" altLang="en-US" dirty="0"/>
              <a:t>的位置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986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 smtClean="0"/>
              <a:t>什么是</a:t>
            </a:r>
            <a:r>
              <a:rPr lang="en-US" altLang="zh-CN" sz="3200" dirty="0" smtClean="0"/>
              <a:t>phase table?-</a:t>
            </a:r>
            <a:r>
              <a:rPr lang="en-US" altLang="zh-CN" sz="3200" dirty="0" smtClean="0">
                <a:solidFill>
                  <a:srgbClr val="FF0000"/>
                </a:solidFill>
              </a:rPr>
              <a:t>Part1. Output Table </a:t>
            </a:r>
            <a:r>
              <a:rPr lang="en-US" altLang="zh-CN" sz="3200" dirty="0" smtClean="0"/>
              <a:t>(merlin)</a:t>
            </a:r>
            <a:endParaRPr lang="zh-CN" altLang="en-US" sz="3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725" b="16186"/>
          <a:stretch/>
        </p:blipFill>
        <p:spPr bwMode="auto">
          <a:xfrm>
            <a:off x="107504" y="1196752"/>
            <a:ext cx="3707904" cy="5310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923929" y="1196752"/>
            <a:ext cx="4896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表头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dirty="0" smtClean="0"/>
              <a:t>Out_3d_enable: 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3d</a:t>
            </a:r>
            <a:endParaRPr lang="en-US" altLang="zh-CN" dirty="0"/>
          </a:p>
          <a:p>
            <a:r>
              <a:rPr lang="en-US" altLang="zh-CN" dirty="0" err="1" smtClean="0"/>
              <a:t>Film_mode</a:t>
            </a:r>
            <a:r>
              <a:rPr lang="en-US" altLang="zh-CN" dirty="0" smtClean="0"/>
              <a:t>: 0:video</a:t>
            </a:r>
            <a:r>
              <a:rPr lang="en-US" altLang="zh-CN" dirty="0"/>
              <a:t>; 1:22; 2:32; </a:t>
            </a:r>
            <a:r>
              <a:rPr lang="en-US" altLang="zh-CN" dirty="0" smtClean="0"/>
              <a:t>3:others</a:t>
            </a:r>
          </a:p>
          <a:p>
            <a:r>
              <a:rPr lang="en-US" altLang="zh-CN" dirty="0" err="1" smtClean="0"/>
              <a:t>Out_phase</a:t>
            </a:r>
            <a:r>
              <a:rPr lang="en-US" altLang="zh-CN" dirty="0" smtClean="0"/>
              <a:t>: in/out</a:t>
            </a:r>
            <a:r>
              <a:rPr lang="zh-CN" altLang="en-US" dirty="0"/>
              <a:t> </a:t>
            </a:r>
            <a:r>
              <a:rPr lang="en-US" altLang="zh-CN" dirty="0" smtClean="0"/>
              <a:t>framerate</a:t>
            </a:r>
            <a:r>
              <a:rPr lang="zh-CN" altLang="en-US" dirty="0" smtClean="0"/>
              <a:t>的最简比的表示</a:t>
            </a:r>
            <a:endParaRPr lang="en-US" altLang="zh-CN" dirty="0"/>
          </a:p>
          <a:p>
            <a:r>
              <a:rPr lang="en-US" altLang="zh-CN" dirty="0" err="1" smtClean="0"/>
              <a:t>Film_phase</a:t>
            </a:r>
            <a:r>
              <a:rPr lang="en-US" altLang="zh-CN" dirty="0" smtClean="0"/>
              <a:t>: 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cadence</a:t>
            </a:r>
            <a:r>
              <a:rPr lang="zh-CN" altLang="en-US" dirty="0" smtClean="0"/>
              <a:t>周期内的表示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923928" y="3068960"/>
            <a:ext cx="47500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me</a:t>
            </a:r>
            <a:r>
              <a:rPr lang="zh-CN" altLang="en-US" b="1" dirty="0" smtClean="0"/>
              <a:t>的读指针</a:t>
            </a:r>
            <a:r>
              <a:rPr lang="en-US" altLang="zh-CN" b="1" dirty="0" smtClean="0"/>
              <a:t>:</a:t>
            </a:r>
          </a:p>
          <a:p>
            <a:r>
              <a:rPr lang="en-US" altLang="zh-CN" dirty="0" err="1" smtClean="0"/>
              <a:t>me_dts_p_offset</a:t>
            </a:r>
            <a:r>
              <a:rPr lang="en-US" altLang="zh-CN" dirty="0" smtClean="0"/>
              <a:t>: me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 frame</a:t>
            </a:r>
            <a:r>
              <a:rPr lang="zh-CN" altLang="en-US" dirty="0" smtClean="0"/>
              <a:t>相对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有多远</a:t>
            </a:r>
            <a:endParaRPr lang="en-US" altLang="zh-CN" dirty="0" smtClean="0"/>
          </a:p>
          <a:p>
            <a:r>
              <a:rPr lang="en-US" altLang="zh-CN" dirty="0" err="1" smtClean="0"/>
              <a:t>me_dts_i_offset</a:t>
            </a:r>
            <a:r>
              <a:rPr lang="en-US" altLang="zh-CN" dirty="0" smtClean="0"/>
              <a:t>: me</a:t>
            </a:r>
            <a:r>
              <a:rPr lang="zh-CN" altLang="en-US" dirty="0" smtClean="0"/>
              <a:t>的</a:t>
            </a:r>
            <a:r>
              <a:rPr lang="en-US" altLang="zh-CN" dirty="0" err="1"/>
              <a:t>i</a:t>
            </a:r>
            <a:r>
              <a:rPr lang="en-US" altLang="zh-CN" dirty="0" smtClean="0"/>
              <a:t> frame</a:t>
            </a:r>
            <a:r>
              <a:rPr lang="zh-CN" altLang="en-US" dirty="0" smtClean="0"/>
              <a:t>相对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有多远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23928" y="4233862"/>
            <a:ext cx="3629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mc</a:t>
            </a:r>
            <a:r>
              <a:rPr lang="zh-CN" altLang="en-US" b="1" dirty="0" smtClean="0"/>
              <a:t>的读指针：</a:t>
            </a:r>
            <a:endParaRPr lang="en-US" altLang="zh-CN" b="1" dirty="0" smtClean="0"/>
          </a:p>
          <a:p>
            <a:r>
              <a:rPr lang="en-US" altLang="zh-CN" dirty="0" err="1" smtClean="0"/>
              <a:t>Mc_cts_p_offset</a:t>
            </a:r>
            <a:r>
              <a:rPr lang="en-US" altLang="zh-CN" dirty="0" smtClean="0"/>
              <a:t>: </a:t>
            </a:r>
            <a:r>
              <a:rPr lang="en-US" altLang="zh-CN" dirty="0" smtClean="0">
                <a:solidFill>
                  <a:srgbClr val="3333CC"/>
                </a:solidFill>
              </a:rPr>
              <a:t>= </a:t>
            </a:r>
            <a:r>
              <a:rPr lang="en-US" altLang="zh-CN" dirty="0" err="1" smtClean="0">
                <a:solidFill>
                  <a:srgbClr val="3333CC"/>
                </a:solidFill>
              </a:rPr>
              <a:t>me_dts_p_offset</a:t>
            </a:r>
            <a:endParaRPr lang="en-US" altLang="zh-CN" dirty="0" smtClean="0">
              <a:solidFill>
                <a:srgbClr val="3333CC"/>
              </a:solidFill>
            </a:endParaRPr>
          </a:p>
          <a:p>
            <a:r>
              <a:rPr lang="en-US" altLang="zh-CN" dirty="0" err="1" smtClean="0"/>
              <a:t>Mc_cts_i_offset</a:t>
            </a:r>
            <a:r>
              <a:rPr lang="en-US" altLang="zh-CN" dirty="0" smtClean="0"/>
              <a:t>: </a:t>
            </a:r>
            <a:r>
              <a:rPr lang="en-US" altLang="zh-CN" dirty="0" smtClean="0">
                <a:solidFill>
                  <a:srgbClr val="3333CC"/>
                </a:solidFill>
              </a:rPr>
              <a:t>= </a:t>
            </a:r>
            <a:r>
              <a:rPr lang="en-US" altLang="zh-CN" dirty="0" err="1" smtClean="0">
                <a:solidFill>
                  <a:srgbClr val="3333CC"/>
                </a:solidFill>
              </a:rPr>
              <a:t>me_dts_i_offset</a:t>
            </a:r>
            <a:endParaRPr lang="en-US" altLang="zh-CN" dirty="0">
              <a:solidFill>
                <a:srgbClr val="3333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3928" y="5445224"/>
            <a:ext cx="2607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m</a:t>
            </a:r>
            <a:r>
              <a:rPr lang="en-US" altLang="zh-CN" b="1" dirty="0" err="1" smtClean="0"/>
              <a:t>e_phase</a:t>
            </a:r>
            <a:r>
              <a:rPr lang="en-US" altLang="zh-CN" b="1" dirty="0" smtClean="0"/>
              <a:t>/</a:t>
            </a:r>
            <a:r>
              <a:rPr lang="en-US" altLang="zh-CN" b="1" dirty="0" err="1" smtClean="0"/>
              <a:t>mc_phase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zh-CN" altLang="en-US" dirty="0"/>
              <a:t>两</a:t>
            </a:r>
            <a:r>
              <a:rPr lang="zh-CN" altLang="en-US" dirty="0" smtClean="0"/>
              <a:t>帧间</a:t>
            </a:r>
            <a:r>
              <a:rPr lang="en-US" altLang="zh-CN" dirty="0" smtClean="0"/>
              <a:t>interpolate</a:t>
            </a:r>
            <a:r>
              <a:rPr lang="zh-CN" altLang="en-US" dirty="0" smtClean="0"/>
              <a:t>的位置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4174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 smtClean="0"/>
              <a:t>什么是</a:t>
            </a:r>
            <a:r>
              <a:rPr lang="en-US" altLang="zh-CN" sz="3600" dirty="0" smtClean="0"/>
              <a:t>phase table?-</a:t>
            </a:r>
            <a:r>
              <a:rPr lang="en-US" altLang="zh-CN" sz="3600" dirty="0" smtClean="0">
                <a:solidFill>
                  <a:srgbClr val="FF0000"/>
                </a:solidFill>
              </a:rPr>
              <a:t>Part1. Output Table</a:t>
            </a:r>
            <a:endParaRPr lang="zh-CN" alt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3923928" y="1628800"/>
            <a:ext cx="4227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 smtClean="0">
                <a:solidFill>
                  <a:srgbClr val="FF0000"/>
                </a:solidFill>
              </a:rPr>
              <a:t>xxx_p_offset</a:t>
            </a:r>
            <a:r>
              <a:rPr lang="en-US" altLang="zh-CN" dirty="0" smtClean="0"/>
              <a:t>: me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 frame</a:t>
            </a:r>
            <a:r>
              <a:rPr lang="zh-CN" altLang="en-US" dirty="0" smtClean="0"/>
              <a:t>相对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有多远</a:t>
            </a:r>
            <a:endParaRPr lang="en-US" altLang="zh-CN" dirty="0" smtClean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xxx_i_offset</a:t>
            </a:r>
            <a:r>
              <a:rPr lang="en-US" altLang="zh-CN" dirty="0" smtClean="0"/>
              <a:t>: me</a:t>
            </a:r>
            <a:r>
              <a:rPr lang="zh-CN" altLang="en-US" dirty="0" smtClean="0"/>
              <a:t>的</a:t>
            </a:r>
            <a:r>
              <a:rPr lang="en-US" altLang="zh-CN" dirty="0" err="1"/>
              <a:t>i</a:t>
            </a:r>
            <a:r>
              <a:rPr lang="en-US" altLang="zh-CN" dirty="0" smtClean="0"/>
              <a:t> frame</a:t>
            </a:r>
            <a:r>
              <a:rPr lang="zh-CN" altLang="en-US" dirty="0" smtClean="0"/>
              <a:t>相对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有多远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1334068" y="1706078"/>
            <a:ext cx="792088" cy="2567136"/>
            <a:chOff x="7740352" y="3573016"/>
            <a:chExt cx="792088" cy="2567136"/>
          </a:xfrm>
        </p:grpSpPr>
        <p:sp>
          <p:nvSpPr>
            <p:cNvPr id="10" name="矩形 9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Y1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A0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X1</a:t>
              </a:r>
              <a:endParaRPr lang="zh-CN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Y0</a:t>
              </a:r>
              <a:endParaRPr lang="zh-CN" altLang="en-US" dirty="0"/>
            </a:p>
          </p:txBody>
        </p:sp>
      </p:grpSp>
      <p:cxnSp>
        <p:nvCxnSpPr>
          <p:cNvPr id="16" name="直接箭头连接符 15"/>
          <p:cNvCxnSpPr/>
          <p:nvPr/>
        </p:nvCxnSpPr>
        <p:spPr>
          <a:xfrm flipH="1">
            <a:off x="2237727" y="3193094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225946" y="1922102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239493" y="2723187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30212" y="1688232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630212" y="2543036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630212" y="2975084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974028" y="1678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028" y="21829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028" y="26150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028" y="30470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028" y="3479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028" y="3920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0139" y="2589911"/>
            <a:ext cx="5040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两种计算方法：</a:t>
            </a:r>
            <a:endParaRPr lang="en-US" altLang="zh-CN" b="1" dirty="0" smtClean="0"/>
          </a:p>
          <a:p>
            <a:r>
              <a:rPr lang="en-US" altLang="zh-CN" dirty="0" smtClean="0"/>
              <a:t>1.FW</a:t>
            </a:r>
          </a:p>
          <a:p>
            <a:r>
              <a:rPr lang="zh-CN" altLang="en-US" dirty="0" smtClean="0"/>
              <a:t>按</a:t>
            </a:r>
            <a:r>
              <a:rPr lang="en-US" altLang="zh-CN" dirty="0" err="1" smtClean="0"/>
              <a:t>wrt</a:t>
            </a:r>
            <a:r>
              <a:rPr lang="zh-CN" altLang="en-US" dirty="0" smtClean="0"/>
              <a:t>的时间先后，从</a:t>
            </a:r>
            <a:r>
              <a:rPr lang="en-US" altLang="zh-CN" dirty="0" err="1" smtClean="0"/>
              <a:t>wrt</a:t>
            </a:r>
            <a:r>
              <a:rPr lang="en-US" altLang="zh-CN" dirty="0" smtClean="0"/>
              <a:t> buffer</a:t>
            </a:r>
            <a:r>
              <a:rPr lang="zh-CN" altLang="en-US" dirty="0" smtClean="0"/>
              <a:t>往前推</a:t>
            </a:r>
            <a:endParaRPr lang="en-US" altLang="zh-CN" dirty="0" smtClean="0"/>
          </a:p>
          <a:p>
            <a:r>
              <a:rPr lang="zh-CN" altLang="en-US" dirty="0" smtClean="0"/>
              <a:t>比如，</a:t>
            </a:r>
            <a:r>
              <a:rPr lang="en-US" altLang="zh-CN" dirty="0" smtClean="0"/>
              <a:t>Z1</a:t>
            </a:r>
            <a:r>
              <a:rPr lang="zh-CN" altLang="en-US" dirty="0" smtClean="0"/>
              <a:t>位置：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；</a:t>
            </a:r>
            <a:r>
              <a:rPr lang="en-US" altLang="zh-CN" dirty="0" smtClean="0"/>
              <a:t>Y1</a:t>
            </a:r>
            <a:r>
              <a:rPr lang="zh-CN" altLang="en-US" dirty="0" smtClean="0"/>
              <a:t>位置：</a:t>
            </a:r>
            <a:r>
              <a:rPr lang="en-US" altLang="zh-CN" dirty="0" smtClean="0"/>
              <a:t>3</a:t>
            </a:r>
          </a:p>
          <a:p>
            <a:r>
              <a:rPr lang="en-US" altLang="zh-CN" dirty="0" smtClean="0"/>
              <a:t>FW</a:t>
            </a:r>
            <a:r>
              <a:rPr lang="zh-CN" altLang="en-US" dirty="0" smtClean="0"/>
              <a:t>里计算会按照这种方式算，最后再换算成</a:t>
            </a:r>
            <a:r>
              <a:rPr lang="en-US" altLang="zh-CN" dirty="0" smtClean="0"/>
              <a:t>HW</a:t>
            </a:r>
            <a:r>
              <a:rPr lang="zh-CN" altLang="en-US" dirty="0" smtClean="0"/>
              <a:t>的计算方式填到</a:t>
            </a:r>
            <a:r>
              <a:rPr lang="en-US" altLang="zh-CN" dirty="0" err="1" smtClean="0"/>
              <a:t>sram</a:t>
            </a:r>
            <a:r>
              <a:rPr lang="zh-CN" altLang="en-US" dirty="0" smtClean="0"/>
              <a:t>里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2.HW</a:t>
            </a:r>
          </a:p>
          <a:p>
            <a:r>
              <a:rPr lang="zh-CN" altLang="en-US" dirty="0" smtClean="0"/>
              <a:t>按</a:t>
            </a:r>
            <a:r>
              <a:rPr lang="en-US" altLang="zh-CN" dirty="0" smtClean="0"/>
              <a:t>buffer</a:t>
            </a:r>
            <a:r>
              <a:rPr lang="zh-CN" altLang="en-US" dirty="0" smtClean="0"/>
              <a:t>物理地址顺序，从</a:t>
            </a:r>
            <a:r>
              <a:rPr lang="en-US" altLang="zh-CN" dirty="0" err="1" smtClean="0"/>
              <a:t>wrt</a:t>
            </a:r>
            <a:r>
              <a:rPr lang="en-US" altLang="zh-CN" dirty="0" smtClean="0"/>
              <a:t> buffer</a:t>
            </a:r>
            <a:r>
              <a:rPr lang="zh-CN" altLang="en-US" dirty="0" smtClean="0"/>
              <a:t>起由低往高推</a:t>
            </a:r>
            <a:endParaRPr lang="en-US" altLang="zh-CN" dirty="0" smtClean="0"/>
          </a:p>
          <a:p>
            <a:r>
              <a:rPr lang="zh-CN" altLang="en-US" dirty="0" smtClean="0"/>
              <a:t>比如，</a:t>
            </a:r>
            <a:r>
              <a:rPr lang="en-US" altLang="zh-CN" dirty="0" smtClean="0"/>
              <a:t>Z1</a:t>
            </a:r>
            <a:r>
              <a:rPr lang="zh-CN" altLang="en-US" dirty="0" smtClean="0"/>
              <a:t>位置：</a:t>
            </a:r>
            <a:r>
              <a:rPr lang="en-US" altLang="zh-CN" dirty="0" smtClean="0"/>
              <a:t>4</a:t>
            </a:r>
            <a:r>
              <a:rPr lang="zh-CN" altLang="en-US" dirty="0" smtClean="0"/>
              <a:t>；</a:t>
            </a:r>
            <a:r>
              <a:rPr lang="en-US" altLang="zh-CN" dirty="0" smtClean="0"/>
              <a:t>Y1</a:t>
            </a:r>
            <a:r>
              <a:rPr lang="zh-CN" altLang="en-US" dirty="0" smtClean="0"/>
              <a:t>位置：</a:t>
            </a:r>
            <a:r>
              <a:rPr lang="en-US" altLang="zh-CN" dirty="0" smtClean="0"/>
              <a:t>2</a:t>
            </a:r>
          </a:p>
          <a:p>
            <a:r>
              <a:rPr lang="en-US" altLang="zh-CN" dirty="0" err="1" smtClean="0"/>
              <a:t>Sram</a:t>
            </a:r>
            <a:r>
              <a:rPr lang="zh-CN" altLang="en-US" dirty="0" smtClean="0"/>
              <a:t>里存的</a:t>
            </a:r>
            <a:r>
              <a:rPr lang="en-US" altLang="zh-CN" dirty="0" smtClean="0"/>
              <a:t>table</a:t>
            </a:r>
            <a:r>
              <a:rPr lang="zh-CN" altLang="en-US" dirty="0" smtClean="0"/>
              <a:t>都是这种方式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988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 smtClean="0"/>
              <a:t>什么是</a:t>
            </a:r>
            <a:r>
              <a:rPr lang="en-US" altLang="zh-CN" sz="3600" dirty="0" smtClean="0"/>
              <a:t>phase table?-</a:t>
            </a:r>
            <a:r>
              <a:rPr lang="en-US" altLang="zh-CN" sz="3600" dirty="0" smtClean="0">
                <a:solidFill>
                  <a:srgbClr val="FF0000"/>
                </a:solidFill>
              </a:rPr>
              <a:t>Part1. Output Table</a:t>
            </a:r>
            <a:endParaRPr lang="zh-CN" altLang="en-US" sz="3600" dirty="0"/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38" b="20050"/>
          <a:stretch/>
        </p:blipFill>
        <p:spPr bwMode="auto">
          <a:xfrm>
            <a:off x="53550" y="1196752"/>
            <a:ext cx="3798370" cy="537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15616" y="652534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(merlin2)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55976" y="1340768"/>
            <a:ext cx="42484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如左图的这张表：</a:t>
            </a:r>
            <a:endParaRPr lang="en-US" altLang="zh-CN" dirty="0" smtClean="0"/>
          </a:p>
          <a:p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存放在</a:t>
            </a:r>
            <a:r>
              <a:rPr lang="en-US" altLang="zh-CN" dirty="0" err="1" smtClean="0"/>
              <a:t>sram</a:t>
            </a:r>
            <a:r>
              <a:rPr lang="zh-CN" altLang="en-US" dirty="0" smtClean="0"/>
              <a:t>里；</a:t>
            </a:r>
            <a:r>
              <a:rPr lang="en-US" altLang="zh-CN" dirty="0" smtClean="0"/>
              <a:t>HW</a:t>
            </a:r>
            <a:r>
              <a:rPr lang="zh-CN" altLang="en-US" dirty="0" smtClean="0"/>
              <a:t>每个</a:t>
            </a:r>
            <a:r>
              <a:rPr lang="en-US" altLang="zh-CN" dirty="0" err="1" smtClean="0"/>
              <a:t>vsync</a:t>
            </a:r>
            <a:r>
              <a:rPr lang="zh-CN" altLang="en-US" dirty="0" smtClean="0"/>
              <a:t>有触发的时间点根据表头去读</a:t>
            </a:r>
            <a:r>
              <a:rPr lang="en-US" altLang="zh-CN" dirty="0" err="1" smtClean="0"/>
              <a:t>sram</a:t>
            </a:r>
            <a:r>
              <a:rPr lang="zh-CN" altLang="en-US" dirty="0" smtClean="0"/>
              <a:t>里的内容，指示各</a:t>
            </a:r>
            <a:r>
              <a:rPr lang="en-US" altLang="zh-CN" dirty="0" smtClean="0"/>
              <a:t>module</a:t>
            </a:r>
            <a:r>
              <a:rPr lang="zh-CN" altLang="en-US" dirty="0" smtClean="0"/>
              <a:t>怎么读写</a:t>
            </a:r>
            <a:r>
              <a:rPr lang="en-US" altLang="zh-CN" dirty="0" smtClean="0"/>
              <a:t>buffer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长度</a:t>
            </a:r>
            <a:r>
              <a:rPr lang="en-US" altLang="zh-CN" dirty="0" smtClean="0"/>
              <a:t>255</a:t>
            </a:r>
            <a:r>
              <a:rPr lang="zh-CN" altLang="en-US" dirty="0" smtClean="0"/>
              <a:t>列；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共有</a:t>
            </a:r>
            <a:r>
              <a:rPr lang="en-US" altLang="zh-CN" dirty="0" smtClean="0"/>
              <a:t>2</a:t>
            </a:r>
            <a:r>
              <a:rPr lang="zh-CN" altLang="en-US" dirty="0" smtClean="0"/>
              <a:t>组；一组是</a:t>
            </a:r>
            <a:r>
              <a:rPr lang="en-US" altLang="zh-CN" dirty="0" smtClean="0"/>
              <a:t>HW</a:t>
            </a:r>
            <a:r>
              <a:rPr lang="zh-CN" altLang="en-US" dirty="0" smtClean="0"/>
              <a:t>在用的；一组是可被改写的</a:t>
            </a:r>
            <a:r>
              <a:rPr lang="en-US" altLang="zh-CN" dirty="0" smtClean="0"/>
              <a:t>.</a:t>
            </a:r>
          </a:p>
          <a:p>
            <a:pPr marL="342900" indent="-342900">
              <a:buAutoNum type="arabicPeriod"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0736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什么是</a:t>
            </a:r>
            <a:r>
              <a:rPr lang="en-US" altLang="zh-CN" sz="3600" dirty="0" smtClean="0"/>
              <a:t>phase table?-</a:t>
            </a:r>
            <a:r>
              <a:rPr lang="en-US" altLang="zh-CN" sz="3600" dirty="0" smtClean="0">
                <a:solidFill>
                  <a:srgbClr val="FF0000"/>
                </a:solidFill>
              </a:rPr>
              <a:t>Part1. Output Table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106128"/>
            <a:ext cx="3034680" cy="3020035"/>
          </a:xfrm>
        </p:spPr>
        <p:txBody>
          <a:bodyPr>
            <a:normAutofit/>
          </a:bodyPr>
          <a:lstStyle/>
          <a:p>
            <a:r>
              <a:rPr lang="en-US" altLang="zh-CN" sz="2400" dirty="0" err="1" smtClean="0"/>
              <a:t>out_phase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0,1,…,M-1</a:t>
            </a:r>
            <a:endParaRPr lang="en-US" altLang="zh-CN" sz="2000" dirty="0"/>
          </a:p>
          <a:p>
            <a:r>
              <a:rPr lang="en-US" altLang="zh-CN" sz="2400" dirty="0" err="1" smtClean="0"/>
              <a:t>in_phase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0,1,…,N-1</a:t>
            </a:r>
          </a:p>
          <a:p>
            <a:r>
              <a:rPr lang="en-US" altLang="zh-CN" sz="2400" dirty="0" smtClean="0"/>
              <a:t>@120hz panel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M</a:t>
            </a:r>
            <a:r>
              <a:rPr lang="zh-CN" altLang="en-US" sz="2400" dirty="0" smtClean="0"/>
              <a:t>一定是偶数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952394" y="1412776"/>
            <a:ext cx="4896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表头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dirty="0" smtClean="0"/>
              <a:t>Out_3d_enable: 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3d</a:t>
            </a:r>
            <a:endParaRPr lang="en-US" altLang="zh-CN" dirty="0"/>
          </a:p>
          <a:p>
            <a:r>
              <a:rPr lang="en-US" altLang="zh-CN" dirty="0" err="1" smtClean="0"/>
              <a:t>Film_mode</a:t>
            </a:r>
            <a:r>
              <a:rPr lang="en-US" altLang="zh-CN" dirty="0" smtClean="0"/>
              <a:t>: 0:video</a:t>
            </a:r>
            <a:r>
              <a:rPr lang="en-US" altLang="zh-CN" dirty="0"/>
              <a:t>; 1:22; 2:32; </a:t>
            </a:r>
            <a:r>
              <a:rPr lang="en-US" altLang="zh-CN" dirty="0" smtClean="0"/>
              <a:t>3:others</a:t>
            </a:r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Out_phase</a:t>
            </a:r>
            <a:r>
              <a:rPr lang="en-US" altLang="zh-CN" dirty="0" smtClean="0"/>
              <a:t>: in/out</a:t>
            </a:r>
            <a:r>
              <a:rPr lang="zh-CN" altLang="en-US" dirty="0"/>
              <a:t> </a:t>
            </a:r>
            <a:r>
              <a:rPr lang="en-US" altLang="zh-CN" dirty="0" smtClean="0"/>
              <a:t>framerate</a:t>
            </a:r>
            <a:r>
              <a:rPr lang="zh-CN" altLang="en-US" dirty="0" smtClean="0"/>
              <a:t>的最简比的表示</a:t>
            </a:r>
            <a:endParaRPr lang="en-US" altLang="zh-CN" dirty="0"/>
          </a:p>
          <a:p>
            <a:r>
              <a:rPr lang="en-US" altLang="zh-CN" dirty="0" err="1" smtClean="0"/>
              <a:t>Film_phase</a:t>
            </a:r>
            <a:r>
              <a:rPr lang="en-US" altLang="zh-CN" dirty="0" smtClean="0"/>
              <a:t>: 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cadence</a:t>
            </a:r>
            <a:r>
              <a:rPr lang="zh-CN" altLang="en-US" dirty="0" smtClean="0"/>
              <a:t>周期内的表示</a:t>
            </a:r>
            <a:endParaRPr lang="en-US" altLang="zh-CN" dirty="0" smtClean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935932"/>
              </p:ext>
            </p:extLst>
          </p:nvPr>
        </p:nvGraphicFramePr>
        <p:xfrm>
          <a:off x="3419872" y="3080436"/>
          <a:ext cx="5415115" cy="343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0" name="Visio" r:id="rId3" imgW="3705208" imgH="2352471" progId="Visio.Drawing.11">
                  <p:embed/>
                </p:oleObj>
              </mc:Choice>
              <mc:Fallback>
                <p:oleObj name="Visio" r:id="rId3" imgW="3705208" imgH="235247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872" y="3080436"/>
                        <a:ext cx="5415115" cy="3438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9301" y="4520153"/>
            <a:ext cx="2713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i="1" dirty="0" smtClean="0">
                <a:solidFill>
                  <a:srgbClr val="FF0000"/>
                </a:solidFill>
              </a:rPr>
              <a:t>理论关系图，实际要算上</a:t>
            </a:r>
            <a:r>
              <a:rPr lang="en-US" altLang="zh-CN" sz="1200" i="1" dirty="0" err="1" smtClean="0">
                <a:solidFill>
                  <a:srgbClr val="FF0000"/>
                </a:solidFill>
              </a:rPr>
              <a:t>hw</a:t>
            </a:r>
            <a:r>
              <a:rPr lang="zh-CN" altLang="en-US" sz="1200" i="1" dirty="0" smtClean="0">
                <a:solidFill>
                  <a:srgbClr val="FF0000"/>
                </a:solidFill>
              </a:rPr>
              <a:t>的各种</a:t>
            </a:r>
            <a:r>
              <a:rPr lang="en-US" altLang="zh-CN" sz="1200" i="1" dirty="0" err="1" smtClean="0">
                <a:solidFill>
                  <a:srgbClr val="FF0000"/>
                </a:solidFill>
              </a:rPr>
              <a:t>dly</a:t>
            </a:r>
            <a:endParaRPr lang="zh-CN" altLang="en-US" sz="1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98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什么是</a:t>
            </a:r>
            <a:r>
              <a:rPr lang="en-US" altLang="zh-CN" sz="3600" dirty="0" smtClean="0"/>
              <a:t>phase table?-</a:t>
            </a:r>
            <a:r>
              <a:rPr lang="en-US" altLang="zh-CN" sz="3600" dirty="0" smtClean="0">
                <a:solidFill>
                  <a:srgbClr val="FF0000"/>
                </a:solidFill>
              </a:rPr>
              <a:t>Part1. Output Table</a:t>
            </a:r>
            <a:endParaRPr lang="zh-CN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3952394" y="1412776"/>
            <a:ext cx="4896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表头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dirty="0" smtClean="0"/>
              <a:t>Out_3d_enable: 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3d</a:t>
            </a:r>
            <a:endParaRPr lang="en-US" altLang="zh-CN" dirty="0"/>
          </a:p>
          <a:p>
            <a:r>
              <a:rPr lang="en-US" altLang="zh-CN" dirty="0" err="1" smtClean="0"/>
              <a:t>Film_mode</a:t>
            </a:r>
            <a:r>
              <a:rPr lang="en-US" altLang="zh-CN" dirty="0" smtClean="0"/>
              <a:t>: 0:video</a:t>
            </a:r>
            <a:r>
              <a:rPr lang="en-US" altLang="zh-CN" dirty="0"/>
              <a:t>; 1:22; 2:32; </a:t>
            </a:r>
            <a:r>
              <a:rPr lang="en-US" altLang="zh-CN" dirty="0" smtClean="0"/>
              <a:t>3:others</a:t>
            </a:r>
          </a:p>
          <a:p>
            <a:r>
              <a:rPr lang="en-US" altLang="zh-CN" dirty="0" err="1" smtClean="0"/>
              <a:t>Out_phase</a:t>
            </a:r>
            <a:r>
              <a:rPr lang="en-US" altLang="zh-CN" dirty="0" smtClean="0"/>
              <a:t>: in/out</a:t>
            </a:r>
            <a:r>
              <a:rPr lang="zh-CN" altLang="en-US" dirty="0"/>
              <a:t> </a:t>
            </a:r>
            <a:r>
              <a:rPr lang="en-US" altLang="zh-CN" dirty="0" smtClean="0"/>
              <a:t>framerate</a:t>
            </a:r>
            <a:r>
              <a:rPr lang="zh-CN" altLang="en-US" dirty="0" smtClean="0"/>
              <a:t>的最简比的表示</a:t>
            </a:r>
            <a:endParaRPr lang="en-US" altLang="zh-CN" dirty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Film_phase</a:t>
            </a:r>
            <a:r>
              <a:rPr lang="en-US" altLang="zh-CN" dirty="0" smtClean="0"/>
              <a:t>: 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cadence</a:t>
            </a:r>
            <a:r>
              <a:rPr lang="zh-CN" altLang="en-US" dirty="0" smtClean="0"/>
              <a:t>周期内的表示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83568" y="3287125"/>
            <a:ext cx="30243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Cadence:         22</a:t>
            </a:r>
          </a:p>
          <a:p>
            <a:r>
              <a:rPr lang="en-US" altLang="zh-CN" dirty="0" err="1" smtClean="0"/>
              <a:t>DiffImgRatio</a:t>
            </a:r>
            <a:r>
              <a:rPr lang="en-US" altLang="zh-CN" dirty="0" smtClean="0"/>
              <a:t>:  1:2</a:t>
            </a:r>
          </a:p>
          <a:p>
            <a:r>
              <a:rPr lang="en-US" altLang="zh-CN" dirty="0" smtClean="0"/>
              <a:t>Frame rule:      AABB…</a:t>
            </a:r>
          </a:p>
          <a:p>
            <a:r>
              <a:rPr lang="en-US" altLang="zh-CN" dirty="0" smtClean="0"/>
              <a:t>Motion rule:    1010…</a:t>
            </a:r>
          </a:p>
          <a:p>
            <a:r>
              <a:rPr lang="en-US" altLang="zh-CN" dirty="0" err="1" smtClean="0">
                <a:solidFill>
                  <a:srgbClr val="3333CC"/>
                </a:solidFill>
              </a:rPr>
              <a:t>Film_phase</a:t>
            </a:r>
            <a:r>
              <a:rPr lang="en-US" altLang="zh-CN" dirty="0" smtClean="0">
                <a:solidFill>
                  <a:srgbClr val="3333CC"/>
                </a:solidFill>
              </a:rPr>
              <a:t>:     01</a:t>
            </a:r>
            <a:r>
              <a:rPr lang="en-US" altLang="zh-CN" dirty="0" smtClean="0"/>
              <a:t>01…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4943309"/>
            <a:ext cx="30243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Cadence:         32</a:t>
            </a:r>
          </a:p>
          <a:p>
            <a:r>
              <a:rPr lang="en-US" altLang="zh-CN" dirty="0" err="1"/>
              <a:t>DiffImgRatio</a:t>
            </a:r>
            <a:r>
              <a:rPr lang="en-US" altLang="zh-CN" dirty="0"/>
              <a:t>:  </a:t>
            </a:r>
            <a:r>
              <a:rPr lang="en-US" altLang="zh-CN" dirty="0" smtClean="0"/>
              <a:t>2:5</a:t>
            </a:r>
          </a:p>
          <a:p>
            <a:r>
              <a:rPr lang="en-US" altLang="zh-CN" dirty="0" smtClean="0"/>
              <a:t>Frame rule:      AAABB…</a:t>
            </a:r>
          </a:p>
          <a:p>
            <a:r>
              <a:rPr lang="en-US" altLang="zh-CN" dirty="0" smtClean="0"/>
              <a:t>Motion rule:    10010…</a:t>
            </a:r>
          </a:p>
          <a:p>
            <a:r>
              <a:rPr lang="en-US" altLang="zh-CN" dirty="0" err="1" smtClean="0">
                <a:solidFill>
                  <a:srgbClr val="3333CC"/>
                </a:solidFill>
              </a:rPr>
              <a:t>Film_phase</a:t>
            </a:r>
            <a:r>
              <a:rPr lang="en-US" altLang="zh-CN" dirty="0" smtClean="0">
                <a:solidFill>
                  <a:srgbClr val="3333CC"/>
                </a:solidFill>
              </a:rPr>
              <a:t>:     01234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952394" y="3284984"/>
            <a:ext cx="4292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Cadence:         32322</a:t>
            </a:r>
          </a:p>
          <a:p>
            <a:r>
              <a:rPr lang="en-US" altLang="zh-CN" dirty="0" err="1"/>
              <a:t>DiffImgRatio</a:t>
            </a:r>
            <a:r>
              <a:rPr lang="en-US" altLang="zh-CN" dirty="0"/>
              <a:t>:  </a:t>
            </a:r>
            <a:r>
              <a:rPr lang="en-US" altLang="zh-CN" dirty="0" smtClean="0"/>
              <a:t>5:12</a:t>
            </a:r>
          </a:p>
          <a:p>
            <a:r>
              <a:rPr lang="en-US" altLang="zh-CN" dirty="0" smtClean="0"/>
              <a:t>Frame rule:     AAABBCCCDDEE…</a:t>
            </a:r>
          </a:p>
          <a:p>
            <a:r>
              <a:rPr lang="en-US" altLang="zh-CN" dirty="0" smtClean="0"/>
              <a:t>Motion rule:   100101001010…</a:t>
            </a:r>
          </a:p>
          <a:p>
            <a:r>
              <a:rPr lang="en-US" altLang="zh-CN" dirty="0" err="1" smtClean="0">
                <a:solidFill>
                  <a:srgbClr val="3333CC"/>
                </a:solidFill>
              </a:rPr>
              <a:t>Film_phase</a:t>
            </a:r>
            <a:r>
              <a:rPr lang="en-US" altLang="zh-CN" dirty="0" smtClean="0">
                <a:solidFill>
                  <a:srgbClr val="3333CC"/>
                </a:solidFill>
              </a:rPr>
              <a:t>:    0123456789AB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23928" y="4943309"/>
            <a:ext cx="42920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Cadence:         1112</a:t>
            </a:r>
          </a:p>
          <a:p>
            <a:r>
              <a:rPr lang="en-US" altLang="zh-CN" dirty="0" err="1"/>
              <a:t>DiffImgRatio</a:t>
            </a:r>
            <a:r>
              <a:rPr lang="en-US" altLang="zh-CN" dirty="0"/>
              <a:t>:  </a:t>
            </a:r>
            <a:r>
              <a:rPr lang="en-US" altLang="zh-CN" dirty="0" smtClean="0"/>
              <a:t>4:5</a:t>
            </a:r>
          </a:p>
          <a:p>
            <a:r>
              <a:rPr lang="en-US" altLang="zh-CN" dirty="0" smtClean="0"/>
              <a:t>Frame rule:     ABCDD…</a:t>
            </a:r>
          </a:p>
          <a:p>
            <a:r>
              <a:rPr lang="en-US" altLang="zh-CN" dirty="0" smtClean="0"/>
              <a:t>Motion rule:   11110…</a:t>
            </a:r>
          </a:p>
          <a:p>
            <a:r>
              <a:rPr lang="en-US" altLang="zh-CN" dirty="0" err="1" smtClean="0">
                <a:solidFill>
                  <a:srgbClr val="3333CC"/>
                </a:solidFill>
              </a:rPr>
              <a:t>Film_phase</a:t>
            </a:r>
            <a:r>
              <a:rPr lang="en-US" altLang="zh-CN" dirty="0" smtClean="0">
                <a:solidFill>
                  <a:srgbClr val="3333CC"/>
                </a:solidFill>
              </a:rPr>
              <a:t>:    01234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463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什么是</a:t>
            </a:r>
            <a:r>
              <a:rPr lang="en-US" altLang="zh-CN" sz="3600" dirty="0" smtClean="0"/>
              <a:t>phase table?-</a:t>
            </a:r>
            <a:r>
              <a:rPr lang="en-US" altLang="zh-CN" sz="3600" dirty="0" smtClean="0">
                <a:solidFill>
                  <a:srgbClr val="FF0000"/>
                </a:solidFill>
              </a:rPr>
              <a:t>Part1. Output Table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57203"/>
          </a:xfrm>
        </p:spPr>
        <p:txBody>
          <a:bodyPr>
            <a:normAutofit/>
          </a:bodyPr>
          <a:lstStyle/>
          <a:p>
            <a:r>
              <a:rPr lang="zh-CN" altLang="en-US" sz="2400" u="sng" dirty="0" smtClean="0"/>
              <a:t>表头有什么作用？</a:t>
            </a:r>
            <a:endParaRPr lang="en-US" altLang="zh-CN" sz="2400" u="sng" dirty="0" smtClean="0"/>
          </a:p>
          <a:p>
            <a:r>
              <a:rPr lang="en-US" altLang="zh-CN" sz="2400" dirty="0" err="1" smtClean="0"/>
              <a:t>out_phase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film_phase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一直在不断周期变化；</a:t>
            </a:r>
            <a:endParaRPr lang="en-US" altLang="zh-CN" sz="2400" dirty="0" smtClean="0"/>
          </a:p>
          <a:p>
            <a:r>
              <a:rPr lang="en-US" altLang="zh-CN" sz="2400" dirty="0" err="1" smtClean="0"/>
              <a:t>film_mode</a:t>
            </a:r>
            <a:r>
              <a:rPr lang="en-US" altLang="zh-CN" sz="2400" dirty="0" smtClean="0"/>
              <a:t>: </a:t>
            </a:r>
            <a:r>
              <a:rPr lang="en-US" altLang="zh-CN" sz="2400" dirty="0" err="1" smtClean="0"/>
              <a:t>sram</a:t>
            </a:r>
            <a:r>
              <a:rPr lang="zh-CN" altLang="en-US" sz="2400" dirty="0" smtClean="0"/>
              <a:t>里可以同时存好几种</a:t>
            </a:r>
            <a:r>
              <a:rPr lang="en-US" altLang="zh-CN" sz="2400" dirty="0" smtClean="0"/>
              <a:t>cadence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phase table</a:t>
            </a:r>
          </a:p>
          <a:p>
            <a:r>
              <a:rPr lang="en-US" altLang="zh-CN" sz="2400" dirty="0" smtClean="0"/>
              <a:t>out_3d_enable: 2d/3d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phase table</a:t>
            </a:r>
            <a:r>
              <a:rPr lang="zh-CN" altLang="en-US" sz="2400" dirty="0" smtClean="0"/>
              <a:t>可以同时存在在</a:t>
            </a:r>
            <a:r>
              <a:rPr lang="en-US" altLang="zh-CN" sz="2400" dirty="0" err="1" smtClean="0"/>
              <a:t>sram</a:t>
            </a:r>
            <a:r>
              <a:rPr lang="zh-CN" altLang="en-US" sz="2400" dirty="0" smtClean="0"/>
              <a:t>里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en-US" altLang="zh-CN" sz="2400" dirty="0" err="1" smtClean="0"/>
              <a:t>Sram</a:t>
            </a:r>
            <a:r>
              <a:rPr lang="zh-CN" altLang="en-US" sz="2400" dirty="0" smtClean="0"/>
              <a:t>里有</a:t>
            </a:r>
            <a:r>
              <a:rPr lang="en-US" altLang="zh-CN" sz="2400" dirty="0" smtClean="0"/>
              <a:t>255</a:t>
            </a:r>
            <a:r>
              <a:rPr lang="zh-CN" altLang="en-US" sz="2400" dirty="0" smtClean="0"/>
              <a:t>列，需要索引来取到正确的信息</a:t>
            </a:r>
            <a:r>
              <a:rPr lang="en-US" altLang="zh-CN" sz="2400" dirty="0" smtClean="0"/>
              <a:t>. </a:t>
            </a:r>
            <a:r>
              <a:rPr lang="zh-CN" altLang="en-US" sz="2400" dirty="0" smtClean="0"/>
              <a:t>如上表头正是这样的索引</a:t>
            </a:r>
            <a:r>
              <a:rPr lang="en-US" altLang="zh-CN" sz="2400" dirty="0" smtClean="0"/>
              <a:t>.</a:t>
            </a:r>
          </a:p>
        </p:txBody>
      </p:sp>
      <p:sp>
        <p:nvSpPr>
          <p:cNvPr id="4" name="矩形 3"/>
          <p:cNvSpPr/>
          <p:nvPr/>
        </p:nvSpPr>
        <p:spPr>
          <a:xfrm>
            <a:off x="3952394" y="1412776"/>
            <a:ext cx="48965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表头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dirty="0" smtClean="0"/>
              <a:t>Out_3d_enable: 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3d</a:t>
            </a:r>
            <a:endParaRPr lang="en-US" altLang="zh-CN" dirty="0"/>
          </a:p>
          <a:p>
            <a:r>
              <a:rPr lang="en-US" altLang="zh-CN" dirty="0" err="1" smtClean="0"/>
              <a:t>Film_mode</a:t>
            </a:r>
            <a:r>
              <a:rPr lang="en-US" altLang="zh-CN" dirty="0" smtClean="0"/>
              <a:t>: 0:video</a:t>
            </a:r>
            <a:r>
              <a:rPr lang="en-US" altLang="zh-CN" dirty="0"/>
              <a:t>; 1:22; 2:32; </a:t>
            </a:r>
            <a:r>
              <a:rPr lang="en-US" altLang="zh-CN" dirty="0" smtClean="0"/>
              <a:t>3:others</a:t>
            </a:r>
          </a:p>
          <a:p>
            <a:r>
              <a:rPr lang="en-US" altLang="zh-CN" dirty="0" err="1" smtClean="0"/>
              <a:t>Out_phase</a:t>
            </a:r>
            <a:r>
              <a:rPr lang="en-US" altLang="zh-CN" dirty="0" smtClean="0"/>
              <a:t>: in/out</a:t>
            </a:r>
            <a:r>
              <a:rPr lang="zh-CN" altLang="en-US" dirty="0"/>
              <a:t> </a:t>
            </a:r>
            <a:r>
              <a:rPr lang="en-US" altLang="zh-CN" dirty="0" smtClean="0"/>
              <a:t>framerate</a:t>
            </a:r>
            <a:r>
              <a:rPr lang="zh-CN" altLang="en-US" dirty="0" smtClean="0"/>
              <a:t>的最简比的表示</a:t>
            </a:r>
            <a:endParaRPr lang="en-US" altLang="zh-CN" dirty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Film_phase</a:t>
            </a:r>
            <a:r>
              <a:rPr lang="en-US" altLang="zh-CN" dirty="0" smtClean="0"/>
              <a:t>: 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cadence</a:t>
            </a:r>
            <a:r>
              <a:rPr lang="zh-CN" altLang="en-US" dirty="0" smtClean="0"/>
              <a:t>周期内的表示</a:t>
            </a:r>
            <a:endParaRPr lang="en-US" altLang="zh-CN" dirty="0" smtClean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245056"/>
              </p:ext>
            </p:extLst>
          </p:nvPr>
        </p:nvGraphicFramePr>
        <p:xfrm>
          <a:off x="179512" y="1508770"/>
          <a:ext cx="370522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" name="Visio" r:id="rId3" imgW="3705208" imgH="1200395" progId="Visio.Drawing.11">
                  <p:embed/>
                </p:oleObj>
              </mc:Choice>
              <mc:Fallback>
                <p:oleObj name="Visio" r:id="rId3" imgW="3705208" imgH="1200395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1508770"/>
                        <a:ext cx="3705225" cy="120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066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什么是</a:t>
            </a:r>
            <a:r>
              <a:rPr lang="en-US" altLang="zh-CN" sz="3200" dirty="0"/>
              <a:t>phase table?-</a:t>
            </a:r>
            <a:r>
              <a:rPr lang="en-US" altLang="zh-CN" sz="3200" dirty="0" smtClean="0">
                <a:solidFill>
                  <a:srgbClr val="FF0000"/>
                </a:solidFill>
              </a:rPr>
              <a:t>Part3. </a:t>
            </a:r>
            <a:r>
              <a:rPr lang="zh-CN" altLang="en-US" sz="3200" dirty="0" smtClean="0">
                <a:solidFill>
                  <a:srgbClr val="FF0000"/>
                </a:solidFill>
              </a:rPr>
              <a:t>连续</a:t>
            </a:r>
            <a:r>
              <a:rPr lang="en-US" altLang="zh-CN" sz="3200" dirty="0" smtClean="0">
                <a:solidFill>
                  <a:srgbClr val="FF0000"/>
                </a:solidFill>
              </a:rPr>
              <a:t>12</a:t>
            </a:r>
            <a:r>
              <a:rPr lang="zh-CN" altLang="en-US" sz="3200" dirty="0" smtClean="0">
                <a:solidFill>
                  <a:srgbClr val="FF0000"/>
                </a:solidFill>
              </a:rPr>
              <a:t>帧</a:t>
            </a:r>
            <a:r>
              <a:rPr lang="en-US" altLang="zh-CN" sz="3200" dirty="0" err="1" smtClean="0">
                <a:solidFill>
                  <a:srgbClr val="FF0000"/>
                </a:solidFill>
              </a:rPr>
              <a:t>readback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3968" y="1600200"/>
            <a:ext cx="4402832" cy="4525963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读</a:t>
            </a:r>
            <a:r>
              <a:rPr lang="en-US" altLang="zh-CN" sz="2400" dirty="0"/>
              <a:t>register</a:t>
            </a:r>
            <a:r>
              <a:rPr lang="zh-CN" altLang="en-US" sz="2400" dirty="0"/>
              <a:t>时，先</a:t>
            </a:r>
            <a:r>
              <a:rPr lang="en-US" altLang="zh-CN" sz="2400" dirty="0"/>
              <a:t>toggle </a:t>
            </a:r>
            <a:r>
              <a:rPr lang="en-US" altLang="zh-CN" sz="2400" dirty="0" err="1" smtClean="0"/>
              <a:t>reg_kphase_meter_enable</a:t>
            </a:r>
            <a:r>
              <a:rPr lang="zh-CN" altLang="en-US" sz="2400" dirty="0"/>
              <a:t>：</a:t>
            </a:r>
            <a:r>
              <a:rPr lang="en-US" altLang="zh-CN" sz="2400" dirty="0"/>
              <a:t>1-&gt;0-&gt;1</a:t>
            </a:r>
          </a:p>
          <a:p>
            <a:r>
              <a:rPr lang="zh-CN" altLang="en-US" sz="2400" dirty="0" smtClean="0"/>
              <a:t>连续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帧</a:t>
            </a:r>
            <a:r>
              <a:rPr lang="en-US" altLang="zh-CN" sz="2400" dirty="0" smtClean="0"/>
              <a:t>phase table</a:t>
            </a:r>
            <a:r>
              <a:rPr lang="zh-CN" altLang="en-US" sz="2400" dirty="0" smtClean="0"/>
              <a:t>相关的</a:t>
            </a:r>
            <a:r>
              <a:rPr lang="en-US" altLang="zh-CN" sz="2400" dirty="0" smtClean="0"/>
              <a:t>status</a:t>
            </a:r>
          </a:p>
          <a:p>
            <a:r>
              <a:rPr lang="en-US" altLang="zh-CN" sz="2400" dirty="0" err="1" smtClean="0"/>
              <a:t>xxx_index</a:t>
            </a:r>
            <a:r>
              <a:rPr lang="zh-CN" altLang="en-US" sz="2400" dirty="0" smtClean="0"/>
              <a:t>都是绝对地址，如果有</a:t>
            </a:r>
            <a:r>
              <a:rPr lang="en-US" altLang="zh-CN" sz="2400" dirty="0" smtClean="0"/>
              <a:t>6</a:t>
            </a:r>
            <a:r>
              <a:rPr lang="zh-CN" altLang="en-US" sz="2400" dirty="0" smtClean="0"/>
              <a:t>块</a:t>
            </a:r>
            <a:r>
              <a:rPr lang="en-US" altLang="zh-CN" sz="2400" dirty="0" smtClean="0"/>
              <a:t>buffer</a:t>
            </a:r>
            <a:r>
              <a:rPr lang="zh-CN" altLang="en-US" sz="2400" dirty="0" smtClean="0"/>
              <a:t>，那这些</a:t>
            </a:r>
            <a:r>
              <a:rPr lang="en-US" altLang="zh-CN" sz="2400" dirty="0" smtClean="0"/>
              <a:t>index</a:t>
            </a:r>
            <a:r>
              <a:rPr lang="zh-CN" altLang="en-US" sz="2400" dirty="0" smtClean="0"/>
              <a:t>会在</a:t>
            </a:r>
            <a:r>
              <a:rPr lang="en-US" altLang="zh-CN" sz="2400" dirty="0" smtClean="0"/>
              <a:t>0-5</a:t>
            </a:r>
            <a:r>
              <a:rPr lang="zh-CN" altLang="en-US" sz="2400" dirty="0" smtClean="0"/>
              <a:t>变化</a:t>
            </a:r>
            <a:endParaRPr lang="zh-CN" alt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05" t="26481" r="30836"/>
          <a:stretch/>
        </p:blipFill>
        <p:spPr bwMode="auto">
          <a:xfrm>
            <a:off x="143674" y="1577703"/>
            <a:ext cx="3874840" cy="5280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15616" y="652534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(merlin2)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736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什么是</a:t>
            </a:r>
            <a:r>
              <a:rPr lang="en-US" altLang="zh-CN" sz="3600" dirty="0"/>
              <a:t>phase table?-</a:t>
            </a:r>
            <a:r>
              <a:rPr lang="en-US" altLang="zh-CN" sz="3600" dirty="0" smtClean="0">
                <a:solidFill>
                  <a:srgbClr val="FF0000"/>
                </a:solidFill>
              </a:rPr>
              <a:t>Part4. global 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readback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7744" y="1600200"/>
            <a:ext cx="6419056" cy="4525963"/>
          </a:xfrm>
        </p:spPr>
        <p:txBody>
          <a:bodyPr>
            <a:normAutofit/>
          </a:bodyPr>
          <a:lstStyle/>
          <a:p>
            <a:r>
              <a:rPr lang="en-US" altLang="zh-CN" sz="2800" dirty="0" err="1"/>
              <a:t>o</a:t>
            </a:r>
            <a:r>
              <a:rPr lang="en-US" altLang="zh-CN" sz="2800" dirty="0" err="1" smtClean="0"/>
              <a:t>ut_phase</a:t>
            </a:r>
            <a:r>
              <a:rPr lang="en-US" altLang="zh-CN" sz="2800" dirty="0" smtClean="0"/>
              <a:t>/</a:t>
            </a:r>
            <a:r>
              <a:rPr lang="en-US" altLang="zh-CN" sz="2800" dirty="0" err="1" smtClean="0"/>
              <a:t>out_film_phase</a:t>
            </a:r>
            <a:r>
              <a:rPr lang="en-US" altLang="zh-CN" sz="2800" dirty="0" smtClean="0"/>
              <a:t>/</a:t>
            </a:r>
            <a:r>
              <a:rPr lang="en-US" altLang="zh-CN" sz="2800" dirty="0" err="1" smtClean="0"/>
              <a:t>in_phase</a:t>
            </a:r>
            <a:r>
              <a:rPr lang="en-US" altLang="zh-CN" sz="2800" dirty="0" smtClean="0"/>
              <a:t>/</a:t>
            </a:r>
            <a:r>
              <a:rPr lang="en-US" altLang="zh-CN" sz="2800" dirty="0" err="1" smtClean="0"/>
              <a:t>in_film_phase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HW</a:t>
            </a:r>
            <a:r>
              <a:rPr lang="zh-CN" altLang="en-US" sz="2400" dirty="0" smtClean="0"/>
              <a:t>每个</a:t>
            </a:r>
            <a:r>
              <a:rPr lang="en-US" altLang="zh-CN" sz="2400" dirty="0" smtClean="0"/>
              <a:t>frame</a:t>
            </a:r>
            <a:r>
              <a:rPr lang="zh-CN" altLang="en-US" sz="2400" dirty="0" smtClean="0"/>
              <a:t>都会更新的</a:t>
            </a:r>
            <a:r>
              <a:rPr lang="en-US" altLang="zh-CN" sz="2400" dirty="0" smtClean="0"/>
              <a:t>register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Merlin/merlin2, 0x449c[31:0]</a:t>
            </a:r>
          </a:p>
          <a:p>
            <a:r>
              <a:rPr lang="en-US" altLang="zh-CN" sz="2800" dirty="0" err="1" smtClean="0">
                <a:solidFill>
                  <a:srgbClr val="FF0000"/>
                </a:solidFill>
              </a:rPr>
              <a:t>dec_no_match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 smtClean="0"/>
              <a:t>HW</a:t>
            </a:r>
            <a:r>
              <a:rPr lang="zh-CN" altLang="en-US" sz="2400" dirty="0" smtClean="0"/>
              <a:t>拿到表头信息到</a:t>
            </a:r>
            <a:r>
              <a:rPr lang="en-US" altLang="zh-CN" sz="2400" dirty="0" err="1" smtClean="0"/>
              <a:t>sram</a:t>
            </a:r>
            <a:r>
              <a:rPr lang="zh-CN" altLang="en-US" sz="2400" dirty="0" smtClean="0"/>
              <a:t>里查表的</a:t>
            </a:r>
            <a:r>
              <a:rPr lang="en-US" altLang="zh-CN" sz="2400" dirty="0" smtClean="0"/>
              <a:t>status</a:t>
            </a:r>
            <a:endParaRPr lang="en-US" altLang="zh-CN" sz="2400" dirty="0"/>
          </a:p>
          <a:p>
            <a:pPr lvl="1"/>
            <a:r>
              <a:rPr lang="en-US" altLang="zh-CN" sz="2400" dirty="0" smtClean="0"/>
              <a:t>1: </a:t>
            </a:r>
            <a:r>
              <a:rPr lang="en-US" altLang="zh-CN" sz="2400" dirty="0" err="1" smtClean="0"/>
              <a:t>sram</a:t>
            </a:r>
            <a:r>
              <a:rPr lang="zh-CN" altLang="en-US" sz="2400" dirty="0" smtClean="0"/>
              <a:t>里没有该表头信息；</a:t>
            </a:r>
            <a:r>
              <a:rPr lang="en-US" altLang="zh-CN" sz="2400" dirty="0" smtClean="0"/>
              <a:t>0:</a:t>
            </a:r>
            <a:r>
              <a:rPr lang="zh-CN" altLang="en-US" sz="2400" dirty="0" smtClean="0"/>
              <a:t>有查到</a:t>
            </a:r>
            <a:endParaRPr lang="en-US" altLang="zh-CN" sz="2400" dirty="0" smtClean="0"/>
          </a:p>
          <a:p>
            <a:r>
              <a:rPr lang="en-US" altLang="zh-CN" dirty="0" err="1"/>
              <a:t>i</a:t>
            </a:r>
            <a:r>
              <a:rPr lang="en-US" altLang="zh-CN" dirty="0" err="1" smtClean="0"/>
              <a:t>n_lr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3D</a:t>
            </a:r>
            <a:r>
              <a:rPr lang="zh-CN" altLang="en-US" dirty="0" smtClean="0"/>
              <a:t>时指示是否是</a:t>
            </a:r>
            <a:r>
              <a:rPr lang="en-US" altLang="zh-CN" dirty="0" smtClean="0"/>
              <a:t>L frame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99" t="26798" b="11824"/>
          <a:stretch/>
        </p:blipFill>
        <p:spPr bwMode="auto">
          <a:xfrm>
            <a:off x="333472" y="1484784"/>
            <a:ext cx="1643578" cy="516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535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 smtClean="0"/>
              <a:t>何时需要</a:t>
            </a:r>
            <a:r>
              <a:rPr lang="en-US" altLang="zh-CN" sz="3600" dirty="0" smtClean="0"/>
              <a:t>phase table generate?</a:t>
            </a:r>
            <a:endParaRPr lang="zh-CN" altLang="en-US" sz="36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164848"/>
              </p:ext>
            </p:extLst>
          </p:nvPr>
        </p:nvGraphicFramePr>
        <p:xfrm>
          <a:off x="251519" y="1628800"/>
          <a:ext cx="8905549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8" name="Visio" r:id="rId3" imgW="6633527" imgH="3326122" progId="Visio.Drawing.11">
                  <p:embed/>
                </p:oleObj>
              </mc:Choice>
              <mc:Fallback>
                <p:oleObj name="Visio" r:id="rId3" imgW="6633527" imgH="332612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19" y="1628800"/>
                        <a:ext cx="8905549" cy="4464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857037"/>
              </p:ext>
            </p:extLst>
          </p:nvPr>
        </p:nvGraphicFramePr>
        <p:xfrm>
          <a:off x="251520" y="1628800"/>
          <a:ext cx="8892480" cy="4809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9" name="Visio" r:id="rId5" imgW="6633527" imgH="3587957" progId="Visio.Drawing.11">
                  <p:embed/>
                </p:oleObj>
              </mc:Choice>
              <mc:Fallback>
                <p:oleObj name="Visio" r:id="rId5" imgW="6633527" imgH="3587957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628800"/>
                        <a:ext cx="8892480" cy="4809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293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何时需要</a:t>
            </a:r>
            <a:r>
              <a:rPr lang="en-US" altLang="zh-CN" sz="3600" dirty="0" smtClean="0"/>
              <a:t>phase table generate?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最核心的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N2M</a:t>
            </a:r>
            <a:r>
              <a:rPr lang="zh-CN" altLang="en-US" dirty="0"/>
              <a:t> </a:t>
            </a:r>
            <a:r>
              <a:rPr lang="en-US" altLang="zh-CN" dirty="0" smtClean="0"/>
              <a:t>change</a:t>
            </a:r>
          </a:p>
          <a:p>
            <a:pPr lvl="1"/>
            <a:r>
              <a:rPr lang="en-US" altLang="zh-CN" dirty="0" smtClean="0"/>
              <a:t>Cadence change</a:t>
            </a:r>
          </a:p>
          <a:p>
            <a:r>
              <a:rPr lang="zh-CN" altLang="en-US" dirty="0" smtClean="0"/>
              <a:t>其他：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System demand</a:t>
            </a:r>
          </a:p>
          <a:p>
            <a:pPr lvl="1"/>
            <a:endParaRPr lang="en-US" altLang="zh-CN" dirty="0" smtClean="0"/>
          </a:p>
          <a:p>
            <a:r>
              <a:rPr lang="en-US" altLang="zh-CN" dirty="0" err="1" smtClean="0"/>
              <a:t>inTable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Cadence</a:t>
            </a:r>
            <a:r>
              <a:rPr lang="zh-CN" altLang="en-US" dirty="0" smtClean="0"/>
              <a:t>，最关心</a:t>
            </a:r>
            <a:r>
              <a:rPr lang="en-US" altLang="zh-CN" dirty="0" smtClean="0"/>
              <a:t>input frame</a:t>
            </a:r>
            <a:r>
              <a:rPr lang="zh-CN" altLang="en-US" dirty="0" smtClean="0"/>
              <a:t>有重复帧时要怎么写进</a:t>
            </a:r>
            <a:r>
              <a:rPr lang="en-US" altLang="zh-CN" dirty="0" smtClean="0"/>
              <a:t>buffer</a:t>
            </a:r>
          </a:p>
          <a:p>
            <a:r>
              <a:rPr lang="en-US" altLang="zh-CN" dirty="0" err="1" smtClean="0"/>
              <a:t>outTable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N2M</a:t>
            </a:r>
          </a:p>
          <a:p>
            <a:pPr lvl="1"/>
            <a:r>
              <a:rPr lang="en-US" altLang="zh-CN" dirty="0" smtClean="0"/>
              <a:t>Cadence</a:t>
            </a:r>
            <a:r>
              <a:rPr lang="zh-CN" altLang="en-US" dirty="0" smtClean="0"/>
              <a:t>，需要弄清楚哪两张做</a:t>
            </a:r>
            <a:r>
              <a:rPr lang="en-US" altLang="zh-CN" dirty="0" err="1" smtClean="0"/>
              <a:t>memc</a:t>
            </a:r>
            <a:r>
              <a:rPr lang="zh-CN" altLang="en-US" dirty="0" smtClean="0"/>
              <a:t>，所以跟这两者都有关系</a:t>
            </a:r>
            <a:endParaRPr lang="en-US" altLang="zh-CN" dirty="0" smtClean="0"/>
          </a:p>
          <a:p>
            <a:r>
              <a:rPr lang="en-US" altLang="zh-CN" dirty="0" err="1" smtClean="0"/>
              <a:t>filmPh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Cadence</a:t>
            </a:r>
            <a:r>
              <a:rPr lang="zh-CN" altLang="en-US" dirty="0" smtClean="0"/>
              <a:t>，表头</a:t>
            </a:r>
            <a:r>
              <a:rPr lang="en-US" altLang="zh-CN" dirty="0" err="1" smtClean="0"/>
              <a:t>film_mode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film_phase</a:t>
            </a:r>
            <a:r>
              <a:rPr lang="zh-CN" altLang="en-US" dirty="0" smtClean="0"/>
              <a:t>都跟此有关</a:t>
            </a:r>
          </a:p>
        </p:txBody>
      </p:sp>
    </p:spTree>
    <p:extLst>
      <p:ext uri="{BB962C8B-B14F-4D97-AF65-F5344CB8AC3E}">
        <p14:creationId xmlns:p14="http://schemas.microsoft.com/office/powerpoint/2010/main" val="209954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怎样实现</a:t>
            </a:r>
            <a:r>
              <a:rPr lang="en-US" altLang="zh-CN" sz="2800" dirty="0" smtClean="0"/>
              <a:t>phase table generate? – 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inTable</a:t>
            </a:r>
            <a:r>
              <a:rPr lang="en-US" altLang="zh-CN" sz="2800" dirty="0" smtClean="0">
                <a:solidFill>
                  <a:srgbClr val="FF0000"/>
                </a:solidFill>
              </a:rPr>
              <a:t>(merlin2)</a:t>
            </a:r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601826"/>
              </p:ext>
            </p:extLst>
          </p:nvPr>
        </p:nvGraphicFramePr>
        <p:xfrm>
          <a:off x="107504" y="1556792"/>
          <a:ext cx="279082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4" name="工作表" r:id="rId4" imgW="2790919" imgH="1990760" progId="Excel.Sheet.12">
                  <p:embed/>
                </p:oleObj>
              </mc:Choice>
              <mc:Fallback>
                <p:oleObj name="工作表" r:id="rId4" imgW="2790919" imgH="19907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504" y="1556792"/>
                        <a:ext cx="2790825" cy="199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223176"/>
              </p:ext>
            </p:extLst>
          </p:nvPr>
        </p:nvGraphicFramePr>
        <p:xfrm>
          <a:off x="3176588" y="1566863"/>
          <a:ext cx="2790825" cy="372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5" name="工作表" r:id="rId7" imgW="2790919" imgH="3724274" progId="Excel.Sheet.12">
                  <p:embed/>
                </p:oleObj>
              </mc:Choice>
              <mc:Fallback>
                <p:oleObj name="工作表" r:id="rId7" imgW="2790919" imgH="372427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6588" y="1566863"/>
                        <a:ext cx="2790825" cy="372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493241"/>
              </p:ext>
            </p:extLst>
          </p:nvPr>
        </p:nvGraphicFramePr>
        <p:xfrm>
          <a:off x="6245671" y="1566863"/>
          <a:ext cx="2790825" cy="372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6" name="工作表" r:id="rId10" imgW="2790919" imgH="3724274" progId="Excel.Sheet.12">
                  <p:embed/>
                </p:oleObj>
              </mc:Choice>
              <mc:Fallback>
                <p:oleObj name="工作表" r:id="rId10" imgW="2790919" imgH="372427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45671" y="1566863"/>
                        <a:ext cx="2790825" cy="372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矩形 54"/>
          <p:cNvSpPr/>
          <p:nvPr/>
        </p:nvSpPr>
        <p:spPr>
          <a:xfrm>
            <a:off x="2012443" y="2060848"/>
            <a:ext cx="327309" cy="1584176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532723" y="2060848"/>
            <a:ext cx="327309" cy="3312368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7884368" y="2060848"/>
            <a:ext cx="360040" cy="3312368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6228184" y="5805264"/>
            <a:ext cx="27254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i="1" u="sng" dirty="0" smtClean="0"/>
              <a:t>me1, max repeat frame = </a:t>
            </a:r>
            <a:r>
              <a:rPr lang="en-US" altLang="zh-CN" b="1" i="1" u="sng" dirty="0" smtClean="0">
                <a:solidFill>
                  <a:srgbClr val="FF0000"/>
                </a:solidFill>
              </a:rPr>
              <a:t>2</a:t>
            </a:r>
          </a:p>
          <a:p>
            <a:pPr algn="r"/>
            <a:r>
              <a:rPr lang="en-US" altLang="zh-CN" i="1" u="sng" dirty="0" smtClean="0"/>
              <a:t>me2, max repeat frame = </a:t>
            </a:r>
            <a:r>
              <a:rPr lang="en-US" altLang="zh-CN" b="1" i="1" u="sng" dirty="0" smtClean="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altLang="zh-CN" i="1" u="sng" dirty="0" smtClean="0"/>
              <a:t>mc </a:t>
            </a:r>
            <a:r>
              <a:rPr lang="en-US" altLang="zh-CN" i="1" u="sng" dirty="0" err="1" smtClean="0"/>
              <a:t>wrt</a:t>
            </a:r>
            <a:r>
              <a:rPr lang="en-US" altLang="zh-CN" i="1" u="sng" dirty="0" smtClean="0"/>
              <a:t> follow me2</a:t>
            </a:r>
            <a:endParaRPr lang="zh-CN" altLang="en-US" i="1" u="sng" dirty="0"/>
          </a:p>
        </p:txBody>
      </p:sp>
    </p:spTree>
    <p:extLst>
      <p:ext uri="{BB962C8B-B14F-4D97-AF65-F5344CB8AC3E}">
        <p14:creationId xmlns:p14="http://schemas.microsoft.com/office/powerpoint/2010/main" val="258854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 dirty="0" smtClean="0"/>
              <a:t>怎样实现</a:t>
            </a:r>
            <a:r>
              <a:rPr lang="en-US" altLang="zh-CN" sz="2800" dirty="0" smtClean="0"/>
              <a:t>phase table generate? – 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inTable</a:t>
            </a:r>
            <a:r>
              <a:rPr lang="en-US" altLang="zh-CN" sz="2800" dirty="0" smtClean="0">
                <a:solidFill>
                  <a:srgbClr val="FF0000"/>
                </a:solidFill>
              </a:rPr>
              <a:t>(merlin)</a:t>
            </a:r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6345204" y="5805264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i="1" u="sng" dirty="0" smtClean="0"/>
              <a:t>me, max repeat frame = </a:t>
            </a:r>
            <a:r>
              <a:rPr lang="en-US" altLang="zh-CN" b="1" i="1" u="sng" dirty="0" smtClean="0">
                <a:solidFill>
                  <a:srgbClr val="FF0000"/>
                </a:solidFill>
              </a:rPr>
              <a:t>3</a:t>
            </a:r>
          </a:p>
          <a:p>
            <a:pPr algn="r"/>
            <a:r>
              <a:rPr lang="en-US" altLang="zh-CN" i="1" u="sng" dirty="0" smtClean="0"/>
              <a:t>mc </a:t>
            </a:r>
            <a:r>
              <a:rPr lang="en-US" altLang="zh-CN" i="1" u="sng" dirty="0" err="1" smtClean="0"/>
              <a:t>wrt</a:t>
            </a:r>
            <a:r>
              <a:rPr lang="en-US" altLang="zh-CN" i="1" u="sng" dirty="0" smtClean="0"/>
              <a:t> follow me2</a:t>
            </a:r>
            <a:endParaRPr lang="zh-CN" altLang="en-US" i="1" u="sng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576888"/>
              </p:ext>
            </p:extLst>
          </p:nvPr>
        </p:nvGraphicFramePr>
        <p:xfrm>
          <a:off x="179512" y="1484784"/>
          <a:ext cx="286702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" name="工作表" r:id="rId4" imgW="2867042" imgH="1990760" progId="Excel.Sheet.12">
                  <p:embed/>
                </p:oleObj>
              </mc:Choice>
              <mc:Fallback>
                <p:oleObj name="工作表" r:id="rId4" imgW="2867042" imgH="19907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512" y="1484784"/>
                        <a:ext cx="2867025" cy="199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84216"/>
              </p:ext>
            </p:extLst>
          </p:nvPr>
        </p:nvGraphicFramePr>
        <p:xfrm>
          <a:off x="3203848" y="1484784"/>
          <a:ext cx="286702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5" name="工作表" r:id="rId7" imgW="2867042" imgH="1990760" progId="Excel.Sheet.12">
                  <p:embed/>
                </p:oleObj>
              </mc:Choice>
              <mc:Fallback>
                <p:oleObj name="工作表" r:id="rId7" imgW="2867042" imgH="19907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3848" y="1484784"/>
                        <a:ext cx="2867025" cy="199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89869"/>
              </p:ext>
            </p:extLst>
          </p:nvPr>
        </p:nvGraphicFramePr>
        <p:xfrm>
          <a:off x="179512" y="3933056"/>
          <a:ext cx="341947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6" name="工作表" r:id="rId9" imgW="3419341" imgH="1990760" progId="Excel.Sheet.12">
                  <p:embed/>
                </p:oleObj>
              </mc:Choice>
              <mc:Fallback>
                <p:oleObj name="工作表" r:id="rId9" imgW="3419341" imgH="19907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9512" y="3933056"/>
                        <a:ext cx="3419475" cy="199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750795"/>
              </p:ext>
            </p:extLst>
          </p:nvPr>
        </p:nvGraphicFramePr>
        <p:xfrm>
          <a:off x="6204967" y="1510283"/>
          <a:ext cx="286702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7" name="工作表" r:id="rId12" imgW="2867042" imgH="1990760" progId="Excel.Sheet.12">
                  <p:embed/>
                </p:oleObj>
              </mc:Choice>
              <mc:Fallback>
                <p:oleObj name="工作表" r:id="rId12" imgW="2867042" imgH="19907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04967" y="1510283"/>
                        <a:ext cx="2867025" cy="199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195736" y="1988840"/>
            <a:ext cx="327309" cy="1584176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644008" y="1988840"/>
            <a:ext cx="327309" cy="1584176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917099" y="1988840"/>
            <a:ext cx="327309" cy="1584176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275856" y="4365104"/>
            <a:ext cx="327309" cy="1584176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195736" y="4365104"/>
            <a:ext cx="327309" cy="1584176"/>
          </a:xfrm>
          <a:prstGeom prst="rect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156176" y="3573016"/>
            <a:ext cx="3027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32</a:t>
            </a:r>
            <a:r>
              <a:rPr lang="zh-CN" altLang="en-US" sz="1400" dirty="0" smtClean="0"/>
              <a:t>，硬件原因只能存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张</a:t>
            </a:r>
            <a:r>
              <a:rPr lang="en-US" altLang="zh-CN" sz="1400" dirty="0" smtClean="0"/>
              <a:t>repeat frame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635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08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 smtClean="0"/>
              <a:t>怎样实现</a:t>
            </a:r>
            <a:r>
              <a:rPr lang="en-US" altLang="zh-CN" sz="2400" dirty="0" smtClean="0"/>
              <a:t>phase table </a:t>
            </a:r>
            <a:br>
              <a:rPr lang="en-US" altLang="zh-CN" sz="2400" dirty="0" smtClean="0"/>
            </a:br>
            <a:r>
              <a:rPr lang="en-US" altLang="zh-CN" sz="2400" dirty="0" smtClean="0"/>
              <a:t>generate? – </a:t>
            </a:r>
            <a:r>
              <a:rPr lang="en-US" altLang="zh-CN" sz="2400" dirty="0" err="1">
                <a:solidFill>
                  <a:srgbClr val="FF0000"/>
                </a:solidFill>
              </a:rPr>
              <a:t>out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Table</a:t>
            </a:r>
            <a:r>
              <a:rPr lang="en-US" altLang="zh-CN" sz="2400" dirty="0" smtClean="0">
                <a:solidFill>
                  <a:srgbClr val="FF0000"/>
                </a:solidFill>
              </a:rPr>
              <a:t>(merlin2)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942565"/>
              </p:ext>
            </p:extLst>
          </p:nvPr>
        </p:nvGraphicFramePr>
        <p:xfrm>
          <a:off x="164926" y="1556792"/>
          <a:ext cx="389572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1" name="工作表" r:id="rId4" imgW="3895787" imgH="1495432" progId="Excel.Sheet.12">
                  <p:embed/>
                </p:oleObj>
              </mc:Choice>
              <mc:Fallback>
                <p:oleObj name="工作表" r:id="rId4" imgW="3895787" imgH="14954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4926" y="1556792"/>
                        <a:ext cx="3895725" cy="149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36751"/>
              </p:ext>
            </p:extLst>
          </p:nvPr>
        </p:nvGraphicFramePr>
        <p:xfrm>
          <a:off x="4996755" y="572219"/>
          <a:ext cx="3895725" cy="595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2" name="工作表" r:id="rId7" imgW="3895787" imgH="5953115" progId="Excel.Sheet.12">
                  <p:embed/>
                </p:oleObj>
              </mc:Choice>
              <mc:Fallback>
                <p:oleObj name="工作表" r:id="rId7" imgW="3895787" imgH="59531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6755" y="572219"/>
                        <a:ext cx="3895725" cy="595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788024" y="1268760"/>
            <a:ext cx="43204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7504" y="2780928"/>
            <a:ext cx="40324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153474"/>
              </p:ext>
            </p:extLst>
          </p:nvPr>
        </p:nvGraphicFramePr>
        <p:xfrm>
          <a:off x="-108520" y="3501008"/>
          <a:ext cx="4860233" cy="2363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3" name="Visio" r:id="rId9" imgW="4844629" imgH="2252596" progId="Visio.Drawing.11">
                  <p:embed/>
                </p:oleObj>
              </mc:Choice>
              <mc:Fallback>
                <p:oleObj name="Visio" r:id="rId9" imgW="4844629" imgH="2252596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-108520" y="3501008"/>
                        <a:ext cx="4860233" cy="2363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7504" y="6228601"/>
            <a:ext cx="468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1. output</a:t>
            </a:r>
            <a:r>
              <a:rPr lang="zh-CN" altLang="en-US" sz="1600" dirty="0" smtClean="0"/>
              <a:t>等分模式，</a:t>
            </a:r>
            <a:r>
              <a:rPr lang="en-US" altLang="zh-CN" sz="1600" dirty="0" smtClean="0"/>
              <a:t>AB</a:t>
            </a:r>
            <a:r>
              <a:rPr lang="zh-CN" altLang="en-US" sz="1600" dirty="0" smtClean="0"/>
              <a:t>间归一化成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ME</a:t>
            </a:r>
            <a:r>
              <a:rPr lang="zh-CN" altLang="en-US" sz="1600" dirty="0" smtClean="0"/>
              <a:t>精度为</a:t>
            </a:r>
            <a:r>
              <a:rPr lang="en-US" altLang="zh-CN" sz="1600" dirty="0" smtClean="0"/>
              <a:t>6bits</a:t>
            </a:r>
            <a:r>
              <a:rPr lang="zh-CN" altLang="en-US" sz="1600" dirty="0" smtClean="0"/>
              <a:t>，取</a:t>
            </a:r>
            <a:r>
              <a:rPr lang="en-US" altLang="zh-CN" sz="1600" dirty="0" err="1" smtClean="0"/>
              <a:t>max_phase</a:t>
            </a:r>
            <a:r>
              <a:rPr lang="en-US" altLang="zh-CN" sz="1600" dirty="0" smtClean="0"/>
              <a:t>=64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725" y="578291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0</a:t>
            </a:r>
            <a:endParaRPr lang="zh-CN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834411" y="578201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2/5</a:t>
            </a:r>
            <a:endParaRPr lang="zh-CN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1187624" y="579597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4/5</a:t>
            </a:r>
            <a:endParaRPr lang="zh-CN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1547664" y="579597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1/5</a:t>
            </a:r>
            <a:endParaRPr lang="zh-CN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903287" y="5805264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3/5</a:t>
            </a:r>
            <a:endParaRPr lang="zh-CN" alt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2339752" y="579597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0</a:t>
            </a:r>
            <a:endParaRPr lang="zh-CN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2627784" y="5805264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2/5</a:t>
            </a:r>
            <a:endParaRPr lang="zh-CN" alt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2997061" y="5805264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4/5</a:t>
            </a:r>
            <a:endParaRPr lang="zh-CN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3347864" y="5786680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1/5</a:t>
            </a:r>
            <a:endParaRPr lang="zh-CN" alt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3703487" y="579597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3/5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1374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08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 smtClean="0"/>
              <a:t>怎样实现</a:t>
            </a:r>
            <a:r>
              <a:rPr lang="en-US" altLang="zh-CN" sz="2400" dirty="0" smtClean="0"/>
              <a:t>phase table </a:t>
            </a:r>
            <a:br>
              <a:rPr lang="en-US" altLang="zh-CN" sz="2400" dirty="0" smtClean="0"/>
            </a:br>
            <a:r>
              <a:rPr lang="en-US" altLang="zh-CN" sz="2400" dirty="0" smtClean="0"/>
              <a:t>generate? – </a:t>
            </a:r>
            <a:r>
              <a:rPr lang="en-US" altLang="zh-CN" sz="2400" dirty="0" err="1">
                <a:solidFill>
                  <a:srgbClr val="FF0000"/>
                </a:solidFill>
              </a:rPr>
              <a:t>out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Table</a:t>
            </a:r>
            <a:r>
              <a:rPr lang="en-US" altLang="zh-CN" sz="2400" dirty="0" smtClean="0">
                <a:solidFill>
                  <a:srgbClr val="FF0000"/>
                </a:solidFill>
              </a:rPr>
              <a:t>(merlin2)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317134"/>
              </p:ext>
            </p:extLst>
          </p:nvPr>
        </p:nvGraphicFramePr>
        <p:xfrm>
          <a:off x="164926" y="1556792"/>
          <a:ext cx="389572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1" name="工作表" r:id="rId4" imgW="3895787" imgH="1495432" progId="Excel.Sheet.12">
                  <p:embed/>
                </p:oleObj>
              </mc:Choice>
              <mc:Fallback>
                <p:oleObj name="工作表" r:id="rId4" imgW="3895787" imgH="14954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4926" y="1556792"/>
                        <a:ext cx="3895725" cy="149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07737"/>
              </p:ext>
            </p:extLst>
          </p:nvPr>
        </p:nvGraphicFramePr>
        <p:xfrm>
          <a:off x="4996755" y="572219"/>
          <a:ext cx="3895725" cy="595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2" name="工作表" r:id="rId7" imgW="3895787" imgH="5953115" progId="Excel.Sheet.12">
                  <p:embed/>
                </p:oleObj>
              </mc:Choice>
              <mc:Fallback>
                <p:oleObj name="工作表" r:id="rId7" imgW="3895787" imgH="59531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6755" y="572219"/>
                        <a:ext cx="3895725" cy="595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1520" y="3861048"/>
            <a:ext cx="3523272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Step.1 N2M, Cadence, me2_phase</a:t>
            </a:r>
          </a:p>
          <a:p>
            <a:r>
              <a:rPr lang="en-US" altLang="zh-CN" dirty="0" smtClean="0"/>
              <a:t>Step.2 Write frame rule.(</a:t>
            </a:r>
            <a:r>
              <a:rPr lang="zh-CN" altLang="en-US" dirty="0" smtClean="0">
                <a:solidFill>
                  <a:srgbClr val="FF0000"/>
                </a:solidFill>
              </a:rPr>
              <a:t>红字</a:t>
            </a:r>
            <a:r>
              <a:rPr lang="en-US" altLang="zh-CN" dirty="0" smtClean="0">
                <a:solidFill>
                  <a:srgbClr val="FF0000"/>
                </a:solidFill>
              </a:rPr>
              <a:t>mark</a:t>
            </a:r>
            <a:r>
              <a:rPr lang="en-US" altLang="zh-C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719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08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 smtClean="0"/>
              <a:t>怎样实现</a:t>
            </a:r>
            <a:r>
              <a:rPr lang="en-US" altLang="zh-CN" sz="2400" dirty="0" smtClean="0"/>
              <a:t>phase table </a:t>
            </a:r>
            <a:br>
              <a:rPr lang="en-US" altLang="zh-CN" sz="2400" dirty="0" smtClean="0"/>
            </a:br>
            <a:r>
              <a:rPr lang="en-US" altLang="zh-CN" sz="2400" dirty="0" smtClean="0"/>
              <a:t>generate? – </a:t>
            </a:r>
            <a:r>
              <a:rPr lang="en-US" altLang="zh-CN" sz="2400" dirty="0" err="1">
                <a:solidFill>
                  <a:srgbClr val="FF0000"/>
                </a:solidFill>
              </a:rPr>
              <a:t>out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Table</a:t>
            </a:r>
            <a:r>
              <a:rPr lang="en-US" altLang="zh-CN" sz="2400" dirty="0" smtClean="0">
                <a:solidFill>
                  <a:srgbClr val="FF0000"/>
                </a:solidFill>
              </a:rPr>
              <a:t>(merlin2)</a:t>
            </a:r>
            <a:endParaRPr lang="zh-CN" altLang="en-US" sz="24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433688"/>
              </p:ext>
            </p:extLst>
          </p:nvPr>
        </p:nvGraphicFramePr>
        <p:xfrm>
          <a:off x="4996755" y="572219"/>
          <a:ext cx="3895725" cy="595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9" name="工作表" r:id="rId4" imgW="3895787" imgH="5953115" progId="Excel.Sheet.12">
                  <p:embed/>
                </p:oleObj>
              </mc:Choice>
              <mc:Fallback>
                <p:oleObj name="工作表" r:id="rId4" imgW="3895787" imgH="59531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96755" y="572219"/>
                        <a:ext cx="3895725" cy="595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9512" y="1430774"/>
            <a:ext cx="4093054" cy="28623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Step.3 I/P frames choose.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(</a:t>
            </a:r>
            <a:r>
              <a:rPr lang="en-US" altLang="zh-CN" dirty="0" smtClean="0">
                <a:solidFill>
                  <a:srgbClr val="0070C0"/>
                </a:solidFill>
              </a:rPr>
              <a:t>I:</a:t>
            </a:r>
            <a:r>
              <a:rPr lang="zh-CN" altLang="en-US" dirty="0" smtClean="0">
                <a:solidFill>
                  <a:srgbClr val="0070C0"/>
                </a:solidFill>
              </a:rPr>
              <a:t>蓝底</a:t>
            </a:r>
            <a:r>
              <a:rPr lang="en-US" altLang="zh-CN" dirty="0" smtClean="0">
                <a:solidFill>
                  <a:srgbClr val="0070C0"/>
                </a:solidFill>
              </a:rPr>
              <a:t>mark</a:t>
            </a:r>
            <a:r>
              <a:rPr lang="zh-CN" altLang="en-US" dirty="0" smtClean="0"/>
              <a:t>；</a:t>
            </a:r>
            <a:r>
              <a:rPr lang="en-US" altLang="zh-CN" dirty="0" smtClean="0">
                <a:solidFill>
                  <a:srgbClr val="FFFF00"/>
                </a:solidFill>
              </a:rPr>
              <a:t>P:</a:t>
            </a:r>
            <a:r>
              <a:rPr lang="zh-CN" altLang="en-US" dirty="0" smtClean="0">
                <a:solidFill>
                  <a:srgbClr val="FFFF00"/>
                </a:solidFill>
              </a:rPr>
              <a:t>黄底</a:t>
            </a:r>
            <a:r>
              <a:rPr lang="en-US" altLang="zh-CN" dirty="0" smtClean="0">
                <a:solidFill>
                  <a:srgbClr val="FFFF00"/>
                </a:solidFill>
              </a:rPr>
              <a:t>mark</a:t>
            </a:r>
            <a:r>
              <a:rPr lang="en-US" altLang="zh-CN" dirty="0" smtClean="0"/>
              <a:t>)</a:t>
            </a:r>
          </a:p>
          <a:p>
            <a:endParaRPr lang="en-US" altLang="zh-CN" dirty="0"/>
          </a:p>
          <a:p>
            <a:r>
              <a:rPr lang="en-US" altLang="zh-CN" dirty="0" smtClean="0">
                <a:solidFill>
                  <a:srgbClr val="C00000"/>
                </a:solidFill>
              </a:rPr>
              <a:t>Rules:</a:t>
            </a:r>
          </a:p>
          <a:p>
            <a:pPr marL="342900" indent="-342900">
              <a:buAutoNum type="alphaLcPeriod"/>
            </a:pPr>
            <a:r>
              <a:rPr lang="en-US" altLang="zh-CN" dirty="0" smtClean="0">
                <a:solidFill>
                  <a:srgbClr val="C00000"/>
                </a:solidFill>
              </a:rPr>
              <a:t>P</a:t>
            </a:r>
            <a:r>
              <a:rPr lang="zh-CN" altLang="en-US" dirty="0" smtClean="0">
                <a:solidFill>
                  <a:srgbClr val="C00000"/>
                </a:solidFill>
              </a:rPr>
              <a:t>尽量拿最靠近</a:t>
            </a:r>
            <a:r>
              <a:rPr lang="en-US" altLang="zh-CN" dirty="0" err="1" smtClean="0">
                <a:solidFill>
                  <a:srgbClr val="C00000"/>
                </a:solidFill>
              </a:rPr>
              <a:t>Wrt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en-US" altLang="zh-CN" dirty="0" smtClean="0">
                <a:solidFill>
                  <a:srgbClr val="C00000"/>
                </a:solidFill>
              </a:rPr>
              <a:t>frame</a:t>
            </a:r>
            <a:r>
              <a:rPr lang="zh-CN" altLang="en-US" dirty="0" smtClean="0">
                <a:solidFill>
                  <a:srgbClr val="C00000"/>
                </a:solidFill>
              </a:rPr>
              <a:t>；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AutoNum type="alphaLcPeriod"/>
            </a:pPr>
            <a:r>
              <a:rPr lang="en-US" altLang="zh-CN" dirty="0" smtClean="0">
                <a:solidFill>
                  <a:srgbClr val="C00000"/>
                </a:solidFill>
              </a:rPr>
              <a:t>I</a:t>
            </a:r>
            <a:r>
              <a:rPr lang="zh-CN" altLang="en-US" dirty="0" smtClean="0">
                <a:solidFill>
                  <a:srgbClr val="C00000"/>
                </a:solidFill>
              </a:rPr>
              <a:t>从</a:t>
            </a:r>
            <a:r>
              <a:rPr lang="en-US" altLang="zh-CN" dirty="0" smtClean="0">
                <a:solidFill>
                  <a:srgbClr val="C00000"/>
                </a:solidFill>
              </a:rPr>
              <a:t>P</a:t>
            </a:r>
            <a:r>
              <a:rPr lang="zh-CN" altLang="en-US" dirty="0" smtClean="0">
                <a:solidFill>
                  <a:srgbClr val="C00000"/>
                </a:solidFill>
              </a:rPr>
              <a:t>往前推一张；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AutoNum type="alphaLcPeriod"/>
            </a:pPr>
            <a:r>
              <a:rPr lang="zh-CN" altLang="en-US" dirty="0" smtClean="0">
                <a:solidFill>
                  <a:srgbClr val="C00000"/>
                </a:solidFill>
              </a:rPr>
              <a:t>整个周期内，不会出现</a:t>
            </a:r>
            <a:r>
              <a:rPr lang="en-US" altLang="zh-CN" dirty="0" smtClean="0">
                <a:solidFill>
                  <a:srgbClr val="C00000"/>
                </a:solidFill>
              </a:rPr>
              <a:t>R/W</a:t>
            </a:r>
            <a:r>
              <a:rPr lang="zh-CN" altLang="en-US" dirty="0" smtClean="0">
                <a:solidFill>
                  <a:srgbClr val="C00000"/>
                </a:solidFill>
              </a:rPr>
              <a:t>相撞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AutoNum type="alphaLcPeriod"/>
            </a:pPr>
            <a:r>
              <a:rPr lang="zh-CN" altLang="en-US" dirty="0" smtClean="0">
                <a:solidFill>
                  <a:srgbClr val="C00000"/>
                </a:solidFill>
              </a:rPr>
              <a:t>尽量不出现</a:t>
            </a:r>
            <a:r>
              <a:rPr lang="en-US" altLang="zh-CN" dirty="0" smtClean="0">
                <a:solidFill>
                  <a:srgbClr val="C00000"/>
                </a:solidFill>
              </a:rPr>
              <a:t>I/</a:t>
            </a:r>
            <a:r>
              <a:rPr lang="en-US" altLang="zh-CN" dirty="0" err="1" smtClean="0">
                <a:solidFill>
                  <a:srgbClr val="C00000"/>
                </a:solidFill>
              </a:rPr>
              <a:t>P_offset</a:t>
            </a:r>
            <a:r>
              <a:rPr lang="zh-CN" altLang="en-US" dirty="0" smtClean="0">
                <a:solidFill>
                  <a:srgbClr val="C00000"/>
                </a:solidFill>
              </a:rPr>
              <a:t>为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</a:p>
          <a:p>
            <a:pPr marL="342900" indent="-342900">
              <a:buAutoNum type="alphaLcPeriod"/>
            </a:pPr>
            <a:r>
              <a:rPr lang="zh-CN" altLang="en-US" dirty="0" smtClean="0">
                <a:solidFill>
                  <a:srgbClr val="C00000"/>
                </a:solidFill>
              </a:rPr>
              <a:t>计算</a:t>
            </a:r>
            <a:r>
              <a:rPr lang="en-US" altLang="zh-CN" dirty="0" err="1" smtClean="0">
                <a:solidFill>
                  <a:srgbClr val="C00000"/>
                </a:solidFill>
              </a:rPr>
              <a:t>i</a:t>
            </a:r>
            <a:r>
              <a:rPr lang="en-US" altLang="zh-CN" dirty="0" smtClean="0">
                <a:solidFill>
                  <a:srgbClr val="C00000"/>
                </a:solidFill>
              </a:rPr>
              <a:t>/</a:t>
            </a:r>
            <a:r>
              <a:rPr lang="en-US" altLang="zh-CN" dirty="0" err="1" smtClean="0">
                <a:solidFill>
                  <a:srgbClr val="C00000"/>
                </a:solidFill>
              </a:rPr>
              <a:t>p_offset</a:t>
            </a:r>
            <a:r>
              <a:rPr lang="en-US" altLang="zh-CN" dirty="0" smtClean="0">
                <a:solidFill>
                  <a:srgbClr val="C00000"/>
                </a:solidFill>
              </a:rPr>
              <a:t>: </a:t>
            </a:r>
            <a:r>
              <a:rPr lang="zh-CN" altLang="en-US" dirty="0" smtClean="0">
                <a:solidFill>
                  <a:srgbClr val="C00000"/>
                </a:solidFill>
              </a:rPr>
              <a:t>需计算与</a:t>
            </a:r>
            <a:r>
              <a:rPr lang="zh-CN" altLang="en-US" b="1" dirty="0" smtClean="0"/>
              <a:t>下一个</a:t>
            </a:r>
            <a:r>
              <a:rPr lang="en-US" altLang="zh-CN" b="1" dirty="0" err="1" smtClean="0"/>
              <a:t>wrt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en-US" altLang="zh-CN" dirty="0" smtClean="0">
                <a:solidFill>
                  <a:srgbClr val="C00000"/>
                </a:solidFill>
              </a:rPr>
              <a:t>input</a:t>
            </a:r>
            <a:r>
              <a:rPr lang="zh-CN" altLang="en-US" dirty="0" smtClean="0">
                <a:solidFill>
                  <a:srgbClr val="C00000"/>
                </a:solidFill>
              </a:rPr>
              <a:t>的距离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5793" y="4539242"/>
            <a:ext cx="682021" cy="35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Y1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75793" y="4898257"/>
            <a:ext cx="682021" cy="35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Z0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75793" y="5250305"/>
            <a:ext cx="682021" cy="35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Z1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75793" y="5595386"/>
            <a:ext cx="682021" cy="35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</a:rPr>
              <a:t>X0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5793" y="5954401"/>
            <a:ext cx="682021" cy="35901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X1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475793" y="6313416"/>
            <a:ext cx="682021" cy="35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Y0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65784" y="4516691"/>
            <a:ext cx="259764" cy="306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84" y="4935542"/>
            <a:ext cx="259764" cy="306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84" y="5294557"/>
            <a:ext cx="259764" cy="306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784" y="5653572"/>
            <a:ext cx="259764" cy="306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784" y="6012586"/>
            <a:ext cx="259764" cy="306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784" y="6379323"/>
            <a:ext cx="259764" cy="306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195873" y="4547105"/>
            <a:ext cx="682021" cy="2133189"/>
            <a:chOff x="7740352" y="3573016"/>
            <a:chExt cx="792088" cy="2567136"/>
          </a:xfrm>
        </p:grpSpPr>
        <p:sp>
          <p:nvSpPr>
            <p:cNvPr id="29" name="矩形 28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Y1</a:t>
              </a:r>
              <a:endParaRPr lang="zh-CN" altLang="en-US" dirty="0"/>
            </a:p>
          </p:txBody>
        </p:sp>
        <p:sp>
          <p:nvSpPr>
            <p:cNvPr id="30" name="矩形 29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Z0</a:t>
              </a:r>
              <a:endParaRPr lang="zh-CN" altLang="en-US" dirty="0"/>
            </a:p>
          </p:txBody>
        </p:sp>
        <p:sp>
          <p:nvSpPr>
            <p:cNvPr id="31" name="矩形 30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Z1</a:t>
              </a:r>
              <a:endParaRPr lang="zh-CN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A0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X1</a:t>
              </a:r>
              <a:endParaRPr lang="zh-CN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Y0</a:t>
              </a:r>
              <a:endParaRPr lang="zh-CN" altLang="en-US" dirty="0"/>
            </a:p>
          </p:txBody>
        </p:sp>
      </p:grpSp>
      <p:cxnSp>
        <p:nvCxnSpPr>
          <p:cNvPr id="35" name="直接箭头连接符 34"/>
          <p:cNvCxnSpPr/>
          <p:nvPr/>
        </p:nvCxnSpPr>
        <p:spPr>
          <a:xfrm flipH="1">
            <a:off x="2021910" y="6166036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2021910" y="5823158"/>
            <a:ext cx="576064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69982" y="566124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/>
              <a:t>W</a:t>
            </a:r>
            <a:endParaRPr lang="zh-CN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741990" y="6011996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029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08" y="27463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dirty="0" smtClean="0"/>
              <a:t>怎样实现</a:t>
            </a:r>
            <a:r>
              <a:rPr lang="en-US" altLang="zh-CN" sz="2400" dirty="0" smtClean="0"/>
              <a:t>phase table </a:t>
            </a:r>
            <a:br>
              <a:rPr lang="en-US" altLang="zh-CN" sz="2400" dirty="0" smtClean="0"/>
            </a:br>
            <a:r>
              <a:rPr lang="en-US" altLang="zh-CN" sz="2400" dirty="0" smtClean="0"/>
              <a:t>generate? –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outTable</a:t>
            </a:r>
            <a:r>
              <a:rPr lang="en-US" altLang="zh-CN" sz="2400" dirty="0" smtClean="0">
                <a:solidFill>
                  <a:srgbClr val="FF0000"/>
                </a:solidFill>
              </a:rPr>
              <a:t>(merlin)</a:t>
            </a:r>
            <a:endParaRPr lang="zh-CN" altLang="en-US" sz="24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038078"/>
              </p:ext>
            </p:extLst>
          </p:nvPr>
        </p:nvGraphicFramePr>
        <p:xfrm>
          <a:off x="4996755" y="572219"/>
          <a:ext cx="3895725" cy="595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5" name="工作表" r:id="rId4" imgW="3895787" imgH="5953115" progId="Excel.Sheet.12">
                  <p:embed/>
                </p:oleObj>
              </mc:Choice>
              <mc:Fallback>
                <p:oleObj name="工作表" r:id="rId4" imgW="3895787" imgH="59531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96755" y="572219"/>
                        <a:ext cx="3895725" cy="595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3856980"/>
            <a:ext cx="3720890" cy="28623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Step.3 I/P frames choose.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(</a:t>
            </a:r>
            <a:r>
              <a:rPr lang="en-US" altLang="zh-CN" dirty="0" smtClean="0">
                <a:solidFill>
                  <a:srgbClr val="0070C0"/>
                </a:solidFill>
              </a:rPr>
              <a:t>I:</a:t>
            </a:r>
            <a:r>
              <a:rPr lang="zh-CN" altLang="en-US" dirty="0" smtClean="0">
                <a:solidFill>
                  <a:srgbClr val="0070C0"/>
                </a:solidFill>
              </a:rPr>
              <a:t>蓝底</a:t>
            </a:r>
            <a:r>
              <a:rPr lang="en-US" altLang="zh-CN" dirty="0" smtClean="0">
                <a:solidFill>
                  <a:srgbClr val="0070C0"/>
                </a:solidFill>
              </a:rPr>
              <a:t>mark</a:t>
            </a:r>
            <a:r>
              <a:rPr lang="zh-CN" altLang="en-US" dirty="0" smtClean="0"/>
              <a:t>；</a:t>
            </a:r>
            <a:r>
              <a:rPr lang="en-US" altLang="zh-CN" dirty="0" smtClean="0">
                <a:solidFill>
                  <a:srgbClr val="FFFF00"/>
                </a:solidFill>
              </a:rPr>
              <a:t>P:</a:t>
            </a:r>
            <a:r>
              <a:rPr lang="zh-CN" altLang="en-US" dirty="0" smtClean="0">
                <a:solidFill>
                  <a:srgbClr val="FFFF00"/>
                </a:solidFill>
              </a:rPr>
              <a:t>黄底</a:t>
            </a:r>
            <a:r>
              <a:rPr lang="en-US" altLang="zh-CN" dirty="0" smtClean="0">
                <a:solidFill>
                  <a:srgbClr val="FFFF00"/>
                </a:solidFill>
              </a:rPr>
              <a:t>mark</a:t>
            </a:r>
            <a:r>
              <a:rPr lang="en-US" altLang="zh-CN" dirty="0" smtClean="0"/>
              <a:t>)</a:t>
            </a:r>
          </a:p>
          <a:p>
            <a:endParaRPr lang="en-US" altLang="zh-CN" dirty="0"/>
          </a:p>
          <a:p>
            <a:r>
              <a:rPr lang="en-US" altLang="zh-CN" dirty="0" smtClean="0">
                <a:solidFill>
                  <a:srgbClr val="C00000"/>
                </a:solidFill>
              </a:rPr>
              <a:t>Rules:</a:t>
            </a:r>
          </a:p>
          <a:p>
            <a:pPr marL="342900" indent="-342900">
              <a:buAutoNum type="alphaLcPeriod"/>
            </a:pPr>
            <a:r>
              <a:rPr lang="en-US" altLang="zh-CN" dirty="0" smtClean="0">
                <a:solidFill>
                  <a:srgbClr val="C00000"/>
                </a:solidFill>
              </a:rPr>
              <a:t>P</a:t>
            </a:r>
            <a:r>
              <a:rPr lang="zh-CN" altLang="en-US" dirty="0" smtClean="0">
                <a:solidFill>
                  <a:srgbClr val="C00000"/>
                </a:solidFill>
              </a:rPr>
              <a:t>尽量拿最靠近</a:t>
            </a:r>
            <a:r>
              <a:rPr lang="en-US" altLang="zh-CN" dirty="0" err="1" smtClean="0">
                <a:solidFill>
                  <a:srgbClr val="C00000"/>
                </a:solidFill>
              </a:rPr>
              <a:t>Wrt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en-US" altLang="zh-CN" dirty="0" smtClean="0">
                <a:solidFill>
                  <a:srgbClr val="C00000"/>
                </a:solidFill>
              </a:rPr>
              <a:t>frame</a:t>
            </a:r>
            <a:r>
              <a:rPr lang="zh-CN" altLang="en-US" dirty="0" smtClean="0">
                <a:solidFill>
                  <a:srgbClr val="C00000"/>
                </a:solidFill>
              </a:rPr>
              <a:t>；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AutoNum type="alphaLcPeriod"/>
            </a:pPr>
            <a:r>
              <a:rPr lang="en-US" altLang="zh-CN" dirty="0" smtClean="0">
                <a:solidFill>
                  <a:srgbClr val="C00000"/>
                </a:solidFill>
              </a:rPr>
              <a:t>I</a:t>
            </a:r>
            <a:r>
              <a:rPr lang="zh-CN" altLang="en-US" dirty="0" smtClean="0">
                <a:solidFill>
                  <a:srgbClr val="C00000"/>
                </a:solidFill>
              </a:rPr>
              <a:t>从</a:t>
            </a:r>
            <a:r>
              <a:rPr lang="en-US" altLang="zh-CN" dirty="0" smtClean="0">
                <a:solidFill>
                  <a:srgbClr val="C00000"/>
                </a:solidFill>
              </a:rPr>
              <a:t>P</a:t>
            </a:r>
            <a:r>
              <a:rPr lang="zh-CN" altLang="en-US" dirty="0" smtClean="0">
                <a:solidFill>
                  <a:srgbClr val="C00000"/>
                </a:solidFill>
              </a:rPr>
              <a:t>往前推一张；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AutoNum type="alphaLcPeriod"/>
            </a:pPr>
            <a:r>
              <a:rPr lang="zh-CN" altLang="en-US" dirty="0" smtClean="0">
                <a:solidFill>
                  <a:srgbClr val="C00000"/>
                </a:solidFill>
              </a:rPr>
              <a:t>整个周期内，不会出现</a:t>
            </a:r>
            <a:r>
              <a:rPr lang="en-US" altLang="zh-CN" dirty="0" smtClean="0">
                <a:solidFill>
                  <a:srgbClr val="C00000"/>
                </a:solidFill>
              </a:rPr>
              <a:t>R/W</a:t>
            </a:r>
            <a:r>
              <a:rPr lang="zh-CN" altLang="en-US" dirty="0" smtClean="0">
                <a:solidFill>
                  <a:srgbClr val="C00000"/>
                </a:solidFill>
              </a:rPr>
              <a:t>相撞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342900" indent="-342900">
              <a:buAutoNum type="alphaLcPeriod"/>
            </a:pPr>
            <a:r>
              <a:rPr lang="zh-CN" altLang="en-US" dirty="0" smtClean="0">
                <a:solidFill>
                  <a:srgbClr val="C00000"/>
                </a:solidFill>
              </a:rPr>
              <a:t>尽量不出现</a:t>
            </a:r>
            <a:r>
              <a:rPr lang="en-US" altLang="zh-CN" dirty="0" smtClean="0">
                <a:solidFill>
                  <a:srgbClr val="C00000"/>
                </a:solidFill>
              </a:rPr>
              <a:t>I/</a:t>
            </a:r>
            <a:r>
              <a:rPr lang="en-US" altLang="zh-CN" dirty="0" err="1" smtClean="0">
                <a:solidFill>
                  <a:srgbClr val="C00000"/>
                </a:solidFill>
              </a:rPr>
              <a:t>P_offset</a:t>
            </a:r>
            <a:r>
              <a:rPr lang="zh-CN" altLang="en-US" dirty="0" smtClean="0">
                <a:solidFill>
                  <a:srgbClr val="C00000"/>
                </a:solidFill>
              </a:rPr>
              <a:t>为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</a:p>
          <a:p>
            <a:pPr marL="342900" indent="-342900">
              <a:buAutoNum type="alphaLcPeriod"/>
            </a:pPr>
            <a:r>
              <a:rPr lang="zh-CN" altLang="en-US" dirty="0" smtClean="0">
                <a:solidFill>
                  <a:srgbClr val="C00000"/>
                </a:solidFill>
              </a:rPr>
              <a:t>计算</a:t>
            </a:r>
            <a:r>
              <a:rPr lang="en-US" altLang="zh-CN" dirty="0" err="1" smtClean="0">
                <a:solidFill>
                  <a:srgbClr val="C00000"/>
                </a:solidFill>
              </a:rPr>
              <a:t>i</a:t>
            </a:r>
            <a:r>
              <a:rPr lang="en-US" altLang="zh-CN" dirty="0" smtClean="0">
                <a:solidFill>
                  <a:srgbClr val="C00000"/>
                </a:solidFill>
              </a:rPr>
              <a:t>/</a:t>
            </a:r>
            <a:r>
              <a:rPr lang="en-US" altLang="zh-CN" dirty="0" err="1" smtClean="0">
                <a:solidFill>
                  <a:srgbClr val="C00000"/>
                </a:solidFill>
              </a:rPr>
              <a:t>p_offset</a:t>
            </a:r>
            <a:r>
              <a:rPr lang="en-US" altLang="zh-CN" dirty="0" smtClean="0">
                <a:solidFill>
                  <a:srgbClr val="C00000"/>
                </a:solidFill>
              </a:rPr>
              <a:t>: </a:t>
            </a:r>
            <a:r>
              <a:rPr lang="zh-CN" altLang="en-US" dirty="0" smtClean="0">
                <a:solidFill>
                  <a:srgbClr val="C00000"/>
                </a:solidFill>
              </a:rPr>
              <a:t>需计算与</a:t>
            </a:r>
            <a:r>
              <a:rPr lang="zh-CN" altLang="en-US" b="1" u="sng" dirty="0" smtClean="0"/>
              <a:t>当前</a:t>
            </a:r>
            <a:r>
              <a:rPr lang="en-US" altLang="zh-CN" b="1" u="sng" dirty="0" err="1" smtClean="0"/>
              <a:t>wrt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en-US" altLang="zh-CN" dirty="0" smtClean="0">
                <a:solidFill>
                  <a:srgbClr val="C00000"/>
                </a:solidFill>
              </a:rPr>
              <a:t>input</a:t>
            </a:r>
            <a:r>
              <a:rPr lang="zh-CN" altLang="en-US" dirty="0" smtClean="0">
                <a:solidFill>
                  <a:srgbClr val="C00000"/>
                </a:solidFill>
              </a:rPr>
              <a:t>的距离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894028"/>
              </p:ext>
            </p:extLst>
          </p:nvPr>
        </p:nvGraphicFramePr>
        <p:xfrm>
          <a:off x="164926" y="1556792"/>
          <a:ext cx="389572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6" name="工作表" r:id="rId7" imgW="3895787" imgH="1495432" progId="Excel.Sheet.12">
                  <p:embed/>
                </p:oleObj>
              </mc:Choice>
              <mc:Fallback>
                <p:oleObj name="工作表" r:id="rId7" imgW="3895787" imgH="14954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4926" y="1556792"/>
                        <a:ext cx="3895725" cy="149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1520" y="3286725"/>
            <a:ext cx="3720890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Step.1 N2M, Cadence, </a:t>
            </a:r>
            <a:r>
              <a:rPr lang="en-US" altLang="zh-CN" dirty="0" err="1" smtClean="0"/>
              <a:t>me_phase</a:t>
            </a:r>
            <a:endParaRPr lang="en-US" altLang="zh-CN" dirty="0" smtClean="0"/>
          </a:p>
          <a:p>
            <a:r>
              <a:rPr lang="en-US" altLang="zh-CN" dirty="0" smtClean="0"/>
              <a:t>Step.2 Write frame rule.(</a:t>
            </a:r>
            <a:r>
              <a:rPr lang="zh-CN" altLang="en-US" dirty="0" smtClean="0">
                <a:solidFill>
                  <a:srgbClr val="FF0000"/>
                </a:solidFill>
              </a:rPr>
              <a:t>红字</a:t>
            </a:r>
            <a:r>
              <a:rPr lang="en-US" altLang="zh-CN" dirty="0" smtClean="0">
                <a:solidFill>
                  <a:srgbClr val="FF0000"/>
                </a:solidFill>
              </a:rPr>
              <a:t>mark</a:t>
            </a:r>
            <a:r>
              <a:rPr lang="en-US" altLang="zh-CN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240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怎样实现</a:t>
            </a:r>
            <a:r>
              <a:rPr lang="en-US" altLang="zh-CN" sz="3200" dirty="0"/>
              <a:t>phase table </a:t>
            </a:r>
            <a:r>
              <a:rPr lang="en-US" altLang="zh-CN" sz="3200" dirty="0" smtClean="0"/>
              <a:t>generate? - </a:t>
            </a:r>
            <a:r>
              <a:rPr lang="zh-CN" altLang="en-US" sz="3200" dirty="0" smtClean="0">
                <a:solidFill>
                  <a:srgbClr val="FF0000"/>
                </a:solidFill>
              </a:rPr>
              <a:t>需要哪些初始化的量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400" dirty="0" err="1" smtClean="0"/>
              <a:t>usableFlag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决定要</a:t>
            </a:r>
            <a:r>
              <a:rPr lang="en-US" altLang="zh-CN" sz="2000" dirty="0" smtClean="0"/>
              <a:t>frame</a:t>
            </a:r>
            <a:r>
              <a:rPr lang="zh-CN" altLang="en-US" sz="2000" dirty="0"/>
              <a:t>写</a:t>
            </a:r>
            <a:r>
              <a:rPr lang="zh-CN" altLang="en-US" sz="2000" dirty="0" smtClean="0"/>
              <a:t>在哪一块</a:t>
            </a:r>
            <a:r>
              <a:rPr lang="en-US" altLang="zh-CN" sz="2000" dirty="0" smtClean="0"/>
              <a:t>buffer</a:t>
            </a:r>
            <a:r>
              <a:rPr lang="zh-CN" altLang="en-US" sz="2000" dirty="0" smtClean="0"/>
              <a:t>，见后详解</a:t>
            </a:r>
            <a:endParaRPr lang="en-US" altLang="zh-CN" sz="2000" dirty="0" smtClean="0"/>
          </a:p>
          <a:p>
            <a:r>
              <a:rPr lang="en-US" altLang="zh-CN" sz="2400" dirty="0" err="1" smtClean="0"/>
              <a:t>ini_i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p_offset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初始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p_offset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决定初始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/p</a:t>
            </a:r>
            <a:r>
              <a:rPr lang="zh-CN" altLang="en-US" sz="2000" dirty="0" smtClean="0"/>
              <a:t>要跟</a:t>
            </a:r>
            <a:r>
              <a:rPr lang="en-US" altLang="zh-CN" sz="2000" dirty="0" smtClean="0"/>
              <a:t>w</a:t>
            </a:r>
            <a:r>
              <a:rPr lang="zh-CN" altLang="en-US" sz="2000" dirty="0" smtClean="0"/>
              <a:t>差多远</a:t>
            </a:r>
            <a:endParaRPr lang="en-US" altLang="zh-CN" sz="2000" dirty="0" smtClean="0"/>
          </a:p>
          <a:p>
            <a:r>
              <a:rPr lang="en-US" altLang="zh-CN" sz="2400" dirty="0" err="1" smtClean="0"/>
              <a:t>ini_ph_frac_nume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ini_ph_frac_denom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初始</a:t>
            </a:r>
            <a:r>
              <a:rPr lang="en-US" altLang="zh-CN" sz="2400" dirty="0" err="1"/>
              <a:t>memc</a:t>
            </a:r>
            <a:r>
              <a:rPr lang="en-US" altLang="zh-CN" sz="2400" dirty="0"/>
              <a:t> phase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百分比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决定从哪个</a:t>
            </a:r>
            <a:r>
              <a:rPr lang="en-US" altLang="zh-CN" sz="2000" dirty="0" smtClean="0"/>
              <a:t>phase</a:t>
            </a:r>
            <a:r>
              <a:rPr lang="zh-CN" altLang="en-US" sz="2000" dirty="0" smtClean="0"/>
              <a:t>开始算</a:t>
            </a:r>
            <a:endParaRPr lang="en-US" altLang="zh-CN" sz="2000" dirty="0" smtClean="0"/>
          </a:p>
          <a:p>
            <a:r>
              <a:rPr lang="en-US" altLang="zh-CN" sz="2400" dirty="0" err="1" smtClean="0"/>
              <a:t>ini_chgImg_cnt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初始</a:t>
            </a:r>
            <a:r>
              <a:rPr lang="en-US" altLang="zh-CN" sz="2400" dirty="0"/>
              <a:t>p frame</a:t>
            </a:r>
            <a:r>
              <a:rPr lang="zh-CN" altLang="en-US" sz="2400" dirty="0"/>
              <a:t>跟写</a:t>
            </a:r>
            <a:r>
              <a:rPr lang="en-US" altLang="zh-CN" sz="2400" dirty="0"/>
              <a:t>frame</a:t>
            </a:r>
            <a:r>
              <a:rPr lang="zh-CN" altLang="en-US" sz="2400" dirty="0"/>
              <a:t>差异多少</a:t>
            </a:r>
            <a:r>
              <a:rPr lang="zh-CN" altLang="en-US" sz="2400" dirty="0" smtClean="0"/>
              <a:t>张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决定初始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/p</a:t>
            </a:r>
            <a:r>
              <a:rPr lang="zh-CN" altLang="en-US" sz="2000" dirty="0" smtClean="0"/>
              <a:t>相差多远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主要是</a:t>
            </a:r>
            <a:r>
              <a:rPr lang="en-US" altLang="zh-CN" sz="2000" dirty="0" smtClean="0"/>
              <a:t>FW</a:t>
            </a:r>
            <a:r>
              <a:rPr lang="zh-CN" altLang="en-US" sz="2000" dirty="0" smtClean="0"/>
              <a:t>写</a:t>
            </a:r>
            <a:r>
              <a:rPr lang="en-US" altLang="zh-CN" sz="2000" dirty="0" smtClean="0"/>
              <a:t>code</a:t>
            </a:r>
            <a:r>
              <a:rPr lang="zh-CN" altLang="en-US" sz="2000" dirty="0" smtClean="0"/>
              <a:t>需要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7857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怎样实现</a:t>
            </a:r>
            <a:r>
              <a:rPr lang="en-US" altLang="zh-CN" sz="3600" dirty="0"/>
              <a:t>phase table generate? – 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filmPh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3187"/>
          </a:xfrm>
        </p:spPr>
        <p:txBody>
          <a:bodyPr>
            <a:noAutofit/>
          </a:bodyPr>
          <a:lstStyle/>
          <a:p>
            <a:r>
              <a:rPr lang="en-US" altLang="zh-CN" sz="2000" dirty="0" err="1" smtClean="0"/>
              <a:t>filmPh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wrt</a:t>
            </a:r>
            <a:r>
              <a:rPr lang="zh-CN" altLang="en-US" sz="2000" dirty="0" smtClean="0"/>
              <a:t>需要更新的</a:t>
            </a:r>
            <a:r>
              <a:rPr lang="en-US" altLang="zh-CN" sz="2000" dirty="0" smtClean="0"/>
              <a:t>register: </a:t>
            </a:r>
          </a:p>
          <a:p>
            <a:r>
              <a:rPr lang="en-US" altLang="zh-CN" sz="2000" dirty="0" err="1" smtClean="0"/>
              <a:t>reg_kphase_sw_film_en</a:t>
            </a:r>
            <a:endParaRPr lang="en-US" altLang="zh-CN" sz="2000" dirty="0"/>
          </a:p>
          <a:p>
            <a:pPr lvl="1"/>
            <a:r>
              <a:rPr lang="zh-CN" altLang="en-US" sz="1800" dirty="0"/>
              <a:t>是否用</a:t>
            </a:r>
            <a:r>
              <a:rPr lang="en-US" altLang="zh-CN" sz="1800" dirty="0" err="1"/>
              <a:t>pql</a:t>
            </a:r>
            <a:r>
              <a:rPr lang="zh-CN" altLang="en-US" sz="1800" dirty="0"/>
              <a:t>算出来的</a:t>
            </a:r>
            <a:r>
              <a:rPr lang="en-US" altLang="zh-CN" sz="1800" dirty="0"/>
              <a:t>film</a:t>
            </a:r>
          </a:p>
          <a:p>
            <a:r>
              <a:rPr lang="en-US" altLang="zh-CN" sz="2000" dirty="0" err="1" smtClean="0"/>
              <a:t>reg_kphase_sw_film_phase</a:t>
            </a:r>
            <a:endParaRPr lang="en-US" altLang="zh-CN" sz="2000" dirty="0"/>
          </a:p>
          <a:p>
            <a:pPr lvl="1"/>
            <a:r>
              <a:rPr lang="en-US" altLang="zh-CN" sz="1800" dirty="0" err="1"/>
              <a:t>Pql</a:t>
            </a:r>
            <a:r>
              <a:rPr lang="zh-CN" altLang="en-US" sz="1800" dirty="0"/>
              <a:t>算出的</a:t>
            </a:r>
            <a:r>
              <a:rPr lang="en-US" altLang="zh-CN" sz="1800" dirty="0"/>
              <a:t>film phase</a:t>
            </a:r>
          </a:p>
          <a:p>
            <a:r>
              <a:rPr lang="en-US" altLang="zh-CN" sz="2000" dirty="0" err="1" smtClean="0"/>
              <a:t>reg_kphase_film_mode</a:t>
            </a:r>
            <a:endParaRPr lang="en-US" altLang="zh-CN" sz="2000" dirty="0"/>
          </a:p>
          <a:p>
            <a:pPr lvl="1"/>
            <a:r>
              <a:rPr lang="en-US" altLang="zh-CN" sz="1800" dirty="0"/>
              <a:t>0,video; 1, 22; 2, </a:t>
            </a:r>
            <a:r>
              <a:rPr lang="en-US" altLang="zh-CN" sz="1800" dirty="0" smtClean="0"/>
              <a:t>32; </a:t>
            </a:r>
            <a:r>
              <a:rPr lang="en-US" altLang="zh-CN" sz="1800" dirty="0"/>
              <a:t>3, others;</a:t>
            </a:r>
          </a:p>
          <a:p>
            <a:r>
              <a:rPr lang="en-US" altLang="zh-CN" sz="2000" dirty="0" err="1" smtClean="0"/>
              <a:t>reg_kphase_film_phase_type</a:t>
            </a:r>
            <a:endParaRPr lang="en-US" altLang="zh-CN" sz="2000" dirty="0" smtClean="0"/>
          </a:p>
          <a:p>
            <a:pPr lvl="1"/>
            <a:r>
              <a:rPr lang="en-US" altLang="zh-CN" sz="1800" dirty="0"/>
              <a:t>max(</a:t>
            </a:r>
            <a:r>
              <a:rPr lang="en-US" altLang="zh-CN" sz="1800" dirty="0" err="1"/>
              <a:t>sw_film_phase</a:t>
            </a:r>
            <a:r>
              <a:rPr lang="en-US" altLang="zh-CN" sz="1800" dirty="0"/>
              <a:t>) + </a:t>
            </a:r>
            <a:r>
              <a:rPr lang="en-US" altLang="zh-CN" sz="1800" dirty="0" smtClean="0"/>
              <a:t>1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3952394" y="1412776"/>
            <a:ext cx="4724062" cy="147732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表头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r>
              <a:rPr lang="en-US" altLang="zh-CN" dirty="0" smtClean="0"/>
              <a:t>Out_3d_enable: </a:t>
            </a:r>
            <a:r>
              <a:rPr lang="zh-CN" altLang="en-US" dirty="0" smtClean="0"/>
              <a:t>是否是</a:t>
            </a:r>
            <a:r>
              <a:rPr lang="en-US" altLang="zh-CN" dirty="0" smtClean="0"/>
              <a:t>3d</a:t>
            </a:r>
            <a:endParaRPr lang="en-US" altLang="zh-CN" dirty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Film_mode</a:t>
            </a:r>
            <a:r>
              <a:rPr lang="en-US" altLang="zh-CN" dirty="0" smtClean="0"/>
              <a:t>: 0:video</a:t>
            </a:r>
            <a:r>
              <a:rPr lang="en-US" altLang="zh-CN" dirty="0"/>
              <a:t>; 1:22; 2:32; </a:t>
            </a:r>
            <a:r>
              <a:rPr lang="en-US" altLang="zh-CN" dirty="0" smtClean="0"/>
              <a:t>3:others</a:t>
            </a:r>
          </a:p>
          <a:p>
            <a:r>
              <a:rPr lang="en-US" altLang="zh-CN" dirty="0" err="1" smtClean="0"/>
              <a:t>Out_phase</a:t>
            </a:r>
            <a:r>
              <a:rPr lang="en-US" altLang="zh-CN" dirty="0" smtClean="0"/>
              <a:t>: in/out</a:t>
            </a:r>
            <a:r>
              <a:rPr lang="zh-CN" altLang="en-US" dirty="0"/>
              <a:t> </a:t>
            </a:r>
            <a:r>
              <a:rPr lang="en-US" altLang="zh-CN" dirty="0" smtClean="0"/>
              <a:t>framerate</a:t>
            </a:r>
            <a:r>
              <a:rPr lang="zh-CN" altLang="en-US" dirty="0" smtClean="0"/>
              <a:t>的最简比的表示</a:t>
            </a:r>
            <a:endParaRPr lang="en-US" altLang="zh-CN" dirty="0"/>
          </a:p>
          <a:p>
            <a:r>
              <a:rPr lang="en-US" altLang="zh-CN" b="1" dirty="0" err="1" smtClean="0">
                <a:solidFill>
                  <a:srgbClr val="FF0000"/>
                </a:solidFill>
              </a:rPr>
              <a:t>Film_phase</a:t>
            </a:r>
            <a:r>
              <a:rPr lang="en-US" altLang="zh-CN" dirty="0" smtClean="0"/>
              <a:t>: 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cadence</a:t>
            </a:r>
            <a:r>
              <a:rPr lang="zh-CN" altLang="en-US" dirty="0" smtClean="0"/>
              <a:t>周期内的表示</a:t>
            </a:r>
            <a:endParaRPr lang="en-US" altLang="zh-C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123728" y="16288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sng" dirty="0" smtClean="0"/>
              <a:t>几乎不更新</a:t>
            </a:r>
            <a:endParaRPr lang="zh-CN" altLang="en-US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1025828" y="2060848"/>
            <a:ext cx="2425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 smtClean="0"/>
              <a:t>DTG</a:t>
            </a:r>
            <a:r>
              <a:rPr lang="zh-CN" altLang="en-US" u="sng" dirty="0" smtClean="0"/>
              <a:t>会</a:t>
            </a:r>
            <a:r>
              <a:rPr lang="en-US" altLang="zh-CN" u="sng" dirty="0" smtClean="0"/>
              <a:t>gen</a:t>
            </a:r>
            <a:r>
              <a:rPr lang="zh-CN" altLang="en-US" u="sng" dirty="0" smtClean="0"/>
              <a:t>好送给</a:t>
            </a:r>
            <a:r>
              <a:rPr lang="en-US" altLang="zh-CN" u="sng" dirty="0" err="1" smtClean="0"/>
              <a:t>memc</a:t>
            </a:r>
            <a:endParaRPr lang="zh-CN" altLang="en-US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1806653" y="2520772"/>
            <a:ext cx="165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sng" dirty="0" smtClean="0"/>
              <a:t>跟</a:t>
            </a:r>
            <a:r>
              <a:rPr lang="en-US" altLang="zh-CN" u="sng" dirty="0" smtClean="0"/>
              <a:t>cadence</a:t>
            </a:r>
            <a:r>
              <a:rPr lang="zh-CN" altLang="en-US" u="sng" dirty="0" smtClean="0"/>
              <a:t>有关</a:t>
            </a:r>
            <a:endParaRPr lang="zh-CN" altLang="en-US" u="sng" dirty="0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462556" y="1844824"/>
            <a:ext cx="6053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462556" y="2245514"/>
            <a:ext cx="605388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7" idx="3"/>
          </p:cNvCxnSpPr>
          <p:nvPr/>
        </p:nvCxnSpPr>
        <p:spPr>
          <a:xfrm flipH="1">
            <a:off x="3462556" y="2151440"/>
            <a:ext cx="605388" cy="5539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3462556" y="2705438"/>
            <a:ext cx="6053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37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(FW)</a:t>
            </a:r>
            <a:r>
              <a:rPr lang="zh-CN" altLang="en-US" dirty="0" smtClean="0"/>
              <a:t>何时</a:t>
            </a:r>
            <a:r>
              <a:rPr lang="zh-CN" altLang="en-US" dirty="0"/>
              <a:t>需要</a:t>
            </a:r>
            <a:r>
              <a:rPr lang="en-US" altLang="zh-CN" dirty="0"/>
              <a:t>phase table generate?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857037"/>
              </p:ext>
            </p:extLst>
          </p:nvPr>
        </p:nvGraphicFramePr>
        <p:xfrm>
          <a:off x="250825" y="1628775"/>
          <a:ext cx="8893175" cy="480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1" name="Visio" r:id="rId3" imgW="6633527" imgH="3587957" progId="Visio.Drawing.11">
                  <p:embed/>
                </p:oleObj>
              </mc:Choice>
              <mc:Fallback>
                <p:oleObj name="Visio" r:id="rId3" imgW="6633527" imgH="3587957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628775"/>
                        <a:ext cx="8893175" cy="480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056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(FW)</a:t>
            </a:r>
            <a:r>
              <a:rPr lang="zh-CN" altLang="en-US" dirty="0"/>
              <a:t>何时需要</a:t>
            </a:r>
            <a:r>
              <a:rPr lang="en-US" altLang="zh-CN" dirty="0"/>
              <a:t>phase table generate?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>
            <a:noAutofit/>
          </a:bodyPr>
          <a:lstStyle/>
          <a:p>
            <a:r>
              <a:rPr lang="en-US" altLang="zh-CN" sz="1800" dirty="0" smtClean="0">
                <a:solidFill>
                  <a:srgbClr val="3333FF"/>
                </a:solidFill>
              </a:rPr>
              <a:t>u1_mode_chg</a:t>
            </a:r>
          </a:p>
          <a:p>
            <a:pPr lvl="1"/>
            <a:r>
              <a:rPr lang="en-US" altLang="zh-CN" sz="1800" dirty="0" smtClean="0">
                <a:solidFill>
                  <a:srgbClr val="3333FF"/>
                </a:solidFill>
              </a:rPr>
              <a:t>PC Mode or Video Mode(normal)</a:t>
            </a:r>
          </a:p>
          <a:p>
            <a:pPr lvl="1"/>
            <a:r>
              <a:rPr lang="en-US" altLang="zh-CN" sz="1800" dirty="0" smtClean="0">
                <a:solidFill>
                  <a:srgbClr val="3333FF"/>
                </a:solidFill>
              </a:rPr>
              <a:t>PC Mode: 444rgb, </a:t>
            </a:r>
            <a:r>
              <a:rPr lang="en-US" altLang="zh-CN" sz="1800" dirty="0" err="1" smtClean="0">
                <a:solidFill>
                  <a:srgbClr val="3333FF"/>
                </a:solidFill>
              </a:rPr>
              <a:t>phasetable</a:t>
            </a:r>
            <a:r>
              <a:rPr lang="zh-CN" altLang="en-US" sz="1800" dirty="0" smtClean="0">
                <a:solidFill>
                  <a:srgbClr val="3333FF"/>
                </a:solidFill>
              </a:rPr>
              <a:t>：</a:t>
            </a:r>
            <a:r>
              <a:rPr lang="en-US" altLang="zh-CN" sz="1800" dirty="0" smtClean="0">
                <a:solidFill>
                  <a:srgbClr val="3333FF"/>
                </a:solidFill>
              </a:rPr>
              <a:t>1w1r</a:t>
            </a:r>
            <a:r>
              <a:rPr lang="zh-CN" altLang="en-US" sz="1800" dirty="0" smtClean="0">
                <a:solidFill>
                  <a:srgbClr val="3333FF"/>
                </a:solidFill>
              </a:rPr>
              <a:t>，</a:t>
            </a:r>
            <a:r>
              <a:rPr lang="en-US" altLang="zh-CN" sz="1800" dirty="0" err="1" smtClean="0">
                <a:solidFill>
                  <a:srgbClr val="3333FF"/>
                </a:solidFill>
              </a:rPr>
              <a:t>buffer_num</a:t>
            </a:r>
            <a:r>
              <a:rPr lang="en-US" altLang="zh-CN" sz="1800" dirty="0" smtClean="0">
                <a:solidFill>
                  <a:srgbClr val="3333FF"/>
                </a:solidFill>
              </a:rPr>
              <a:t>=3</a:t>
            </a:r>
          </a:p>
          <a:p>
            <a:pPr lvl="2"/>
            <a:r>
              <a:rPr lang="zh-CN" altLang="en-US" sz="1400" dirty="0" smtClean="0">
                <a:solidFill>
                  <a:srgbClr val="3333FF"/>
                </a:solidFill>
              </a:rPr>
              <a:t>因为</a:t>
            </a:r>
            <a:r>
              <a:rPr lang="en-US" altLang="zh-CN" sz="1400" dirty="0" smtClean="0">
                <a:solidFill>
                  <a:srgbClr val="3333FF"/>
                </a:solidFill>
              </a:rPr>
              <a:t>444rgb</a:t>
            </a:r>
            <a:r>
              <a:rPr lang="zh-CN" altLang="en-US" sz="1400" dirty="0" smtClean="0">
                <a:solidFill>
                  <a:srgbClr val="3333FF"/>
                </a:solidFill>
              </a:rPr>
              <a:t>，每张大小是</a:t>
            </a:r>
            <a:r>
              <a:rPr lang="en-US" altLang="zh-CN" sz="1400" dirty="0" smtClean="0">
                <a:solidFill>
                  <a:srgbClr val="3333FF"/>
                </a:solidFill>
              </a:rPr>
              <a:t>422</a:t>
            </a:r>
            <a:r>
              <a:rPr lang="zh-CN" altLang="en-US" sz="1400" dirty="0" smtClean="0">
                <a:solidFill>
                  <a:srgbClr val="3333FF"/>
                </a:solidFill>
              </a:rPr>
              <a:t>的</a:t>
            </a:r>
            <a:r>
              <a:rPr lang="en-US" altLang="zh-CN" sz="1400" dirty="0" smtClean="0">
                <a:solidFill>
                  <a:srgbClr val="3333FF"/>
                </a:solidFill>
              </a:rPr>
              <a:t>1.5</a:t>
            </a:r>
            <a:r>
              <a:rPr lang="zh-CN" altLang="en-US" sz="1400" dirty="0" smtClean="0">
                <a:solidFill>
                  <a:srgbClr val="3333FF"/>
                </a:solidFill>
              </a:rPr>
              <a:t>倍，所以</a:t>
            </a:r>
            <a:r>
              <a:rPr lang="en-US" altLang="zh-CN" sz="1400" dirty="0" smtClean="0">
                <a:solidFill>
                  <a:srgbClr val="3333FF"/>
                </a:solidFill>
              </a:rPr>
              <a:t>buffer</a:t>
            </a:r>
            <a:r>
              <a:rPr lang="zh-CN" altLang="en-US" sz="1400" dirty="0" smtClean="0">
                <a:solidFill>
                  <a:srgbClr val="3333FF"/>
                </a:solidFill>
              </a:rPr>
              <a:t>数量减少至</a:t>
            </a:r>
            <a:r>
              <a:rPr lang="en-US" altLang="zh-CN" sz="1400" dirty="0" smtClean="0">
                <a:solidFill>
                  <a:srgbClr val="3333FF"/>
                </a:solidFill>
              </a:rPr>
              <a:t>3</a:t>
            </a:r>
            <a:r>
              <a:rPr lang="zh-CN" altLang="en-US" sz="1400" dirty="0" smtClean="0">
                <a:solidFill>
                  <a:srgbClr val="3333FF"/>
                </a:solidFill>
              </a:rPr>
              <a:t>块，且</a:t>
            </a:r>
            <a:r>
              <a:rPr lang="en-US" altLang="zh-CN" sz="1400" dirty="0" smtClean="0">
                <a:solidFill>
                  <a:srgbClr val="3333FF"/>
                </a:solidFill>
              </a:rPr>
              <a:t>pc mode</a:t>
            </a:r>
            <a:r>
              <a:rPr lang="zh-CN" altLang="en-US" sz="1400" dirty="0">
                <a:solidFill>
                  <a:srgbClr val="3333FF"/>
                </a:solidFill>
              </a:rPr>
              <a:t>不</a:t>
            </a:r>
            <a:r>
              <a:rPr lang="zh-CN" altLang="en-US" sz="1400" dirty="0" smtClean="0">
                <a:solidFill>
                  <a:srgbClr val="3333FF"/>
                </a:solidFill>
              </a:rPr>
              <a:t>需要</a:t>
            </a:r>
            <a:r>
              <a:rPr lang="en-US" altLang="zh-CN" sz="1400" dirty="0" err="1" smtClean="0">
                <a:solidFill>
                  <a:srgbClr val="3333FF"/>
                </a:solidFill>
              </a:rPr>
              <a:t>memc</a:t>
            </a:r>
            <a:r>
              <a:rPr lang="zh-CN" altLang="en-US" sz="1400" dirty="0" smtClean="0">
                <a:solidFill>
                  <a:srgbClr val="3333FF"/>
                </a:solidFill>
              </a:rPr>
              <a:t>效果，</a:t>
            </a:r>
            <a:r>
              <a:rPr lang="en-US" altLang="zh-CN" sz="1400" dirty="0" smtClean="0">
                <a:solidFill>
                  <a:srgbClr val="3333FF"/>
                </a:solidFill>
              </a:rPr>
              <a:t>1w1r</a:t>
            </a:r>
            <a:r>
              <a:rPr lang="zh-CN" altLang="en-US" sz="1400" dirty="0" smtClean="0">
                <a:solidFill>
                  <a:srgbClr val="3333FF"/>
                </a:solidFill>
              </a:rPr>
              <a:t>足够了</a:t>
            </a:r>
            <a:endParaRPr lang="en-US" altLang="zh-CN" sz="1400" dirty="0" smtClean="0">
              <a:solidFill>
                <a:srgbClr val="3333FF"/>
              </a:solidFill>
            </a:endParaRPr>
          </a:p>
          <a:p>
            <a:r>
              <a:rPr lang="en-US" altLang="zh-CN" sz="1800" dirty="0" smtClean="0"/>
              <a:t>u8_system_start_lock</a:t>
            </a:r>
          </a:p>
          <a:p>
            <a:pPr lvl="1"/>
            <a:r>
              <a:rPr lang="zh-CN" altLang="en-US" sz="1800" dirty="0" smtClean="0"/>
              <a:t>系统第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次</a:t>
            </a:r>
            <a:r>
              <a:rPr lang="en-US" altLang="zh-CN" sz="1800" dirty="0" smtClean="0"/>
              <a:t>force </a:t>
            </a:r>
            <a:r>
              <a:rPr lang="zh-CN" altLang="en-US" sz="1800" dirty="0" smtClean="0"/>
              <a:t>跑一遍</a:t>
            </a:r>
            <a:r>
              <a:rPr lang="en-US" altLang="zh-CN" sz="1800" dirty="0" smtClean="0"/>
              <a:t>generate</a:t>
            </a:r>
          </a:p>
          <a:p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u1_in3dFormat_chg, u1_out3dFormat_chg</a:t>
            </a:r>
          </a:p>
          <a:p>
            <a:pPr lvl="1"/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2d-3d</a:t>
            </a: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是否</a:t>
            </a: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change</a:t>
            </a:r>
          </a:p>
          <a:p>
            <a:r>
              <a:rPr lang="en-US" altLang="zh-CN" sz="1800" dirty="0" smtClean="0">
                <a:solidFill>
                  <a:srgbClr val="FF0000"/>
                </a:solidFill>
              </a:rPr>
              <a:t>u1_deblur_lvl_chg, u1_dejudder_lvl_chg, u1_pulldown_mode_chg</a:t>
            </a:r>
          </a:p>
          <a:p>
            <a:pPr lvl="1"/>
            <a:r>
              <a:rPr lang="zh-CN" altLang="en-US" sz="1800" dirty="0">
                <a:solidFill>
                  <a:srgbClr val="FF0000"/>
                </a:solidFill>
              </a:rPr>
              <a:t>见后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r>
              <a:rPr lang="en-US" altLang="zh-CN" sz="1800" dirty="0" smtClean="0">
                <a:solidFill>
                  <a:srgbClr val="FF0000"/>
                </a:solidFill>
              </a:rPr>
              <a:t>u1_LowDelayMode_chg, u1_LowDelay_inframe_chg,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DC_off_on_flg</a:t>
            </a:r>
            <a:r>
              <a:rPr lang="en-US" altLang="zh-CN" sz="1800" dirty="0" smtClean="0">
                <a:solidFill>
                  <a:srgbClr val="FF0000"/>
                </a:solidFill>
              </a:rPr>
              <a:t>, u1_source_type_chg</a:t>
            </a:r>
          </a:p>
          <a:p>
            <a:pPr lvl="1"/>
            <a:r>
              <a:rPr lang="zh-CN" altLang="en-US" sz="1800" dirty="0" smtClean="0">
                <a:solidFill>
                  <a:srgbClr val="FF0000"/>
                </a:solidFill>
              </a:rPr>
              <a:t>是否有</a:t>
            </a:r>
            <a:r>
              <a:rPr lang="en-US" altLang="zh-CN" sz="1800" dirty="0" smtClean="0">
                <a:solidFill>
                  <a:srgbClr val="FF0000"/>
                </a:solidFill>
              </a:rPr>
              <a:t>call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lowdelay</a:t>
            </a:r>
            <a:r>
              <a:rPr lang="zh-CN" altLang="en-US" sz="1800" dirty="0" smtClean="0">
                <a:solidFill>
                  <a:srgbClr val="FF0000"/>
                </a:solidFill>
              </a:rPr>
              <a:t>的</a:t>
            </a:r>
            <a:r>
              <a:rPr lang="en-US" altLang="zh-CN" sz="1800" dirty="0" smtClean="0">
                <a:solidFill>
                  <a:srgbClr val="FF0000"/>
                </a:solidFill>
              </a:rPr>
              <a:t>function</a:t>
            </a:r>
            <a:r>
              <a:rPr lang="zh-CN" altLang="en-US" sz="1800" dirty="0" smtClean="0">
                <a:solidFill>
                  <a:srgbClr val="FF0000"/>
                </a:solidFill>
              </a:rPr>
              <a:t>，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lowdelay</a:t>
            </a:r>
            <a:r>
              <a:rPr lang="zh-CN" altLang="en-US" sz="1800" dirty="0" smtClean="0">
                <a:solidFill>
                  <a:srgbClr val="FF0000"/>
                </a:solidFill>
              </a:rPr>
              <a:t>是希望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memc</a:t>
            </a:r>
            <a:r>
              <a:rPr lang="en-US" altLang="zh-CN" sz="1800" dirty="0" smtClean="0">
                <a:solidFill>
                  <a:srgbClr val="FF0000"/>
                </a:solidFill>
              </a:rPr>
              <a:t> output</a:t>
            </a:r>
            <a:r>
              <a:rPr lang="zh-CN" altLang="en-US" sz="1800" dirty="0" smtClean="0">
                <a:solidFill>
                  <a:srgbClr val="FF0000"/>
                </a:solidFill>
              </a:rPr>
              <a:t>相对</a:t>
            </a:r>
            <a:r>
              <a:rPr lang="en-US" altLang="zh-CN" sz="1800" dirty="0" smtClean="0">
                <a:solidFill>
                  <a:srgbClr val="FF0000"/>
                </a:solidFill>
              </a:rPr>
              <a:t>input</a:t>
            </a:r>
            <a:r>
              <a:rPr lang="zh-CN" altLang="en-US" sz="1800" dirty="0" smtClean="0">
                <a:solidFill>
                  <a:srgbClr val="FF0000"/>
                </a:solidFill>
              </a:rPr>
              <a:t>的</a:t>
            </a:r>
            <a:r>
              <a:rPr lang="en-US" altLang="zh-CN" sz="1800" dirty="0" smtClean="0">
                <a:solidFill>
                  <a:srgbClr val="FF0000"/>
                </a:solidFill>
              </a:rPr>
              <a:t>delay</a:t>
            </a:r>
            <a:r>
              <a:rPr lang="zh-CN" altLang="en-US" sz="1800" dirty="0" smtClean="0">
                <a:solidFill>
                  <a:srgbClr val="FF0000"/>
                </a:solidFill>
              </a:rPr>
              <a:t>尽量短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r>
              <a:rPr lang="en-US" altLang="zh-CN" sz="1800" dirty="0" smtClean="0">
                <a:solidFill>
                  <a:srgbClr val="3333FF"/>
                </a:solidFill>
              </a:rPr>
              <a:t>u1_filmPh0_inPh_chg</a:t>
            </a:r>
          </a:p>
          <a:p>
            <a:pPr lvl="1"/>
            <a:r>
              <a:rPr lang="zh-CN" altLang="en-US" sz="1800" dirty="0">
                <a:solidFill>
                  <a:srgbClr val="3333FF"/>
                </a:solidFill>
              </a:rPr>
              <a:t>见后</a:t>
            </a:r>
          </a:p>
        </p:txBody>
      </p:sp>
    </p:spTree>
    <p:extLst>
      <p:ext uri="{BB962C8B-B14F-4D97-AF65-F5344CB8AC3E}">
        <p14:creationId xmlns:p14="http://schemas.microsoft.com/office/powerpoint/2010/main" val="70882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(FW)</a:t>
            </a:r>
            <a:r>
              <a:rPr lang="zh-CN" altLang="en-US" dirty="0" smtClean="0"/>
              <a:t>何时需要</a:t>
            </a:r>
            <a:r>
              <a:rPr lang="en-US" altLang="zh-CN" dirty="0" smtClean="0"/>
              <a:t>phase table generate? – </a:t>
            </a:r>
            <a:r>
              <a:rPr lang="en-US" altLang="zh-CN" dirty="0" err="1" smtClean="0">
                <a:solidFill>
                  <a:srgbClr val="FF0000"/>
                </a:solidFill>
              </a:rPr>
              <a:t>dejudder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52735"/>
          </a:xfrm>
        </p:spPr>
        <p:txBody>
          <a:bodyPr>
            <a:normAutofit/>
          </a:bodyPr>
          <a:lstStyle/>
          <a:p>
            <a:r>
              <a:rPr lang="en-US" altLang="zh-CN" sz="2800" dirty="0" err="1" smtClean="0"/>
              <a:t>Dejudder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lvl</a:t>
            </a:r>
            <a:r>
              <a:rPr lang="zh-CN" altLang="en-US" sz="2800" dirty="0" smtClean="0"/>
              <a:t>，精度</a:t>
            </a:r>
            <a:r>
              <a:rPr lang="en-US" altLang="zh-CN" sz="2800" dirty="0" smtClean="0"/>
              <a:t>7bits</a:t>
            </a:r>
          </a:p>
          <a:p>
            <a:r>
              <a:rPr lang="en-US" altLang="zh-CN" sz="2800" dirty="0" smtClean="0"/>
              <a:t>60hz panel</a:t>
            </a:r>
            <a:r>
              <a:rPr lang="zh-CN" altLang="en-US" sz="2800" dirty="0" smtClean="0"/>
              <a:t>播一般影片，是否</a:t>
            </a:r>
            <a:r>
              <a:rPr lang="en-US" altLang="zh-CN" sz="2800" dirty="0" smtClean="0"/>
              <a:t>judder</a:t>
            </a:r>
            <a:r>
              <a:rPr lang="zh-CN" altLang="en-US" sz="2800" dirty="0" smtClean="0"/>
              <a:t>是主要感受</a:t>
            </a:r>
            <a:endParaRPr lang="en-US" altLang="zh-CN" sz="2800" dirty="0" smtClean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864023"/>
              </p:ext>
            </p:extLst>
          </p:nvPr>
        </p:nvGraphicFramePr>
        <p:xfrm>
          <a:off x="179512" y="3140968"/>
          <a:ext cx="8784365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2" name="Visio" r:id="rId3" imgW="3531366" imgH="1128322" progId="Visio.Drawing.11">
                  <p:embed/>
                </p:oleObj>
              </mc:Choice>
              <mc:Fallback>
                <p:oleObj name="Visio" r:id="rId3" imgW="3531366" imgH="112832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3140968"/>
                        <a:ext cx="8784365" cy="280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253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(FW)</a:t>
            </a:r>
            <a:r>
              <a:rPr lang="zh-CN" altLang="en-US" sz="3600" dirty="0"/>
              <a:t>何时需要</a:t>
            </a:r>
            <a:r>
              <a:rPr lang="en-US" altLang="zh-CN" sz="3600" dirty="0"/>
              <a:t>phase table generate? – </a:t>
            </a:r>
            <a:r>
              <a:rPr lang="en-US" altLang="zh-CN" sz="3600" dirty="0" err="1">
                <a:solidFill>
                  <a:srgbClr val="FF0000"/>
                </a:solidFill>
              </a:rPr>
              <a:t>deblur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/>
              <a:t>Deblur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lvl</a:t>
            </a:r>
            <a:r>
              <a:rPr lang="zh-CN" altLang="en-US" sz="2400" dirty="0"/>
              <a:t>，精度</a:t>
            </a:r>
            <a:r>
              <a:rPr lang="en-US" altLang="zh-CN" sz="2400" dirty="0" smtClean="0"/>
              <a:t>7bits</a:t>
            </a:r>
          </a:p>
          <a:p>
            <a:r>
              <a:rPr lang="en-US" altLang="zh-CN" sz="2400" dirty="0" smtClean="0"/>
              <a:t>120hz panel</a:t>
            </a:r>
            <a:r>
              <a:rPr lang="zh-CN" altLang="en-US" sz="2400" dirty="0" smtClean="0"/>
              <a:t>播</a:t>
            </a:r>
            <a:r>
              <a:rPr lang="en-US" altLang="zh-CN" sz="2400" dirty="0" smtClean="0"/>
              <a:t>60hz</a:t>
            </a:r>
            <a:r>
              <a:rPr lang="zh-CN" altLang="en-US" sz="2400" dirty="0" smtClean="0"/>
              <a:t>影片，主要感受是是否</a:t>
            </a:r>
            <a:r>
              <a:rPr lang="en-US" altLang="zh-CN" sz="2400" dirty="0" smtClean="0"/>
              <a:t>blur</a:t>
            </a:r>
            <a:endParaRPr lang="zh-CN" altLang="en-US" sz="2400" dirty="0"/>
          </a:p>
          <a:p>
            <a:r>
              <a:rPr lang="en-US" altLang="zh-CN" sz="2400" dirty="0" smtClean="0"/>
              <a:t>24-&gt;120 == 24-&gt;60-&gt;120</a:t>
            </a:r>
          </a:p>
          <a:p>
            <a:pPr lvl="1"/>
            <a:r>
              <a:rPr lang="en-US" altLang="zh-CN" sz="2000" dirty="0" smtClean="0"/>
              <a:t>2-&gt;10 == 2-&gt;5-&gt;10</a:t>
            </a:r>
          </a:p>
          <a:p>
            <a:pPr lvl="1"/>
            <a:r>
              <a:rPr lang="zh-CN" altLang="en-US" sz="2000" dirty="0" smtClean="0"/>
              <a:t>所以</a:t>
            </a:r>
            <a:r>
              <a:rPr lang="en-US" altLang="zh-CN" sz="2000" dirty="0" smtClean="0"/>
              <a:t>120hz output</a:t>
            </a:r>
            <a:r>
              <a:rPr lang="zh-CN" altLang="en-US" sz="2000" dirty="0" smtClean="0"/>
              <a:t>的 </a:t>
            </a:r>
            <a:r>
              <a:rPr lang="en-US" altLang="zh-CN" sz="2000" dirty="0" smtClean="0"/>
              <a:t>phase</a:t>
            </a:r>
            <a:r>
              <a:rPr lang="zh-CN" altLang="en-US" sz="2000" dirty="0" smtClean="0"/>
              <a:t>可以看成是</a:t>
            </a:r>
            <a:r>
              <a:rPr lang="en-US" altLang="zh-CN" sz="2000" dirty="0" smtClean="0"/>
              <a:t>60hz output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phase</a:t>
            </a:r>
            <a:r>
              <a:rPr lang="zh-CN" altLang="en-US" sz="2000" dirty="0" smtClean="0"/>
              <a:t>再均分</a:t>
            </a:r>
            <a:endParaRPr lang="zh-CN" altLang="en-US" sz="20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054842"/>
              </p:ext>
            </p:extLst>
          </p:nvPr>
        </p:nvGraphicFramePr>
        <p:xfrm>
          <a:off x="467544" y="3643209"/>
          <a:ext cx="8208912" cy="3098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5" name="Visio" r:id="rId3" imgW="3781872" imgH="1426869" progId="Visio.Drawing.11">
                  <p:embed/>
                </p:oleObj>
              </mc:Choice>
              <mc:Fallback>
                <p:oleObj name="Visio" r:id="rId3" imgW="3781872" imgH="1426869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3643209"/>
                        <a:ext cx="8208912" cy="3098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904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(FW)</a:t>
            </a:r>
            <a:r>
              <a:rPr lang="zh-CN" altLang="en-US" dirty="0"/>
              <a:t>何时需要</a:t>
            </a:r>
            <a:r>
              <a:rPr lang="en-US" altLang="zh-CN" dirty="0"/>
              <a:t>phase table generate? – </a:t>
            </a:r>
            <a:r>
              <a:rPr lang="en-US" altLang="zh-CN" dirty="0" err="1" smtClean="0">
                <a:solidFill>
                  <a:srgbClr val="FF0000"/>
                </a:solidFill>
              </a:rPr>
              <a:t>pulldown_mode</a:t>
            </a:r>
            <a:endParaRPr lang="zh-CN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552450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43766" y="5725969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merlin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6237312"/>
            <a:ext cx="4683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+</a:t>
            </a:r>
            <a:r>
              <a:rPr lang="en-US" altLang="zh-CN" sz="2000" dirty="0" smtClean="0"/>
              <a:t> 60(4222) + </a:t>
            </a:r>
            <a:r>
              <a:rPr lang="en-US" altLang="zh-CN" sz="2000" dirty="0" err="1" smtClean="0"/>
              <a:t>mc_off</a:t>
            </a:r>
            <a:r>
              <a:rPr lang="en-US" altLang="zh-CN" sz="2000" dirty="0" smtClean="0"/>
              <a:t> =&gt; 60(4222) @merlin2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2915816" y="2060848"/>
            <a:ext cx="1512168" cy="72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92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(FW)</a:t>
            </a:r>
            <a:r>
              <a:rPr lang="zh-CN" altLang="en-US" dirty="0"/>
              <a:t>何时需要</a:t>
            </a:r>
            <a:r>
              <a:rPr lang="en-US" altLang="zh-CN" dirty="0"/>
              <a:t>phase table generate? </a:t>
            </a:r>
            <a:r>
              <a:rPr lang="en-US" altLang="zh-CN" dirty="0" smtClean="0"/>
              <a:t>– </a:t>
            </a:r>
            <a:r>
              <a:rPr lang="en-US" altLang="zh-CN" dirty="0" err="1" smtClean="0">
                <a:solidFill>
                  <a:srgbClr val="FF0000"/>
                </a:solidFill>
              </a:rPr>
              <a:t>LowDelayMode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51520" y="1975919"/>
            <a:ext cx="792088" cy="2567136"/>
            <a:chOff x="7740352" y="3573016"/>
            <a:chExt cx="792088" cy="2567136"/>
          </a:xfrm>
        </p:grpSpPr>
        <p:sp>
          <p:nvSpPr>
            <p:cNvPr id="6" name="矩形 5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</a:t>
              </a:r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</a:t>
              </a:r>
              <a:endParaRPr lang="zh-CN" altLang="en-US" dirty="0"/>
            </a:p>
          </p:txBody>
        </p:sp>
      </p:grpSp>
      <p:cxnSp>
        <p:nvCxnSpPr>
          <p:cNvPr id="12" name="直接箭头连接符 11"/>
          <p:cNvCxnSpPr/>
          <p:nvPr/>
        </p:nvCxnSpPr>
        <p:spPr>
          <a:xfrm flipH="1">
            <a:off x="1126266" y="3462935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187624" y="2623991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7624" y="3047655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47664" y="2407967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547664" y="2830723"/>
            <a:ext cx="37069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4283968" y="2004700"/>
            <a:ext cx="792088" cy="2567136"/>
            <a:chOff x="7740352" y="3573016"/>
            <a:chExt cx="792088" cy="2567136"/>
          </a:xfrm>
        </p:grpSpPr>
        <p:sp>
          <p:nvSpPr>
            <p:cNvPr id="18" name="矩形 17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</a:t>
              </a:r>
              <a:endParaRPr lang="zh-CN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</a:t>
              </a:r>
              <a:endParaRPr lang="zh-CN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</a:t>
              </a:r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 flipH="1">
            <a:off x="5139680" y="3491716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5129030" y="2762344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129030" y="3076436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17062" y="2618328"/>
            <a:ext cx="80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me1_I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95537" y="5385990"/>
            <a:ext cx="8496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 err="1" smtClean="0"/>
              <a:t>Lowdelaymode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memc</a:t>
            </a:r>
            <a:r>
              <a:rPr lang="en-US" altLang="zh-CN" dirty="0" smtClean="0"/>
              <a:t> off</a:t>
            </a:r>
            <a:r>
              <a:rPr lang="zh-CN" altLang="en-US" dirty="0" smtClean="0"/>
              <a:t>时才可能实现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en-US" altLang="zh-CN" dirty="0" err="1" smtClean="0"/>
              <a:t>Memc</a:t>
            </a:r>
            <a:r>
              <a:rPr lang="en-US" altLang="zh-CN" dirty="0" smtClean="0"/>
              <a:t> off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force p frame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为了让</a:t>
            </a:r>
            <a:r>
              <a:rPr lang="en-US" altLang="zh-CN" dirty="0" smtClean="0"/>
              <a:t>delay</a:t>
            </a:r>
            <a:r>
              <a:rPr lang="zh-CN" altLang="en-US" dirty="0" smtClean="0"/>
              <a:t>短，尽量让</a:t>
            </a:r>
            <a:r>
              <a:rPr lang="en-US" altLang="zh-CN" dirty="0" smtClean="0"/>
              <a:t>P frame</a:t>
            </a:r>
            <a:r>
              <a:rPr lang="zh-CN" altLang="en-US" dirty="0" smtClean="0"/>
              <a:t>靠近正在</a:t>
            </a:r>
            <a:r>
              <a:rPr lang="en-US" altLang="zh-CN" dirty="0" smtClean="0"/>
              <a:t>W</a:t>
            </a:r>
            <a:r>
              <a:rPr lang="zh-CN" altLang="en-US" dirty="0" smtClean="0"/>
              <a:t>的那张，不同</a:t>
            </a:r>
            <a:r>
              <a:rPr lang="en-US" altLang="zh-CN" dirty="0" smtClean="0"/>
              <a:t>case</a:t>
            </a:r>
            <a:r>
              <a:rPr lang="zh-CN" altLang="en-US" dirty="0" smtClean="0"/>
              <a:t>可能有不同规则，多尝试就行了</a:t>
            </a:r>
            <a:r>
              <a:rPr lang="en-US" altLang="zh-CN" dirty="0" smtClean="0"/>
              <a:t>(-&gt;Jerry)</a:t>
            </a:r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2123728" y="1979548"/>
            <a:ext cx="792088" cy="2567136"/>
            <a:chOff x="7740352" y="3573016"/>
            <a:chExt cx="792088" cy="2567136"/>
          </a:xfrm>
        </p:grpSpPr>
        <p:sp>
          <p:nvSpPr>
            <p:cNvPr id="31" name="矩形 30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</a:t>
              </a:r>
              <a:endParaRPr lang="zh-CN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</a:t>
              </a:r>
              <a:endParaRPr lang="zh-CN" altLang="en-US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</a:t>
              </a:r>
              <a:endParaRPr lang="zh-CN" altLang="en-US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</a:t>
              </a:r>
              <a:endParaRPr lang="zh-CN" altLang="en-US" dirty="0"/>
            </a:p>
          </p:txBody>
        </p:sp>
      </p:grpSp>
      <p:cxnSp>
        <p:nvCxnSpPr>
          <p:cNvPr id="37" name="直接箭头连接符 36"/>
          <p:cNvCxnSpPr/>
          <p:nvPr/>
        </p:nvCxnSpPr>
        <p:spPr>
          <a:xfrm flipH="1">
            <a:off x="2998474" y="3466564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3059832" y="2915652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3059832" y="3339316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19872" y="2699628"/>
            <a:ext cx="3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419872" y="3122384"/>
            <a:ext cx="37069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5427712" y="284364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me1_P</a:t>
            </a:r>
            <a:endParaRPr lang="zh-CN" altLang="en-US" dirty="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5139680" y="2267580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5139680" y="2581672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7712" y="2051556"/>
            <a:ext cx="80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me2_I</a:t>
            </a:r>
            <a:endParaRPr lang="zh-CN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5438362" y="2348880"/>
            <a:ext cx="93610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me2_P</a:t>
            </a:r>
            <a:endParaRPr lang="zh-CN" altLang="en-US" dirty="0"/>
          </a:p>
        </p:txBody>
      </p:sp>
      <p:grpSp>
        <p:nvGrpSpPr>
          <p:cNvPr id="59" name="组合 58"/>
          <p:cNvGrpSpPr/>
          <p:nvPr/>
        </p:nvGrpSpPr>
        <p:grpSpPr>
          <a:xfrm>
            <a:off x="6433558" y="2004700"/>
            <a:ext cx="792088" cy="2567136"/>
            <a:chOff x="7740352" y="3573016"/>
            <a:chExt cx="792088" cy="2567136"/>
          </a:xfrm>
        </p:grpSpPr>
        <p:sp>
          <p:nvSpPr>
            <p:cNvPr id="60" name="矩形 59"/>
            <p:cNvSpPr/>
            <p:nvPr/>
          </p:nvSpPr>
          <p:spPr>
            <a:xfrm>
              <a:off x="7740352" y="357301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B</a:t>
              </a:r>
              <a:endParaRPr lang="zh-CN" altLang="en-US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7740352" y="400506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C</a:t>
              </a:r>
              <a:endParaRPr lang="zh-CN" altLang="en-US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7740352" y="442872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</a:t>
              </a:r>
              <a:endParaRPr lang="zh-CN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7740352" y="4844008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7740352" y="5276056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Z</a:t>
              </a:r>
              <a:endParaRPr lang="zh-CN" altLang="en-US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7740352" y="5708104"/>
              <a:ext cx="792088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</a:t>
              </a:r>
              <a:endParaRPr lang="zh-CN" altLang="en-US" dirty="0"/>
            </a:p>
          </p:txBody>
        </p:sp>
      </p:grpSp>
      <p:cxnSp>
        <p:nvCxnSpPr>
          <p:cNvPr id="66" name="直接箭头连接符 65"/>
          <p:cNvCxnSpPr/>
          <p:nvPr/>
        </p:nvCxnSpPr>
        <p:spPr>
          <a:xfrm flipH="1">
            <a:off x="7227912" y="3563724"/>
            <a:ext cx="3600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7278620" y="3041084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7278620" y="3355176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566652" y="3185100"/>
            <a:ext cx="80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me1_I</a:t>
            </a:r>
            <a:endParaRPr lang="zh-CN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7577302" y="369844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me1_P</a:t>
            </a:r>
            <a:endParaRPr lang="zh-CN" altLang="en-US" dirty="0"/>
          </a:p>
        </p:txBody>
      </p:sp>
      <p:cxnSp>
        <p:nvCxnSpPr>
          <p:cNvPr id="76" name="直接连接符 75"/>
          <p:cNvCxnSpPr/>
          <p:nvPr/>
        </p:nvCxnSpPr>
        <p:spPr>
          <a:xfrm>
            <a:off x="3995936" y="1763524"/>
            <a:ext cx="0" cy="33843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02616" y="1484784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60video-&gt;60@merlin</a:t>
            </a:r>
            <a:endParaRPr lang="zh-CN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4779080" y="1484784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60video-&gt;60@merlin2</a:t>
            </a:r>
            <a:endParaRPr lang="zh-CN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51520" y="478786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normal</a:t>
            </a:r>
            <a:endParaRPr lang="zh-CN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2131499" y="4787860"/>
            <a:ext cx="1022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lowdelay</a:t>
            </a:r>
            <a:endParaRPr lang="zh-CN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4283968" y="478786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normal</a:t>
            </a:r>
            <a:endParaRPr lang="zh-CN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6286101" y="4787860"/>
            <a:ext cx="1022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lowdelay</a:t>
            </a:r>
            <a:endParaRPr lang="zh-CN" alt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8233758" y="2825060"/>
            <a:ext cx="802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me2_I</a:t>
            </a:r>
            <a:endParaRPr lang="zh-CN" alt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8244408" y="3122384"/>
            <a:ext cx="93610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me2_P</a:t>
            </a:r>
            <a:endParaRPr lang="zh-CN" altLang="en-US" dirty="0"/>
          </a:p>
        </p:txBody>
      </p:sp>
      <p:cxnSp>
        <p:nvCxnSpPr>
          <p:cNvPr id="88" name="直接箭头连接符 87"/>
          <p:cNvCxnSpPr/>
          <p:nvPr/>
        </p:nvCxnSpPr>
        <p:spPr>
          <a:xfrm>
            <a:off x="7308304" y="3923764"/>
            <a:ext cx="29868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29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(FW)</a:t>
            </a:r>
            <a:r>
              <a:rPr lang="zh-CN" altLang="en-US" dirty="0"/>
              <a:t>何时需要</a:t>
            </a:r>
            <a:r>
              <a:rPr lang="en-US" altLang="zh-CN" dirty="0"/>
              <a:t>phase table generate? – </a:t>
            </a:r>
            <a:r>
              <a:rPr lang="en-US" altLang="zh-CN" dirty="0" smtClean="0">
                <a:solidFill>
                  <a:srgbClr val="FF0000"/>
                </a:solidFill>
              </a:rPr>
              <a:t>u1_filmPh0_inPh_chg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不</a:t>
            </a:r>
            <a:r>
              <a:rPr lang="zh-CN" altLang="en-US" sz="2400" dirty="0" smtClean="0"/>
              <a:t>常用，目前</a:t>
            </a:r>
            <a:r>
              <a:rPr lang="en-US" altLang="zh-CN" sz="2400" dirty="0" smtClean="0"/>
              <a:t>merlin2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case</a:t>
            </a:r>
            <a:r>
              <a:rPr lang="zh-CN" altLang="en-US" sz="2400" dirty="0" smtClean="0"/>
              <a:t>其实不需要用此</a:t>
            </a:r>
            <a:r>
              <a:rPr lang="en-US" altLang="zh-CN" sz="2400" dirty="0" smtClean="0"/>
              <a:t>flag</a:t>
            </a:r>
          </a:p>
          <a:p>
            <a:r>
              <a:rPr lang="zh-CN" altLang="en-US" sz="2400" dirty="0"/>
              <a:t>什么</a:t>
            </a:r>
            <a:r>
              <a:rPr lang="zh-CN" altLang="en-US" sz="2400" dirty="0" smtClean="0"/>
              <a:t>时候需要用？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Cadence: </a:t>
            </a:r>
            <a:r>
              <a:rPr lang="en-US" altLang="zh-CN" sz="2000" dirty="0" err="1" smtClean="0"/>
              <a:t>no_repeated_frame:period_frame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inLen:outLen</a:t>
            </a:r>
            <a:endParaRPr lang="en-US" altLang="zh-CN" sz="2000" dirty="0" smtClean="0"/>
          </a:p>
          <a:p>
            <a:pPr lvl="2"/>
            <a:r>
              <a:rPr lang="en-US" altLang="zh-CN" sz="1800" dirty="0" smtClean="0"/>
              <a:t>32, 2:5; 22, 1:2; 32322, 5:12…</a:t>
            </a:r>
          </a:p>
          <a:p>
            <a:pPr lvl="1"/>
            <a:r>
              <a:rPr lang="en-US" altLang="zh-CN" sz="2000" dirty="0" smtClean="0"/>
              <a:t>N2M</a:t>
            </a:r>
          </a:p>
          <a:p>
            <a:pPr lvl="2"/>
            <a:r>
              <a:rPr lang="en-US" altLang="zh-CN" sz="1800" dirty="0" smtClean="0"/>
              <a:t>30to60, 1:2; 24to60, 2:5; 24to120, 2:10…</a:t>
            </a:r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6732240" y="5651956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&lt;- filmPh0_inPh = 0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607274"/>
              </p:ext>
            </p:extLst>
          </p:nvPr>
        </p:nvGraphicFramePr>
        <p:xfrm>
          <a:off x="634698" y="3861048"/>
          <a:ext cx="6169550" cy="299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0" name="工作表" r:id="rId4" imgW="5352927" imgH="2600270" progId="Excel.Sheet.12">
                  <p:embed/>
                </p:oleObj>
              </mc:Choice>
              <mc:Fallback>
                <p:oleObj name="工作表" r:id="rId4" imgW="5352927" imgH="260027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4698" y="3861048"/>
                        <a:ext cx="6169550" cy="2996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32240" y="6372036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&lt;- filmPh0_inPh = 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04248" y="4859868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&lt;- filmPh0_inPh = 0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67544" y="5301208"/>
            <a:ext cx="8352928" cy="1484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(FW)</a:t>
            </a:r>
            <a:r>
              <a:rPr lang="zh-CN" altLang="en-US" dirty="0"/>
              <a:t>何时需要</a:t>
            </a:r>
            <a:r>
              <a:rPr lang="en-US" altLang="zh-CN" dirty="0"/>
              <a:t>phase table generate? – </a:t>
            </a:r>
            <a:r>
              <a:rPr lang="en-US" altLang="zh-CN" dirty="0" smtClean="0">
                <a:solidFill>
                  <a:srgbClr val="FF0000"/>
                </a:solidFill>
              </a:rPr>
              <a:t>u1_filmPh0_inPh_chg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什么</a:t>
            </a:r>
            <a:r>
              <a:rPr lang="zh-CN" altLang="en-US" sz="2800" dirty="0" smtClean="0"/>
              <a:t>时候需要用？</a:t>
            </a:r>
            <a:endParaRPr lang="en-US" altLang="zh-CN" sz="2800" dirty="0" smtClean="0"/>
          </a:p>
          <a:p>
            <a:pPr lvl="1"/>
            <a:r>
              <a:rPr lang="en-US" altLang="zh-CN" sz="2000" dirty="0" err="1" smtClean="0"/>
              <a:t>outLen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的最大公约数</a:t>
            </a:r>
            <a:r>
              <a:rPr lang="en-US" altLang="zh-CN" sz="2000" dirty="0" smtClean="0"/>
              <a:t>&gt;1</a:t>
            </a:r>
            <a:r>
              <a:rPr lang="zh-CN" altLang="en-US" sz="2000" dirty="0" smtClean="0"/>
              <a:t>的时候</a:t>
            </a:r>
            <a:endParaRPr lang="zh-CN" altLang="en-US" sz="20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674021"/>
              </p:ext>
            </p:extLst>
          </p:nvPr>
        </p:nvGraphicFramePr>
        <p:xfrm>
          <a:off x="810618" y="2636912"/>
          <a:ext cx="2393230" cy="2651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0" name="工作表" r:id="rId4" imgW="1762174" imgH="1952700" progId="Excel.Sheet.12">
                  <p:embed/>
                </p:oleObj>
              </mc:Choice>
              <mc:Fallback>
                <p:oleObj name="工作表" r:id="rId4" imgW="1762174" imgH="1952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0618" y="2636912"/>
                        <a:ext cx="2393230" cy="2651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10546" y="3429000"/>
            <a:ext cx="5165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 </a:t>
            </a:r>
            <a:r>
              <a:rPr lang="en-US" altLang="zh-CN" dirty="0" err="1" smtClean="0"/>
              <a:t>filmPh</a:t>
            </a:r>
            <a:r>
              <a:rPr lang="zh-CN" altLang="en-US" dirty="0"/>
              <a:t>：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 1 2 3 4 5 6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 1 2 3 4 5 6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 1 2 3 4 5 6</a:t>
            </a:r>
          </a:p>
          <a:p>
            <a:r>
              <a:rPr lang="en-US" altLang="zh-CN" dirty="0" err="1" smtClean="0"/>
              <a:t>inPhase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0 1 2 0 1 2 0 1 2 0 1 2 0 1 2 0 1 2 0 1 2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510546" y="4366845"/>
            <a:ext cx="20162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 </a:t>
            </a:r>
            <a:r>
              <a:rPr lang="en-US" altLang="zh-CN" dirty="0" err="1" smtClean="0"/>
              <a:t>filmPh</a:t>
            </a:r>
            <a:r>
              <a:rPr lang="zh-CN" altLang="en-US" dirty="0" smtClean="0"/>
              <a:t>：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 1 2 </a:t>
            </a:r>
          </a:p>
          <a:p>
            <a:r>
              <a:rPr lang="en-US" altLang="zh-CN" dirty="0" err="1" smtClean="0"/>
              <a:t>inPhase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0 1 2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filmPh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1 2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/>
              <a:t>inPhase</a:t>
            </a:r>
            <a:r>
              <a:rPr lang="zh-CN" altLang="en-US" dirty="0"/>
              <a:t>：</a:t>
            </a:r>
            <a:r>
              <a:rPr lang="en-US" altLang="zh-CN" dirty="0"/>
              <a:t>0 1 </a:t>
            </a:r>
            <a:r>
              <a:rPr lang="en-US" altLang="zh-CN" dirty="0" smtClean="0"/>
              <a:t>2</a:t>
            </a:r>
          </a:p>
          <a:p>
            <a:r>
              <a:rPr lang="en-US" altLang="zh-CN" dirty="0" smtClean="0"/>
              <a:t>   </a:t>
            </a:r>
            <a:r>
              <a:rPr lang="en-US" altLang="zh-CN" dirty="0" err="1"/>
              <a:t>filmPh</a:t>
            </a:r>
            <a:r>
              <a:rPr lang="zh-CN" altLang="en-US" dirty="0" smtClean="0"/>
              <a:t>：</a:t>
            </a:r>
            <a:r>
              <a:rPr lang="en-US" altLang="zh-CN" dirty="0" smtClean="0"/>
              <a:t>2 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 1</a:t>
            </a:r>
            <a:endParaRPr lang="en-US" altLang="zh-CN" dirty="0"/>
          </a:p>
          <a:p>
            <a:r>
              <a:rPr lang="en-US" altLang="zh-CN" dirty="0" err="1"/>
              <a:t>inPhase</a:t>
            </a:r>
            <a:r>
              <a:rPr lang="zh-CN" altLang="en-US" dirty="0"/>
              <a:t>：</a:t>
            </a:r>
            <a:r>
              <a:rPr lang="en-US" altLang="zh-CN" dirty="0"/>
              <a:t>0 1 2</a:t>
            </a:r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539552" y="4293096"/>
            <a:ext cx="7920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50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(</a:t>
            </a:r>
            <a:r>
              <a:rPr lang="en-US" altLang="zh-CN" sz="3200" dirty="0" smtClean="0"/>
              <a:t>FW)</a:t>
            </a:r>
            <a:r>
              <a:rPr lang="en-US" altLang="zh-CN" sz="3200" dirty="0" err="1" smtClean="0"/>
              <a:t>FilmDet</a:t>
            </a:r>
            <a:r>
              <a:rPr lang="zh-CN" altLang="en-US" sz="3200" dirty="0" smtClean="0"/>
              <a:t>算的</a:t>
            </a:r>
            <a:r>
              <a:rPr lang="en-US" altLang="zh-CN" sz="3200" dirty="0" err="1" smtClean="0"/>
              <a:t>filmPhase</a:t>
            </a:r>
            <a:r>
              <a:rPr lang="zh-CN" altLang="en-US" sz="3200" dirty="0" smtClean="0"/>
              <a:t>与</a:t>
            </a:r>
            <a:r>
              <a:rPr lang="en-US" altLang="zh-CN" sz="3200" dirty="0" err="1" smtClean="0"/>
              <a:t>reg_kphase_sw_film_phase</a:t>
            </a:r>
            <a:r>
              <a:rPr lang="zh-CN" altLang="en-US" sz="3200" dirty="0" smtClean="0"/>
              <a:t>的关系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095527"/>
              </p:ext>
            </p:extLst>
          </p:nvPr>
        </p:nvGraphicFramePr>
        <p:xfrm>
          <a:off x="755576" y="1772816"/>
          <a:ext cx="7893632" cy="295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1" name="Visio" r:id="rId3" imgW="3018479" imgH="1128862" progId="Visio.Drawing.11">
                  <p:embed/>
                </p:oleObj>
              </mc:Choice>
              <mc:Fallback>
                <p:oleObj name="Visio" r:id="rId3" imgW="3018479" imgH="1128862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1772816"/>
                        <a:ext cx="7893632" cy="2952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7584" y="5157192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所以，写</a:t>
            </a:r>
            <a:r>
              <a:rPr lang="en-US" altLang="zh-CN" sz="2400" dirty="0" err="1" smtClean="0"/>
              <a:t>reg_kphase_sw_film_phase</a:t>
            </a:r>
            <a:r>
              <a:rPr lang="zh-CN" altLang="en-US" sz="2400" dirty="0" smtClean="0"/>
              <a:t>时，会</a:t>
            </a:r>
            <a:r>
              <a:rPr lang="zh-CN" altLang="en-US" sz="2400" dirty="0"/>
              <a:t>将</a:t>
            </a:r>
            <a:r>
              <a:rPr lang="en-US" altLang="zh-CN" sz="2400" dirty="0" err="1" smtClean="0"/>
              <a:t>FilmDet</a:t>
            </a:r>
            <a:r>
              <a:rPr lang="zh-CN" altLang="en-US" sz="2400" dirty="0" smtClean="0"/>
              <a:t>给过来的</a:t>
            </a:r>
            <a:r>
              <a:rPr lang="en-US" altLang="zh-CN" sz="2400" dirty="0" smtClean="0"/>
              <a:t>filmPhase+1</a:t>
            </a:r>
            <a:r>
              <a:rPr lang="zh-CN" altLang="en-US" sz="2400" dirty="0" smtClean="0"/>
              <a:t>后再写下去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9245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(</a:t>
            </a:r>
            <a:r>
              <a:rPr lang="en-US" altLang="zh-CN" sz="3600" dirty="0" smtClean="0"/>
              <a:t>FW)</a:t>
            </a:r>
            <a:r>
              <a:rPr lang="en-US" altLang="zh-CN" sz="3600" dirty="0" err="1" smtClean="0"/>
              <a:t>usableFlag</a:t>
            </a:r>
            <a:r>
              <a:rPr lang="zh-CN" altLang="en-US" sz="3600" dirty="0" smtClean="0"/>
              <a:t>在</a:t>
            </a:r>
            <a:r>
              <a:rPr lang="en-US" altLang="zh-CN" sz="3600" dirty="0" smtClean="0"/>
              <a:t>merlin</a:t>
            </a:r>
            <a:r>
              <a:rPr lang="zh-CN" altLang="en-US" sz="3600" dirty="0" smtClean="0"/>
              <a:t>和</a:t>
            </a:r>
            <a:r>
              <a:rPr lang="en-US" altLang="zh-CN" sz="3600" dirty="0" smtClean="0"/>
              <a:t>merlin2</a:t>
            </a:r>
            <a:r>
              <a:rPr lang="zh-CN" altLang="en-US" sz="3600" dirty="0" smtClean="0"/>
              <a:t>的差异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17243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32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A0A1A2B0B1</a:t>
            </a:r>
          </a:p>
          <a:p>
            <a:r>
              <a:rPr lang="en-US" altLang="zh-CN" sz="2400" dirty="0" smtClean="0"/>
              <a:t>Merlin</a:t>
            </a:r>
          </a:p>
          <a:p>
            <a:pPr lvl="1"/>
            <a:r>
              <a:rPr lang="en-US" altLang="zh-CN" sz="2000" dirty="0" smtClean="0"/>
              <a:t>A2</a:t>
            </a:r>
            <a:r>
              <a:rPr lang="zh-CN" altLang="en-US" sz="2000" dirty="0" smtClean="0"/>
              <a:t>不用，写</a:t>
            </a:r>
            <a:r>
              <a:rPr lang="en-US" altLang="zh-CN" sz="2000" dirty="0" smtClean="0"/>
              <a:t>frame</a:t>
            </a:r>
            <a:r>
              <a:rPr lang="zh-CN" altLang="en-US" sz="2000" dirty="0" smtClean="0"/>
              <a:t>时，</a:t>
            </a:r>
            <a:r>
              <a:rPr lang="en-US" altLang="zh-CN" sz="2000" dirty="0" smtClean="0"/>
              <a:t>B0</a:t>
            </a:r>
            <a:r>
              <a:rPr lang="zh-CN" altLang="en-US" sz="2000" dirty="0" smtClean="0"/>
              <a:t>讲</a:t>
            </a:r>
            <a:r>
              <a:rPr lang="en-US" altLang="zh-CN" sz="2000" dirty="0" smtClean="0"/>
              <a:t>A2</a:t>
            </a:r>
            <a:r>
              <a:rPr lang="zh-CN" altLang="en-US" sz="2000" dirty="0" smtClean="0"/>
              <a:t>盖掉</a:t>
            </a:r>
            <a:endParaRPr lang="en-US" altLang="zh-CN" sz="2000" dirty="0" smtClean="0"/>
          </a:p>
          <a:p>
            <a:r>
              <a:rPr lang="en-US" altLang="zh-CN" sz="2400" dirty="0" smtClean="0"/>
              <a:t>Merlin2</a:t>
            </a:r>
          </a:p>
          <a:p>
            <a:pPr lvl="1"/>
            <a:r>
              <a:rPr lang="en-US" altLang="zh-CN" sz="2000" dirty="0" smtClean="0"/>
              <a:t>A2</a:t>
            </a:r>
            <a:r>
              <a:rPr lang="zh-CN" altLang="en-US" sz="2000" dirty="0" smtClean="0"/>
              <a:t>会把</a:t>
            </a:r>
            <a:r>
              <a:rPr lang="en-US" altLang="zh-CN" sz="2000" dirty="0" smtClean="0"/>
              <a:t>A1</a:t>
            </a:r>
            <a:r>
              <a:rPr lang="zh-CN" altLang="en-US" sz="2000" dirty="0" smtClean="0"/>
              <a:t>盖掉</a:t>
            </a:r>
            <a:endParaRPr lang="en-US" altLang="zh-CN" sz="2000" dirty="0" smtClean="0"/>
          </a:p>
          <a:p>
            <a:r>
              <a:rPr lang="en-US" altLang="zh-CN" sz="2400" dirty="0" smtClean="0"/>
              <a:t>Just reminder~ </a:t>
            </a:r>
            <a:r>
              <a:rPr lang="zh-CN" altLang="en-US" sz="2400" dirty="0" smtClean="0"/>
              <a:t>不同人写的，</a:t>
            </a:r>
            <a:r>
              <a:rPr lang="en-US" altLang="zh-CN" sz="2400" dirty="0" smtClean="0"/>
              <a:t>merlin</a:t>
            </a:r>
            <a:r>
              <a:rPr lang="zh-CN" altLang="en-US" sz="2400" dirty="0" smtClean="0"/>
              <a:t>比</a:t>
            </a:r>
            <a:r>
              <a:rPr lang="en-US" altLang="zh-CN" sz="2400" dirty="0" smtClean="0"/>
              <a:t>merlin2</a:t>
            </a:r>
            <a:r>
              <a:rPr lang="zh-CN" altLang="en-US" sz="2400" dirty="0" smtClean="0"/>
              <a:t>逻辑上更合理，但</a:t>
            </a:r>
            <a:r>
              <a:rPr lang="en-US" altLang="zh-CN" sz="2400" dirty="0" smtClean="0"/>
              <a:t>merlin2</a:t>
            </a:r>
            <a:r>
              <a:rPr lang="zh-CN" altLang="en-US" sz="2400" dirty="0" smtClean="0"/>
              <a:t>的</a:t>
            </a:r>
            <a:r>
              <a:rPr lang="en-US" altLang="zh-CN" sz="2400" dirty="0" smtClean="0"/>
              <a:t>FW</a:t>
            </a:r>
            <a:r>
              <a:rPr lang="zh-CN" altLang="en-US" sz="2400" dirty="0" smtClean="0"/>
              <a:t>似乎没有大问题，也就没有改动</a:t>
            </a:r>
            <a:endParaRPr lang="zh-CN" altLang="en-US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821706"/>
              </p:ext>
            </p:extLst>
          </p:nvPr>
        </p:nvGraphicFramePr>
        <p:xfrm>
          <a:off x="827584" y="1556792"/>
          <a:ext cx="2249373" cy="823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2" name="工作表" r:id="rId4" imgW="1352674" imgH="495328" progId="Excel.Sheet.12">
                  <p:embed/>
                </p:oleObj>
              </mc:Choice>
              <mc:Fallback>
                <p:oleObj name="工作表" r:id="rId4" imgW="1352674" imgH="49532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584" y="1556792"/>
                        <a:ext cx="2249373" cy="823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06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(FW) </a:t>
            </a:r>
            <a:r>
              <a:rPr lang="en-US" altLang="zh-CN" dirty="0" err="1" smtClean="0"/>
              <a:t>system_dly</a:t>
            </a:r>
            <a:r>
              <a:rPr lang="en-US" altLang="zh-CN" dirty="0" smtClean="0"/>
              <a:t>(@merlin2)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4" y="692696"/>
            <a:ext cx="7056783" cy="2850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942935"/>
              </p:ext>
            </p:extLst>
          </p:nvPr>
        </p:nvGraphicFramePr>
        <p:xfrm>
          <a:off x="2942201" y="4193924"/>
          <a:ext cx="6197018" cy="264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Visio" r:id="rId4" imgW="4058021" imgH="1660631" progId="Visio.Drawing.11">
                  <p:embed/>
                </p:oleObj>
              </mc:Choice>
              <mc:Fallback>
                <p:oleObj name="Visio" r:id="rId4" imgW="4058021" imgH="1660631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42201" y="4193924"/>
                        <a:ext cx="6197018" cy="2649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753730" y="3824592"/>
            <a:ext cx="239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@merlin: </a:t>
            </a:r>
            <a:r>
              <a:rPr lang="en-US" altLang="zh-CN" dirty="0" err="1" smtClean="0"/>
              <a:t>system_dly</a:t>
            </a:r>
            <a:r>
              <a:rPr lang="en-US" altLang="zh-CN" dirty="0" smtClean="0"/>
              <a:t>=0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-45338" y="2826802"/>
            <a:ext cx="56166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家</a:t>
            </a:r>
            <a:r>
              <a:rPr lang="zh-CN" altLang="en-US" dirty="0" smtClean="0"/>
              <a:t>汉</a:t>
            </a:r>
            <a:r>
              <a:rPr lang="en-US" altLang="zh-CN" dirty="0" smtClean="0"/>
              <a:t>comment:</a:t>
            </a:r>
          </a:p>
          <a:p>
            <a:pPr marL="342900" indent="-342900">
              <a:buAutoNum type="arabicPeriod"/>
            </a:pPr>
            <a:r>
              <a:rPr lang="en-US" altLang="zh-CN" dirty="0" err="1" smtClean="0"/>
              <a:t>mc_vtrig</a:t>
            </a:r>
            <a:r>
              <a:rPr lang="en-US" altLang="zh-CN" dirty="0" smtClean="0"/>
              <a:t>&lt;</a:t>
            </a:r>
            <a:r>
              <a:rPr lang="en-US" altLang="zh-CN" dirty="0" err="1" smtClean="0">
                <a:solidFill>
                  <a:srgbClr val="FF0000"/>
                </a:solidFill>
              </a:rPr>
              <a:t>dec_vtrig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lbmc_vtrig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en-US" altLang="zh-CN" dirty="0" smtClean="0"/>
              <a:t>For </a:t>
            </a:r>
            <a:r>
              <a:rPr lang="en-US" altLang="zh-CN" dirty="0" err="1" smtClean="0"/>
              <a:t>me_work_mode</a:t>
            </a:r>
            <a:r>
              <a:rPr lang="en-US" altLang="zh-CN" dirty="0" smtClean="0"/>
              <a:t> enable, </a:t>
            </a:r>
            <a:r>
              <a:rPr lang="zh-CN" altLang="en-US" dirty="0" smtClean="0"/>
              <a:t>一张</a:t>
            </a:r>
            <a:r>
              <a:rPr lang="en-US" altLang="zh-CN" dirty="0" smtClean="0"/>
              <a:t>mc frame</a:t>
            </a:r>
            <a:r>
              <a:rPr lang="zh-CN" altLang="en-US" dirty="0" smtClean="0"/>
              <a:t>的时间要做两次</a:t>
            </a:r>
            <a:r>
              <a:rPr lang="en-US" altLang="zh-CN" dirty="0" smtClean="0"/>
              <a:t>me1</a:t>
            </a:r>
            <a:r>
              <a:rPr lang="zh-CN" altLang="en-US" dirty="0" smtClean="0"/>
              <a:t>，两次都要拿到一样的</a:t>
            </a:r>
            <a:r>
              <a:rPr lang="en-US" altLang="zh-CN" dirty="0" smtClean="0"/>
              <a:t>phase table</a:t>
            </a:r>
            <a:r>
              <a:rPr lang="zh-CN" altLang="en-US" dirty="0" smtClean="0"/>
              <a:t>和</a:t>
            </a:r>
            <a:r>
              <a:rPr lang="en-US" altLang="zh-CN" dirty="0" smtClean="0"/>
              <a:t>frame info</a:t>
            </a:r>
          </a:p>
          <a:p>
            <a:pPr marL="800100" lvl="1" indent="-342900">
              <a:buAutoNum type="arabicPeriod"/>
            </a:pPr>
            <a:r>
              <a:rPr lang="en-US" altLang="zh-CN" dirty="0" err="1" smtClean="0">
                <a:solidFill>
                  <a:srgbClr val="FF0000"/>
                </a:solidFill>
              </a:rPr>
              <a:t>dec_vtrig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次</a:t>
            </a:r>
            <a:r>
              <a:rPr lang="en-US" altLang="zh-CN" dirty="0" smtClean="0"/>
              <a:t>me1_vtrig=</a:t>
            </a:r>
            <a:r>
              <a:rPr lang="en-US" altLang="zh-CN" dirty="0" err="1" smtClean="0"/>
              <a:t>vtotal</a:t>
            </a:r>
            <a:r>
              <a:rPr lang="en-US" altLang="zh-CN" dirty="0" smtClean="0"/>
              <a:t>/2+me1_vtrig</a:t>
            </a:r>
          </a:p>
        </p:txBody>
      </p:sp>
    </p:spTree>
    <p:extLst>
      <p:ext uri="{BB962C8B-B14F-4D97-AF65-F5344CB8AC3E}">
        <p14:creationId xmlns:p14="http://schemas.microsoft.com/office/powerpoint/2010/main" val="180832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10019</TotalTime>
  <Words>2684</Words>
  <Application>Microsoft Office PowerPoint</Application>
  <PresentationFormat>全屏显示(4:3)</PresentationFormat>
  <Paragraphs>537</Paragraphs>
  <Slides>44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48" baseType="lpstr">
      <vt:lpstr>Office 主题​​</vt:lpstr>
      <vt:lpstr>Visio</vt:lpstr>
      <vt:lpstr>工作表</vt:lpstr>
      <vt:lpstr>Microsoft Excel Worksheet</vt:lpstr>
      <vt:lpstr>Phase Table</vt:lpstr>
      <vt:lpstr>Outline</vt:lpstr>
      <vt:lpstr>为什么需要phase table?</vt:lpstr>
      <vt:lpstr>为什么需要phase table?</vt:lpstr>
      <vt:lpstr>为什么需要phase table?</vt:lpstr>
      <vt:lpstr>为什么需要phase table?</vt:lpstr>
      <vt:lpstr>为什么需要phase table?</vt:lpstr>
      <vt:lpstr>什么是phase table?</vt:lpstr>
      <vt:lpstr>什么是phase table?</vt:lpstr>
      <vt:lpstr>什么是phase table? (merlin2)</vt:lpstr>
      <vt:lpstr>什么是phase table?(merlin)</vt:lpstr>
      <vt:lpstr>什么是phase table?</vt:lpstr>
      <vt:lpstr>什么是phase table?-Part2. Input Table (merlin2)</vt:lpstr>
      <vt:lpstr>什么是phase table?-Part2. Input Table (merlin)</vt:lpstr>
      <vt:lpstr>什么是phase table?-Part1. Output Table (merlin2)</vt:lpstr>
      <vt:lpstr>什么是phase table?-Part1. Output Table (merlin)</vt:lpstr>
      <vt:lpstr>什么是phase table?-Part1. Output Table</vt:lpstr>
      <vt:lpstr>什么是phase table?-Part1. Output Table</vt:lpstr>
      <vt:lpstr>什么是phase table?-Part1. Output Table</vt:lpstr>
      <vt:lpstr>什么是phase table?-Part1. Output Table</vt:lpstr>
      <vt:lpstr>什么是phase table?-Part1. Output Table</vt:lpstr>
      <vt:lpstr>什么是phase table?-Part3. 连续12帧readback</vt:lpstr>
      <vt:lpstr>什么是phase table?-Part4. global readback</vt:lpstr>
      <vt:lpstr>何时需要phase table generate?</vt:lpstr>
      <vt:lpstr>何时需要phase table generate?</vt:lpstr>
      <vt:lpstr>怎样实现phase table generate? – inTable(merlin2)</vt:lpstr>
      <vt:lpstr>怎样实现phase table generate? – inTable(merlin)</vt:lpstr>
      <vt:lpstr>怎样实现phase table  generate? – outTable(merlin2)</vt:lpstr>
      <vt:lpstr>怎样实现phase table  generate? – outTable(merlin2)</vt:lpstr>
      <vt:lpstr>怎样实现phase table  generate? – outTable(merlin2)</vt:lpstr>
      <vt:lpstr>怎样实现phase table  generate? – outTable(merlin)</vt:lpstr>
      <vt:lpstr>怎样实现phase table generate? - 需要哪些初始化的量</vt:lpstr>
      <vt:lpstr>怎样实现phase table generate? – filmPh</vt:lpstr>
      <vt:lpstr>(FW)何时需要phase table generate?</vt:lpstr>
      <vt:lpstr>(FW)何时需要phase table generate?</vt:lpstr>
      <vt:lpstr>(FW)何时需要phase table generate? – dejudder</vt:lpstr>
      <vt:lpstr>(FW)何时需要phase table generate? – deblur</vt:lpstr>
      <vt:lpstr>(FW)何时需要phase table generate? – pulldown_mode</vt:lpstr>
      <vt:lpstr>(FW)何时需要phase table generate? – LowDelayMode</vt:lpstr>
      <vt:lpstr>(FW)何时需要phase table generate? – u1_filmPh0_inPh_chg</vt:lpstr>
      <vt:lpstr>(FW)何时需要phase table generate? – u1_filmPh0_inPh_chg</vt:lpstr>
      <vt:lpstr>(FW)FilmDet算的filmPhase与reg_kphase_sw_film_phase的关系</vt:lpstr>
      <vt:lpstr>(FW)usableFlag在merlin和merlin2的差异</vt:lpstr>
      <vt:lpstr>(FW) system_dly(@merlin2)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Table</dc:title>
  <dc:creator>rs-sd</dc:creator>
  <cp:lastModifiedBy>lyman</cp:lastModifiedBy>
  <cp:revision>311</cp:revision>
  <dcterms:created xsi:type="dcterms:W3CDTF">2017-02-17T02:43:15Z</dcterms:created>
  <dcterms:modified xsi:type="dcterms:W3CDTF">2017-03-06T06:04:30Z</dcterms:modified>
</cp:coreProperties>
</file>