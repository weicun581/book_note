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3" r:id="rId3"/>
    <p:sldId id="256" r:id="rId4"/>
    <p:sldId id="257" r:id="rId5"/>
    <p:sldId id="276" r:id="rId6"/>
    <p:sldId id="277" r:id="rId7"/>
    <p:sldId id="280" r:id="rId8"/>
    <p:sldId id="279" r:id="rId9"/>
    <p:sldId id="278" r:id="rId10"/>
    <p:sldId id="281" r:id="rId11"/>
    <p:sldId id="258" r:id="rId12"/>
    <p:sldId id="259" r:id="rId13"/>
    <p:sldId id="260" r:id="rId14"/>
    <p:sldId id="282" r:id="rId15"/>
    <p:sldId id="264" r:id="rId16"/>
    <p:sldId id="267" r:id="rId17"/>
    <p:sldId id="268" r:id="rId18"/>
    <p:sldId id="271" r:id="rId19"/>
    <p:sldId id="269" r:id="rId20"/>
    <p:sldId id="270" r:id="rId21"/>
    <p:sldId id="272" r:id="rId22"/>
    <p:sldId id="275" r:id="rId23"/>
    <p:sldId id="273" r:id="rId24"/>
    <p:sldId id="274" r:id="rId25"/>
    <p:sldId id="266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2017/3/3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FW MEMC Flow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dirty="0" smtClean="0"/>
              <a:t>Lisa 20170224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155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PQL </a:t>
            </a:r>
            <a:r>
              <a:rPr lang="zh-CN" altLang="en-US" dirty="0" smtClean="0"/>
              <a:t>结构</a:t>
            </a:r>
            <a:endParaRPr lang="en-US" altLang="zh-CN" dirty="0" smtClean="0"/>
          </a:p>
          <a:p>
            <a:r>
              <a:rPr lang="zh-CN" altLang="en-US" dirty="0"/>
              <a:t>怎么计算</a:t>
            </a:r>
            <a:r>
              <a:rPr lang="en-US" altLang="zh-CN" dirty="0"/>
              <a:t>ME/MC/MV DMA</a:t>
            </a:r>
            <a:r>
              <a:rPr lang="zh-CN" altLang="en-US" dirty="0"/>
              <a:t>需要的空间？</a:t>
            </a:r>
            <a:r>
              <a:rPr lang="en-US" altLang="zh-CN" dirty="0"/>
              <a:t>(merlin2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Debug Flow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915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/>
              <a:t>PQL</a:t>
            </a:r>
            <a:r>
              <a:rPr lang="zh-CN" altLang="en-US" dirty="0" smtClean="0"/>
              <a:t>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600200"/>
            <a:ext cx="8856984" cy="4525963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path(merlin2)</a:t>
            </a:r>
            <a:endParaRPr lang="en-US" altLang="zh-CN" sz="2800" dirty="0" smtClean="0"/>
          </a:p>
          <a:p>
            <a:r>
              <a:rPr lang="en-US" altLang="zh-CN" sz="2800" dirty="0" err="1" smtClean="0"/>
              <a:t>memc</a:t>
            </a:r>
            <a:r>
              <a:rPr lang="en-US" altLang="zh-CN" sz="2800" dirty="0" smtClean="0"/>
              <a:t> </a:t>
            </a:r>
            <a:r>
              <a:rPr lang="en-US" altLang="zh-CN" sz="2800" dirty="0" err="1"/>
              <a:t>pql</a:t>
            </a:r>
            <a:r>
              <a:rPr lang="en-US" altLang="zh-CN" sz="2800" dirty="0"/>
              <a:t> .c</a:t>
            </a:r>
            <a:r>
              <a:rPr lang="zh-CN" altLang="en-US" sz="2800" dirty="0" smtClean="0"/>
              <a:t>位置</a:t>
            </a:r>
            <a:r>
              <a:rPr lang="en-US" altLang="zh-CN" sz="2800" dirty="0" smtClean="0"/>
              <a:t> </a:t>
            </a:r>
          </a:p>
          <a:p>
            <a:pPr lvl="1"/>
            <a:r>
              <a:rPr lang="en-US" altLang="zh-CN" sz="2400" dirty="0" err="1" smtClean="0"/>
              <a:t>xxxxxxx</a:t>
            </a:r>
            <a:r>
              <a:rPr lang="en-US" altLang="zh-CN" sz="2400" dirty="0" smtClean="0"/>
              <a:t>/kernel/</a:t>
            </a:r>
            <a:r>
              <a:rPr lang="en-US" altLang="zh-CN" sz="2400" dirty="0" err="1" smtClean="0"/>
              <a:t>linux</a:t>
            </a:r>
            <a:r>
              <a:rPr lang="en-US" altLang="zh-CN" sz="2400" dirty="0" smtClean="0"/>
              <a:t>/linux-4.4.3/drivers/</a:t>
            </a:r>
            <a:r>
              <a:rPr lang="en-US" altLang="zh-CN" sz="2400" dirty="0" err="1" smtClean="0"/>
              <a:t>rtk_kdriver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memc_isr</a:t>
            </a:r>
            <a:r>
              <a:rPr lang="en-US" altLang="zh-CN" sz="2400" dirty="0"/>
              <a:t>/		</a:t>
            </a:r>
          </a:p>
          <a:p>
            <a:r>
              <a:rPr lang="en-US" altLang="zh-CN" sz="2800" dirty="0" err="1" smtClean="0"/>
              <a:t>memc</a:t>
            </a:r>
            <a:r>
              <a:rPr lang="en-US" altLang="zh-CN" sz="2800" dirty="0" smtClean="0"/>
              <a:t> </a:t>
            </a:r>
            <a:r>
              <a:rPr lang="en-US" altLang="zh-CN" sz="2800" dirty="0" err="1"/>
              <a:t>pql</a:t>
            </a:r>
            <a:r>
              <a:rPr lang="en-US" altLang="zh-CN" sz="2800" dirty="0"/>
              <a:t> .h</a:t>
            </a:r>
            <a:r>
              <a:rPr lang="zh-CN" altLang="en-US" sz="2800" dirty="0" smtClean="0"/>
              <a:t>位置</a:t>
            </a:r>
            <a:endParaRPr lang="en-US" altLang="zh-CN" sz="2800" dirty="0"/>
          </a:p>
          <a:p>
            <a:pPr lvl="1"/>
            <a:r>
              <a:rPr lang="en-US" altLang="zh-CN" sz="2400" dirty="0" err="1" smtClean="0"/>
              <a:t>xxxxxxx</a:t>
            </a:r>
            <a:r>
              <a:rPr lang="en-US" altLang="zh-CN" sz="2400" dirty="0" smtClean="0"/>
              <a:t>/kernel/</a:t>
            </a:r>
            <a:r>
              <a:rPr lang="en-US" altLang="zh-CN" sz="2400" dirty="0" err="1" smtClean="0"/>
              <a:t>linux</a:t>
            </a:r>
            <a:r>
              <a:rPr lang="en-US" altLang="zh-CN" sz="2400" dirty="0" smtClean="0"/>
              <a:t>/linux-4.4.3/drivers/</a:t>
            </a:r>
            <a:r>
              <a:rPr lang="en-US" altLang="zh-CN" sz="2400" dirty="0" err="1" smtClean="0"/>
              <a:t>rtk_kdriver</a:t>
            </a:r>
            <a:r>
              <a:rPr lang="en-US" altLang="zh-CN" sz="2400" dirty="0" smtClean="0"/>
              <a:t>/include/</a:t>
            </a:r>
            <a:r>
              <a:rPr lang="en-US" altLang="zh-CN" sz="2400" dirty="0" err="1" smtClean="0"/>
              <a:t>rtk_kdriver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memc_isr</a:t>
            </a:r>
            <a:r>
              <a:rPr lang="en-US" altLang="zh-CN" sz="2400" dirty="0" smtClean="0"/>
              <a:t>/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981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PQL</a:t>
            </a:r>
            <a:r>
              <a:rPr lang="zh-CN" altLang="en-US" dirty="0"/>
              <a:t>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941168"/>
            <a:ext cx="8229600" cy="19168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400" dirty="0" smtClean="0"/>
              <a:t>粗略区分：</a:t>
            </a:r>
            <a:endParaRPr lang="en-US" altLang="zh-CN" sz="1400" dirty="0" smtClean="0"/>
          </a:p>
          <a:p>
            <a:r>
              <a:rPr lang="en-US" altLang="zh-CN" sz="1400" dirty="0" err="1" smtClean="0"/>
              <a:t>scalerMEMC.c</a:t>
            </a:r>
            <a:r>
              <a:rPr lang="en-US" altLang="zh-CN" sz="1400" dirty="0" smtClean="0"/>
              <a:t>: </a:t>
            </a:r>
            <a:r>
              <a:rPr lang="zh-CN" altLang="en-US" sz="1400" dirty="0" smtClean="0"/>
              <a:t>跟上层沟通</a:t>
            </a:r>
            <a:endParaRPr lang="en-US" altLang="zh-CN" sz="1400" dirty="0" smtClean="0"/>
          </a:p>
          <a:p>
            <a:r>
              <a:rPr lang="en-US" altLang="zh-CN" sz="1400" dirty="0" smtClean="0"/>
              <a:t>Interrupt processing function: PQ</a:t>
            </a:r>
            <a:r>
              <a:rPr lang="zh-CN" altLang="en-US" sz="1400" dirty="0" smtClean="0"/>
              <a:t>相关需要设定的</a:t>
            </a:r>
            <a:r>
              <a:rPr lang="en-US" altLang="zh-CN" sz="1400" dirty="0" smtClean="0"/>
              <a:t>function</a:t>
            </a:r>
          </a:p>
          <a:p>
            <a:r>
              <a:rPr lang="en-US" altLang="zh-CN" sz="1400" dirty="0" err="1" smtClean="0"/>
              <a:t>Mid_xxxx.c</a:t>
            </a:r>
            <a:r>
              <a:rPr lang="en-US" altLang="zh-CN" sz="1400" dirty="0" smtClean="0"/>
              <a:t>/</a:t>
            </a:r>
            <a:r>
              <a:rPr lang="en-US" altLang="zh-CN" sz="1400" dirty="0" err="1" smtClean="0"/>
              <a:t>hal_xxxx.c</a:t>
            </a:r>
            <a:r>
              <a:rPr lang="en-US" altLang="zh-CN" sz="1400" dirty="0" smtClean="0"/>
              <a:t> : timing</a:t>
            </a:r>
            <a:r>
              <a:rPr lang="zh-CN" altLang="en-US" sz="1400" dirty="0" smtClean="0"/>
              <a:t>等系统点亮必要的设定</a:t>
            </a:r>
            <a:endParaRPr lang="en-US" altLang="zh-CN" sz="1400" dirty="0" smtClean="0"/>
          </a:p>
          <a:p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smtClean="0"/>
              <a:t>MEMC</a:t>
            </a:r>
            <a:r>
              <a:rPr lang="zh-CN" altLang="en-US" sz="1400" dirty="0" smtClean="0"/>
              <a:t>以外或</a:t>
            </a:r>
            <a:r>
              <a:rPr lang="en-US" altLang="zh-CN" sz="1400" dirty="0" err="1" smtClean="0"/>
              <a:t>memc_lib.c</a:t>
            </a:r>
            <a:r>
              <a:rPr lang="zh-CN" altLang="en-US" sz="1400" dirty="0" smtClean="0"/>
              <a:t>这一级的变量要传给最底层的</a:t>
            </a:r>
            <a:r>
              <a:rPr lang="en-US" altLang="zh-CN" sz="1400" dirty="0" smtClean="0"/>
              <a:t>interrupt processing function</a:t>
            </a:r>
            <a:r>
              <a:rPr lang="zh-CN" altLang="en-US" sz="1400" dirty="0" smtClean="0"/>
              <a:t>用，尽量通过</a:t>
            </a:r>
            <a:r>
              <a:rPr lang="en-US" altLang="zh-CN" sz="1400" dirty="0" err="1" smtClean="0"/>
              <a:t>PQL_Command</a:t>
            </a:r>
            <a:r>
              <a:rPr lang="zh-CN" altLang="en-US" sz="1400" dirty="0" smtClean="0"/>
              <a:t>传递，保证</a:t>
            </a:r>
            <a:r>
              <a:rPr lang="en-US" altLang="zh-CN" sz="1400" dirty="0" smtClean="0"/>
              <a:t>code</a:t>
            </a:r>
            <a:r>
              <a:rPr lang="zh-CN" altLang="en-US" sz="1400" dirty="0" smtClean="0"/>
              <a:t>架构清晰可读</a:t>
            </a:r>
            <a:endParaRPr lang="en-US" altLang="zh-CN" sz="1400" dirty="0" smtClean="0"/>
          </a:p>
          <a:p>
            <a:endParaRPr lang="zh-CN" altLang="en-US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74014"/>
            <a:ext cx="2016224" cy="22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675588"/>
              </p:ext>
            </p:extLst>
          </p:nvPr>
        </p:nvGraphicFramePr>
        <p:xfrm>
          <a:off x="2411760" y="1451921"/>
          <a:ext cx="5690121" cy="341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" name="Visio" r:id="rId4" imgW="6625969" imgH="3980710" progId="Visio.Drawing.11">
                  <p:embed/>
                </p:oleObj>
              </mc:Choice>
              <mc:Fallback>
                <p:oleObj name="Visio" r:id="rId4" imgW="6625969" imgH="3980710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1760" y="1451921"/>
                        <a:ext cx="5690121" cy="3418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289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899145"/>
              </p:ext>
            </p:extLst>
          </p:nvPr>
        </p:nvGraphicFramePr>
        <p:xfrm>
          <a:off x="662048" y="44624"/>
          <a:ext cx="8280921" cy="6712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8" name="Visio" r:id="rId3" imgW="8967706" imgH="7269851" progId="Visio.Drawing.11">
                  <p:embed/>
                </p:oleObj>
              </mc:Choice>
              <mc:Fallback>
                <p:oleObj name="Visio" r:id="rId3" imgW="8967706" imgH="7269851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2048" y="44624"/>
                        <a:ext cx="8280921" cy="6712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926293"/>
              </p:ext>
            </p:extLst>
          </p:nvPr>
        </p:nvGraphicFramePr>
        <p:xfrm>
          <a:off x="662049" y="44624"/>
          <a:ext cx="8302439" cy="6840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9" name="Visio" r:id="rId5" imgW="8967706" imgH="7388622" progId="Visio.Drawing.11">
                  <p:embed/>
                </p:oleObj>
              </mc:Choice>
              <mc:Fallback>
                <p:oleObj name="Visio" r:id="rId5" imgW="8967706" imgH="738862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2049" y="44624"/>
                        <a:ext cx="8302439" cy="6840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0832" y="274638"/>
            <a:ext cx="8229600" cy="1143000"/>
          </a:xfrm>
        </p:spPr>
        <p:txBody>
          <a:bodyPr/>
          <a:lstStyle/>
          <a:p>
            <a:pPr algn="l"/>
            <a:r>
              <a:rPr lang="en-US" altLang="zh-CN" dirty="0" smtClean="0"/>
              <a:t>RPC</a:t>
            </a:r>
            <a:r>
              <a:rPr lang="zh-CN" altLang="en-US" dirty="0" smtClean="0"/>
              <a:t>响应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522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AC off/on </a:t>
            </a:r>
            <a:r>
              <a:rPr lang="zh-CN" altLang="en-US" dirty="0" smtClean="0"/>
              <a:t>会跑进来设定，设定一次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138354"/>
              </p:ext>
            </p:extLst>
          </p:nvPr>
        </p:nvGraphicFramePr>
        <p:xfrm>
          <a:off x="539552" y="4437112"/>
          <a:ext cx="8064896" cy="2105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8" name="Visio" r:id="rId3" imgW="3538925" imgH="923983" progId="Visio.Drawing.11">
                  <p:embed/>
                </p:oleObj>
              </mc:Choice>
              <mc:Fallback>
                <p:oleObj name="Visio" r:id="rId3" imgW="3538925" imgH="923983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4437112"/>
                        <a:ext cx="8064896" cy="21057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337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 smtClean="0"/>
              <a:t>Scaler_MEMC_SetMotionComp</a:t>
            </a:r>
            <a:endParaRPr lang="en-US" altLang="zh-CN" sz="2000" dirty="0" smtClean="0"/>
          </a:p>
          <a:p>
            <a:pPr lvl="1"/>
            <a:r>
              <a:rPr lang="en-US" altLang="zh-CN" sz="1800" dirty="0" err="1" smtClean="0"/>
              <a:t>WebOS</a:t>
            </a:r>
            <a:r>
              <a:rPr lang="en-US" altLang="zh-CN" sz="1800" dirty="0" smtClean="0"/>
              <a:t> UI</a:t>
            </a:r>
            <a:r>
              <a:rPr lang="zh-CN" altLang="en-US" sz="1800" dirty="0" smtClean="0"/>
              <a:t>上有</a:t>
            </a:r>
            <a:r>
              <a:rPr lang="en-US" altLang="zh-CN" sz="1800" dirty="0" err="1" smtClean="0"/>
              <a:t>TruMotion</a:t>
            </a:r>
            <a:r>
              <a:rPr lang="en-US" altLang="zh-CN" sz="1800" dirty="0" smtClean="0"/>
              <a:t> OFF/Smooth/Clear/…</a:t>
            </a:r>
            <a:r>
              <a:rPr lang="zh-CN" altLang="en-US" sz="1800" dirty="0" smtClean="0"/>
              <a:t>，会</a:t>
            </a:r>
            <a:r>
              <a:rPr lang="en-US" altLang="zh-CN" sz="1800" dirty="0" smtClean="0"/>
              <a:t>call</a:t>
            </a:r>
            <a:r>
              <a:rPr lang="zh-CN" altLang="en-US" sz="1800" dirty="0" smtClean="0"/>
              <a:t>这支</a:t>
            </a:r>
            <a:r>
              <a:rPr lang="en-US" altLang="zh-CN" sz="1800" dirty="0" smtClean="0"/>
              <a:t>function</a:t>
            </a:r>
          </a:p>
          <a:p>
            <a:r>
              <a:rPr lang="en-US" altLang="zh-CN" sz="2000" dirty="0" err="1" smtClean="0"/>
              <a:t>Scaler_MEMC_SetBlur</a:t>
            </a:r>
            <a:r>
              <a:rPr lang="en-US" altLang="zh-CN" sz="2000" dirty="0" smtClean="0"/>
              <a:t>/</a:t>
            </a:r>
            <a:r>
              <a:rPr lang="en-US" altLang="zh-CN" sz="2000" dirty="0" err="1" smtClean="0"/>
              <a:t>JudderLevel</a:t>
            </a:r>
            <a:endParaRPr lang="en-US" altLang="zh-CN" sz="2000" dirty="0" smtClean="0"/>
          </a:p>
          <a:p>
            <a:pPr lvl="1"/>
            <a:r>
              <a:rPr lang="en-US" altLang="zh-CN" sz="1800" dirty="0" err="1" smtClean="0"/>
              <a:t>WebOS</a:t>
            </a:r>
            <a:r>
              <a:rPr lang="en-US" altLang="zh-CN" sz="1800" dirty="0" smtClean="0"/>
              <a:t> UI</a:t>
            </a:r>
            <a:r>
              <a:rPr lang="zh-CN" altLang="en-US" sz="1800" dirty="0" smtClean="0"/>
              <a:t>上</a:t>
            </a:r>
            <a:r>
              <a:rPr lang="en-US" altLang="zh-CN" sz="1800" dirty="0" err="1" smtClean="0"/>
              <a:t>TruMotion</a:t>
            </a:r>
            <a:r>
              <a:rPr lang="zh-CN" altLang="en-US" sz="1800" dirty="0" smtClean="0"/>
              <a:t>选到</a:t>
            </a:r>
            <a:r>
              <a:rPr lang="en-US" altLang="zh-CN" sz="1800" dirty="0" smtClean="0"/>
              <a:t>User</a:t>
            </a:r>
            <a:r>
              <a:rPr lang="zh-CN" altLang="en-US" sz="1800" dirty="0" smtClean="0"/>
              <a:t>，会直接</a:t>
            </a:r>
            <a:r>
              <a:rPr lang="en-US" altLang="zh-CN" sz="1800" dirty="0" smtClean="0"/>
              <a:t>call</a:t>
            </a:r>
            <a:r>
              <a:rPr lang="zh-CN" altLang="en-US" sz="1800" dirty="0" smtClean="0"/>
              <a:t>这两支</a:t>
            </a:r>
            <a:r>
              <a:rPr lang="en-US" altLang="zh-CN" sz="1800" dirty="0" smtClean="0"/>
              <a:t>function</a:t>
            </a:r>
            <a:r>
              <a:rPr lang="zh-CN" altLang="en-US" sz="1800" dirty="0" smtClean="0"/>
              <a:t>设定</a:t>
            </a:r>
            <a:r>
              <a:rPr lang="en-US" altLang="zh-CN" sz="1800" dirty="0" smtClean="0"/>
              <a:t>judder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blur level</a:t>
            </a:r>
          </a:p>
          <a:p>
            <a:r>
              <a:rPr lang="en-US" altLang="zh-CN" sz="2200" dirty="0" err="1" smtClean="0"/>
              <a:t>Scaler_MEMC_LowDelayMode</a:t>
            </a:r>
            <a:endParaRPr lang="en-US" altLang="zh-CN" sz="2200" dirty="0" smtClean="0"/>
          </a:p>
          <a:p>
            <a:pPr lvl="1"/>
            <a:r>
              <a:rPr lang="en-US" altLang="zh-CN" sz="1800" dirty="0" err="1" smtClean="0"/>
              <a:t>WebOS</a:t>
            </a:r>
            <a:r>
              <a:rPr lang="en-US" altLang="zh-CN" sz="1800" dirty="0" smtClean="0"/>
              <a:t> UI Picture Mode</a:t>
            </a:r>
            <a:r>
              <a:rPr lang="zh-CN" altLang="en-US" sz="1800" dirty="0" smtClean="0"/>
              <a:t>选到</a:t>
            </a:r>
            <a:r>
              <a:rPr lang="en-US" altLang="zh-CN" sz="1800" dirty="0" smtClean="0"/>
              <a:t>Game Mode</a:t>
            </a:r>
            <a:r>
              <a:rPr lang="zh-CN" altLang="en-US" sz="1800" dirty="0" smtClean="0"/>
              <a:t>时</a:t>
            </a:r>
            <a:r>
              <a:rPr lang="en-US" altLang="zh-CN" sz="1800" dirty="0" smtClean="0"/>
              <a:t>call</a:t>
            </a:r>
          </a:p>
          <a:p>
            <a:pPr lvl="1"/>
            <a:r>
              <a:rPr lang="en-US" altLang="zh-CN" sz="1800" dirty="0" err="1" smtClean="0"/>
              <a:t>Miracast</a:t>
            </a:r>
            <a:endParaRPr lang="zh-CN" altLang="en-US" sz="18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601170"/>
              </p:ext>
            </p:extLst>
          </p:nvPr>
        </p:nvGraphicFramePr>
        <p:xfrm>
          <a:off x="0" y="4637852"/>
          <a:ext cx="9252520" cy="2220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Visio" r:id="rId3" imgW="6436740" imgH="1544020" progId="Visio.Drawing.11">
                  <p:embed/>
                </p:oleObj>
              </mc:Choice>
              <mc:Fallback>
                <p:oleObj name="Visio" r:id="rId3" imgW="6436740" imgH="1544020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4637852"/>
                        <a:ext cx="9252520" cy="2220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28184" y="645333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Force </a:t>
            </a:r>
            <a:r>
              <a:rPr lang="en-US" altLang="zh-CN" dirty="0" err="1" smtClean="0">
                <a:solidFill>
                  <a:srgbClr val="FF0000"/>
                </a:solidFill>
              </a:rPr>
              <a:t>pz</a:t>
            </a:r>
            <a:r>
              <a:rPr lang="zh-CN" altLang="en-US" dirty="0" smtClean="0">
                <a:solidFill>
                  <a:srgbClr val="FF0000"/>
                </a:solidFill>
              </a:rPr>
              <a:t>，关</a:t>
            </a:r>
            <a:r>
              <a:rPr lang="en-US" altLang="zh-CN" dirty="0" err="1" smtClean="0">
                <a:solidFill>
                  <a:srgbClr val="FF0000"/>
                </a:solidFill>
              </a:rPr>
              <a:t>dma</a:t>
            </a:r>
            <a:r>
              <a:rPr lang="en-US" altLang="zh-CN" dirty="0" smtClean="0">
                <a:solidFill>
                  <a:srgbClr val="FF0000"/>
                </a:solidFill>
              </a:rPr>
              <a:t>…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67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 smtClean="0"/>
              <a:t>Scaler_MEMC_SetRGBYUVMode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选</a:t>
            </a:r>
            <a:r>
              <a:rPr lang="en-US" altLang="zh-CN" sz="2000" dirty="0" smtClean="0"/>
              <a:t>PC Mode</a:t>
            </a:r>
            <a:r>
              <a:rPr lang="zh-CN" altLang="en-US" sz="2000" dirty="0" smtClean="0"/>
              <a:t>或非</a:t>
            </a:r>
            <a:r>
              <a:rPr lang="en-US" altLang="zh-CN" sz="2000" dirty="0" smtClean="0"/>
              <a:t>PC Mode</a:t>
            </a:r>
            <a:r>
              <a:rPr lang="zh-CN" altLang="en-US" sz="2000" dirty="0" smtClean="0"/>
              <a:t>时会</a:t>
            </a:r>
            <a:r>
              <a:rPr lang="en-US" altLang="zh-CN" sz="2000" dirty="0" smtClean="0"/>
              <a:t>call</a:t>
            </a:r>
          </a:p>
          <a:p>
            <a:pPr lvl="1"/>
            <a:r>
              <a:rPr lang="zh-CN" altLang="en-US" sz="2000" dirty="0" smtClean="0"/>
              <a:t>最终还是会</a:t>
            </a:r>
            <a:r>
              <a:rPr lang="en-US" altLang="zh-CN" sz="2000" dirty="0" smtClean="0"/>
              <a:t>call</a:t>
            </a:r>
            <a:r>
              <a:rPr lang="zh-CN" altLang="en-US" sz="2000" dirty="0" smtClean="0"/>
              <a:t>到</a:t>
            </a:r>
            <a:r>
              <a:rPr lang="en-US" altLang="zh-CN" sz="2000" dirty="0" err="1" smtClean="0"/>
              <a:t>SetInOutMode</a:t>
            </a:r>
            <a:r>
              <a:rPr lang="zh-CN" altLang="en-US" sz="2000" dirty="0" smtClean="0"/>
              <a:t>去设定</a:t>
            </a:r>
            <a:r>
              <a:rPr lang="en-US" altLang="zh-CN" sz="2000" dirty="0" smtClean="0"/>
              <a:t>rgb2yuv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buffer number</a:t>
            </a:r>
            <a:r>
              <a:rPr lang="zh-CN" altLang="en-US" sz="2000" dirty="0" smtClean="0"/>
              <a:t>等</a:t>
            </a:r>
            <a:endParaRPr lang="en-US" altLang="zh-CN" sz="2000" dirty="0" smtClean="0"/>
          </a:p>
          <a:p>
            <a:r>
              <a:rPr lang="en-US" altLang="zh-CN" sz="2400" dirty="0" err="1" smtClean="0"/>
              <a:t>Scaler_MEMC_SetInOutMode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RPC</a:t>
            </a:r>
            <a:r>
              <a:rPr lang="zh-CN" altLang="en-US" sz="2000" dirty="0" smtClean="0"/>
              <a:t>直接</a:t>
            </a:r>
            <a:r>
              <a:rPr lang="en-US" altLang="zh-CN" sz="2000" dirty="0" smtClean="0"/>
              <a:t>call</a:t>
            </a:r>
            <a:r>
              <a:rPr lang="zh-CN" altLang="en-US" sz="2000" dirty="0" smtClean="0"/>
              <a:t>这支的情况比较少</a:t>
            </a:r>
            <a:endParaRPr lang="zh-CN" altLang="en-US" sz="20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62800"/>
              </p:ext>
            </p:extLst>
          </p:nvPr>
        </p:nvGraphicFramePr>
        <p:xfrm>
          <a:off x="28037" y="5013176"/>
          <a:ext cx="9115964" cy="837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name="Visio" r:id="rId3" imgW="6579809" imgH="604921" progId="Visio.Drawing.11">
                  <p:embed/>
                </p:oleObj>
              </mc:Choice>
              <mc:Fallback>
                <p:oleObj name="Visio" r:id="rId3" imgW="6579809" imgH="604921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37" y="5013176"/>
                        <a:ext cx="9115964" cy="837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185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 smtClean="0"/>
              <a:t>Scaler_MEMC_SetInOutUseCase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Resolution/2d/3d</a:t>
            </a:r>
          </a:p>
          <a:p>
            <a:pPr lvl="1"/>
            <a:r>
              <a:rPr lang="en-US" altLang="zh-CN" sz="2000" dirty="0" smtClean="0"/>
              <a:t>Ac off-&gt;on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dc off-&gt;on</a:t>
            </a:r>
            <a:r>
              <a:rPr lang="zh-CN" altLang="en-US" sz="2000" dirty="0" smtClean="0"/>
              <a:t>会</a:t>
            </a:r>
            <a:r>
              <a:rPr lang="en-US" altLang="zh-CN" sz="2000" dirty="0" smtClean="0"/>
              <a:t>call</a:t>
            </a:r>
          </a:p>
          <a:p>
            <a:pPr lvl="1"/>
            <a:r>
              <a:rPr lang="zh-CN" altLang="en-US" sz="2000" dirty="0" smtClean="0"/>
              <a:t>一般情况下不会</a:t>
            </a:r>
            <a:r>
              <a:rPr lang="en-US" altLang="zh-CN" sz="2000" dirty="0" smtClean="0"/>
              <a:t>call</a:t>
            </a:r>
            <a:r>
              <a:rPr lang="zh-CN" altLang="en-US" sz="2000" dirty="0" smtClean="0"/>
              <a:t>，因为目前送进</a:t>
            </a:r>
            <a:r>
              <a:rPr lang="en-US" altLang="zh-CN" sz="2000" dirty="0" smtClean="0"/>
              <a:t>MEMC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resolution</a:t>
            </a:r>
            <a:r>
              <a:rPr lang="zh-CN" altLang="en-US" sz="2000" dirty="0" smtClean="0"/>
              <a:t>都是</a:t>
            </a:r>
            <a:r>
              <a:rPr lang="en-US" altLang="zh-CN" sz="2000" dirty="0" smtClean="0"/>
              <a:t>4K2K</a:t>
            </a:r>
            <a:r>
              <a:rPr lang="en-US" altLang="zh-CN" sz="2000" dirty="0"/>
              <a:t>.</a:t>
            </a:r>
            <a:endParaRPr lang="en-US" altLang="zh-CN" sz="2000" dirty="0" smtClean="0"/>
          </a:p>
          <a:p>
            <a:r>
              <a:rPr lang="en-US" altLang="zh-CN" sz="2400" dirty="0" err="1" smtClean="0"/>
              <a:t>Scaler_MEMC_SetIn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OutputFrameRate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很常用的功能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只要</a:t>
            </a:r>
            <a:r>
              <a:rPr lang="en-US" altLang="zh-CN" sz="2000" dirty="0" smtClean="0"/>
              <a:t>framerate</a:t>
            </a:r>
            <a:r>
              <a:rPr lang="zh-CN" altLang="en-US" sz="2000" dirty="0" smtClean="0"/>
              <a:t>有改就会</a:t>
            </a:r>
            <a:r>
              <a:rPr lang="en-US" altLang="zh-CN" sz="2000" dirty="0" smtClean="0"/>
              <a:t>call</a:t>
            </a:r>
            <a:r>
              <a:rPr lang="zh-CN" altLang="en-US" sz="2000" dirty="0" smtClean="0"/>
              <a:t>到，从而改到</a:t>
            </a:r>
            <a:r>
              <a:rPr lang="en-US" altLang="zh-CN" sz="2000" dirty="0" smtClean="0"/>
              <a:t>N2M</a:t>
            </a:r>
            <a:endParaRPr lang="zh-CN" altLang="en-US" sz="20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340791"/>
              </p:ext>
            </p:extLst>
          </p:nvPr>
        </p:nvGraphicFramePr>
        <p:xfrm>
          <a:off x="18826" y="5157192"/>
          <a:ext cx="9017670" cy="1460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Visio" r:id="rId3" imgW="6976892" imgH="1130482" progId="Visio.Drawing.11">
                  <p:embed/>
                </p:oleObj>
              </mc:Choice>
              <mc:Fallback>
                <p:oleObj name="Visio" r:id="rId3" imgW="6976892" imgH="113048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26" y="5157192"/>
                        <a:ext cx="9017670" cy="1460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861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147"/>
            <a:ext cx="8229600" cy="5577483"/>
          </a:xfrm>
        </p:spPr>
        <p:txBody>
          <a:bodyPr>
            <a:normAutofit/>
          </a:bodyPr>
          <a:lstStyle/>
          <a:p>
            <a:r>
              <a:rPr lang="en-US" altLang="zh-CN" sz="2000" dirty="0" err="1" smtClean="0"/>
              <a:t>Scaler_MEMC_ISR</a:t>
            </a:r>
            <a:endParaRPr lang="en-US" altLang="zh-CN" sz="2000" dirty="0" smtClean="0"/>
          </a:p>
          <a:p>
            <a:pPr lvl="1"/>
            <a:r>
              <a:rPr lang="zh-CN" altLang="en-US" sz="1800" dirty="0" smtClean="0"/>
              <a:t>常用功能，每个</a:t>
            </a:r>
            <a:r>
              <a:rPr lang="en-US" altLang="zh-CN" sz="1800" dirty="0" err="1" smtClean="0"/>
              <a:t>vsync</a:t>
            </a:r>
            <a:r>
              <a:rPr lang="zh-CN" altLang="en-US" sz="1800" dirty="0" smtClean="0"/>
              <a:t>都会</a:t>
            </a:r>
            <a:r>
              <a:rPr lang="en-US" altLang="zh-CN" sz="1800" dirty="0" smtClean="0"/>
              <a:t>call</a:t>
            </a:r>
          </a:p>
          <a:p>
            <a:pPr lvl="1"/>
            <a:r>
              <a:rPr lang="zh-CN" altLang="en-US" sz="1800" dirty="0" smtClean="0"/>
              <a:t>主要一直会</a:t>
            </a:r>
            <a:r>
              <a:rPr lang="en-US" altLang="zh-CN" sz="1800" dirty="0" smtClean="0"/>
              <a:t>call</a:t>
            </a:r>
            <a:r>
              <a:rPr lang="zh-CN" altLang="en-US" sz="1800" dirty="0" smtClean="0"/>
              <a:t>到</a:t>
            </a:r>
            <a:r>
              <a:rPr lang="en-US" altLang="zh-CN" sz="1800" dirty="0" err="1" smtClean="0"/>
              <a:t>memc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pql</a:t>
            </a:r>
            <a:r>
              <a:rPr lang="zh-CN" altLang="en-US" sz="1800" dirty="0" smtClean="0"/>
              <a:t>的内容</a:t>
            </a:r>
            <a:endParaRPr lang="en-US" altLang="zh-CN" sz="1800" dirty="0" smtClean="0"/>
          </a:p>
          <a:p>
            <a:r>
              <a:rPr lang="en-US" altLang="zh-CN" sz="2000" dirty="0" err="1" smtClean="0"/>
              <a:t>ScalerMEMC_TaskHandler</a:t>
            </a:r>
            <a:endParaRPr lang="en-US" altLang="zh-CN" sz="2000" dirty="0" smtClean="0"/>
          </a:p>
          <a:p>
            <a:pPr lvl="1"/>
            <a:r>
              <a:rPr lang="en-US" altLang="zh-CN" sz="1800" dirty="0" err="1" smtClean="0"/>
              <a:t>rpc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queue</a:t>
            </a:r>
            <a:r>
              <a:rPr lang="zh-CN" altLang="en-US" sz="1800" dirty="0" smtClean="0"/>
              <a:t>机制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Merlin</a:t>
            </a:r>
            <a:r>
              <a:rPr lang="zh-CN" altLang="en-US" sz="1800" dirty="0" smtClean="0"/>
              <a:t>没有</a:t>
            </a:r>
            <a:endParaRPr lang="en-US" altLang="zh-CN" sz="1800" dirty="0" smtClean="0"/>
          </a:p>
          <a:p>
            <a:r>
              <a:rPr lang="en-US" altLang="zh-CN" sz="2200" dirty="0" err="1" smtClean="0"/>
              <a:t>MEMC_LibInputVSXral</a:t>
            </a:r>
            <a:endParaRPr lang="en-US" altLang="zh-CN" sz="2200" dirty="0" smtClean="0"/>
          </a:p>
          <a:p>
            <a:pPr lvl="1"/>
            <a:r>
              <a:rPr lang="zh-CN" altLang="en-US" sz="1800" dirty="0" smtClean="0"/>
              <a:t>此函数的来源是</a:t>
            </a:r>
            <a:r>
              <a:rPr lang="en-US" altLang="zh-CN" sz="1800" dirty="0" smtClean="0"/>
              <a:t>merlin</a:t>
            </a:r>
            <a:r>
              <a:rPr lang="zh-CN" altLang="en-US" sz="1800" dirty="0" smtClean="0"/>
              <a:t>没有</a:t>
            </a:r>
            <a:r>
              <a:rPr lang="en-US" altLang="zh-CN" sz="1800" dirty="0" err="1" smtClean="0"/>
              <a:t>rpc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queue</a:t>
            </a:r>
            <a:r>
              <a:rPr lang="zh-CN" altLang="en-US" sz="1800" dirty="0" smtClean="0"/>
              <a:t>机制，所以写了复杂的</a:t>
            </a:r>
            <a:r>
              <a:rPr lang="en-US" altLang="zh-CN" sz="1800" dirty="0" smtClean="0"/>
              <a:t>code</a:t>
            </a:r>
            <a:r>
              <a:rPr lang="zh-CN" altLang="en-US" sz="1800" dirty="0" smtClean="0"/>
              <a:t>解决</a:t>
            </a:r>
            <a:r>
              <a:rPr lang="en-US" altLang="zh-CN" sz="1800" dirty="0" err="1" smtClean="0"/>
              <a:t>rpc</a:t>
            </a:r>
            <a:r>
              <a:rPr lang="zh-CN" altLang="en-US" sz="1800" dirty="0" smtClean="0"/>
              <a:t>竞争，最终</a:t>
            </a:r>
            <a:r>
              <a:rPr lang="en-US" altLang="zh-CN" sz="1800" dirty="0" err="1" smtClean="0"/>
              <a:t>dma</a:t>
            </a:r>
            <a:r>
              <a:rPr lang="zh-CN" altLang="en-US" sz="1800" dirty="0" smtClean="0"/>
              <a:t>相关的设定会汇总到此函数执行</a:t>
            </a:r>
            <a:endParaRPr lang="en-US" altLang="zh-CN" sz="1800" dirty="0" smtClean="0"/>
          </a:p>
          <a:p>
            <a:r>
              <a:rPr lang="en-US" altLang="zh-CN" sz="2200" dirty="0" err="1" smtClean="0"/>
              <a:t>MEMC_LibGetScalerVIPInfo</a:t>
            </a:r>
            <a:endParaRPr lang="en-US" altLang="zh-CN" sz="2200" dirty="0" smtClean="0"/>
          </a:p>
          <a:p>
            <a:pPr lvl="1"/>
            <a:r>
              <a:rPr lang="zh-CN" altLang="en-US" sz="1800" dirty="0" smtClean="0"/>
              <a:t>从</a:t>
            </a:r>
            <a:r>
              <a:rPr lang="en-US" altLang="zh-CN" sz="1800" dirty="0" smtClean="0"/>
              <a:t>MEMC</a:t>
            </a:r>
            <a:r>
              <a:rPr lang="zh-CN" altLang="en-US" sz="1800" dirty="0" smtClean="0"/>
              <a:t>外部</a:t>
            </a:r>
            <a:r>
              <a:rPr lang="en-US" altLang="zh-CN" sz="1800" dirty="0" smtClean="0"/>
              <a:t>IP</a:t>
            </a:r>
            <a:r>
              <a:rPr lang="zh-CN" altLang="en-US" sz="1800" dirty="0" smtClean="0"/>
              <a:t>传来的变量都会从此函数</a:t>
            </a:r>
            <a:r>
              <a:rPr lang="zh-CN" altLang="en-US" sz="1800" dirty="0"/>
              <a:t>获得</a:t>
            </a:r>
            <a:endParaRPr lang="en-US" altLang="zh-CN" sz="1800" dirty="0" smtClean="0"/>
          </a:p>
          <a:p>
            <a:endParaRPr lang="zh-CN" altLang="en-US" sz="22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419019"/>
              </p:ext>
            </p:extLst>
          </p:nvPr>
        </p:nvGraphicFramePr>
        <p:xfrm>
          <a:off x="-21974" y="4654571"/>
          <a:ext cx="9144000" cy="215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" name="Visio" r:id="rId3" imgW="6219708" imgH="1468979" progId="Visio.Drawing.11">
                  <p:embed/>
                </p:oleObj>
              </mc:Choice>
              <mc:Fallback>
                <p:oleObj name="Visio" r:id="rId3" imgW="6219708" imgH="1468979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21974" y="4654571"/>
                        <a:ext cx="9144000" cy="2158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87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PQL</a:t>
            </a:r>
            <a:r>
              <a:rPr lang="zh-CN" altLang="en-US" dirty="0" smtClean="0"/>
              <a:t>结构</a:t>
            </a:r>
            <a:r>
              <a:rPr lang="en-US" altLang="zh-CN" dirty="0" smtClean="0"/>
              <a:t>/interrupt processing function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en-US" dirty="0"/>
              <a:t>模块</a:t>
            </a:r>
            <a:r>
              <a:rPr lang="zh-CN" altLang="en-US" dirty="0" smtClean="0"/>
              <a:t>功能性的：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Dh_close.c</a:t>
            </a:r>
            <a:r>
              <a:rPr lang="en-US" altLang="zh-CN" dirty="0" smtClean="0"/>
              <a:t>	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dehalo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FBlevelCtrl.c</a:t>
            </a:r>
            <a:r>
              <a:rPr lang="en-US" altLang="zh-CN" dirty="0" smtClean="0"/>
              <a:t>	</a:t>
            </a:r>
            <a:r>
              <a:rPr lang="zh-CN" altLang="en-US" dirty="0" smtClean="0"/>
              <a:t>：</a:t>
            </a:r>
            <a:r>
              <a:rPr lang="en-US" altLang="zh-CN" dirty="0" smtClean="0"/>
              <a:t>fallback</a:t>
            </a:r>
          </a:p>
          <a:p>
            <a:pPr lvl="1"/>
            <a:r>
              <a:rPr lang="en-US" altLang="zh-CN" dirty="0" err="1" smtClean="0"/>
              <a:t>FilmDetectCtrl.c</a:t>
            </a: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</a:t>
            </a:r>
            <a:r>
              <a:rPr lang="en-US" altLang="zh-CN" dirty="0" smtClean="0"/>
              <a:t>film detect</a:t>
            </a:r>
          </a:p>
          <a:p>
            <a:pPr lvl="1"/>
            <a:r>
              <a:rPr lang="en-US" altLang="zh-CN" dirty="0" err="1" smtClean="0"/>
              <a:t>FRC_phTable.c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FRC_decPhT_generate.c</a:t>
            </a:r>
            <a:r>
              <a:rPr lang="en-US" altLang="zh-CN" dirty="0" smtClean="0"/>
              <a:t>  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phasetable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FRC_LogoDetect.c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logo process</a:t>
            </a:r>
          </a:p>
          <a:p>
            <a:pPr lvl="1"/>
            <a:r>
              <a:rPr lang="en-US" altLang="zh-CN" dirty="0" err="1" smtClean="0"/>
              <a:t>RimCtrl.c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rim process</a:t>
            </a:r>
          </a:p>
          <a:p>
            <a:pPr lvl="1"/>
            <a:r>
              <a:rPr lang="en-US" altLang="zh-CN" dirty="0" err="1" smtClean="0"/>
              <a:t>Mc_lbmcSwitch.c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singleup</a:t>
            </a:r>
            <a:r>
              <a:rPr lang="en-US" altLang="zh-CN" dirty="0" smtClean="0"/>
              <a:t>/down process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PQL_context_ReadParam.c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read</a:t>
            </a:r>
            <a:r>
              <a:rPr lang="zh-CN" altLang="en-US" dirty="0" smtClean="0"/>
              <a:t>可调整变量的</a:t>
            </a:r>
            <a:r>
              <a:rPr lang="en-US" altLang="zh-CN" dirty="0" smtClean="0"/>
              <a:t>register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Read_ComReg.c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read read-only register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Write_ComReg.c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write </a:t>
            </a:r>
            <a:r>
              <a:rPr lang="zh-CN" altLang="en-US" dirty="0" smtClean="0"/>
              <a:t>可调整</a:t>
            </a:r>
            <a:r>
              <a:rPr lang="en-US" altLang="zh-CN" dirty="0" smtClean="0"/>
              <a:t>register</a:t>
            </a:r>
          </a:p>
          <a:p>
            <a:r>
              <a:rPr lang="en-US" altLang="zh-CN" dirty="0" smtClean="0"/>
              <a:t>Patch</a:t>
            </a:r>
            <a:r>
              <a:rPr lang="zh-CN" altLang="en-US" dirty="0" smtClean="0"/>
              <a:t>相关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FRC_SceneAnalysis.c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MESceneAnalysis.c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Patch_Manage.c</a:t>
            </a:r>
            <a:endParaRPr lang="en-US" altLang="zh-CN" dirty="0" smtClean="0"/>
          </a:p>
          <a:p>
            <a:r>
              <a:rPr lang="zh-CN" altLang="en-US" dirty="0" smtClean="0"/>
              <a:t>两大结构体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PQL_Glb_Param.c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s_pParam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PQLContext.c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s_pContext</a:t>
            </a:r>
            <a:endParaRPr lang="zh-CN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484784"/>
            <a:ext cx="1990725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546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PQL</a:t>
            </a:r>
            <a:r>
              <a:rPr lang="zh-CN" altLang="en-US" dirty="0"/>
              <a:t>结构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03" y="1628229"/>
            <a:ext cx="4171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1628229"/>
            <a:ext cx="42957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7584" y="4797152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pParam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struct</a:t>
            </a:r>
            <a:endParaRPr lang="en-US" altLang="zh-CN" dirty="0" smtClean="0"/>
          </a:p>
          <a:p>
            <a:r>
              <a:rPr lang="zh-CN" altLang="en-US" dirty="0" smtClean="0"/>
              <a:t>大多数可调整的变量放于此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68144" y="4764886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pOutput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struct</a:t>
            </a:r>
            <a:endParaRPr lang="en-US" altLang="zh-CN" dirty="0" smtClean="0"/>
          </a:p>
          <a:p>
            <a:r>
              <a:rPr lang="zh-CN" altLang="en-US" dirty="0" smtClean="0"/>
              <a:t>大多需要互相被用但无需</a:t>
            </a:r>
            <a:r>
              <a:rPr lang="en-US" altLang="zh-CN" dirty="0" smtClean="0"/>
              <a:t>register</a:t>
            </a:r>
            <a:r>
              <a:rPr lang="zh-CN" altLang="en-US" dirty="0" smtClean="0"/>
              <a:t>调整的变量放于此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482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/>
              <a:t>Point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smtClean="0"/>
              <a:t>1. </a:t>
            </a:r>
            <a:r>
              <a:rPr lang="zh-CN" altLang="en-US" sz="2400" dirty="0" smtClean="0"/>
              <a:t>尽量</a:t>
            </a:r>
            <a:r>
              <a:rPr lang="zh-CN" altLang="en-US" sz="2400" dirty="0" smtClean="0"/>
              <a:t>少用直接的</a:t>
            </a:r>
            <a:r>
              <a:rPr lang="en-US" altLang="zh-CN" sz="2400" dirty="0" smtClean="0"/>
              <a:t>global </a:t>
            </a:r>
            <a:r>
              <a:rPr lang="zh-CN" altLang="en-US" sz="2400" dirty="0" smtClean="0"/>
              <a:t>变量，需要用的变量请在结构体</a:t>
            </a:r>
            <a:r>
              <a:rPr lang="en-US" altLang="zh-CN" sz="2400" dirty="0" err="1" smtClean="0"/>
              <a:t>pOutput</a:t>
            </a:r>
            <a:r>
              <a:rPr lang="zh-CN" altLang="en-US" sz="2400" dirty="0" smtClean="0"/>
              <a:t>中定义，基本都能访问到，便于模块化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2. </a:t>
            </a:r>
            <a:r>
              <a:rPr lang="zh-CN" altLang="en-US" sz="2400" dirty="0" smtClean="0"/>
              <a:t>新</a:t>
            </a:r>
            <a:r>
              <a:rPr lang="zh-CN" altLang="en-US" sz="2400" dirty="0" smtClean="0"/>
              <a:t>加某</a:t>
            </a:r>
            <a:r>
              <a:rPr lang="en-US" altLang="zh-CN" sz="2400" dirty="0" smtClean="0"/>
              <a:t>detect function</a:t>
            </a:r>
            <a:r>
              <a:rPr lang="zh-CN" altLang="en-US" sz="2400" dirty="0" smtClean="0"/>
              <a:t>，要加</a:t>
            </a:r>
            <a:r>
              <a:rPr lang="en-US" altLang="zh-CN" sz="2400" dirty="0" err="1" smtClean="0"/>
              <a:t>detect_en</a:t>
            </a:r>
            <a:r>
              <a:rPr lang="zh-CN" altLang="en-US" sz="2400" dirty="0" smtClean="0"/>
              <a:t>，保证功能能被关掉；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3. </a:t>
            </a:r>
            <a:r>
              <a:rPr lang="zh-CN" altLang="en-US" sz="2400" dirty="0" smtClean="0"/>
              <a:t>新加</a:t>
            </a:r>
            <a:r>
              <a:rPr lang="en-US" altLang="zh-CN" sz="2400" dirty="0" smtClean="0"/>
              <a:t>function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action(write register)</a:t>
            </a:r>
            <a:r>
              <a:rPr lang="zh-CN" altLang="en-US" sz="2400" dirty="0" smtClean="0"/>
              <a:t>，要有</a:t>
            </a:r>
            <a:r>
              <a:rPr lang="en-US" altLang="zh-CN" sz="2400" dirty="0" err="1" smtClean="0"/>
              <a:t>wrt_en</a:t>
            </a:r>
            <a:r>
              <a:rPr lang="zh-CN" altLang="en-US" sz="2400" dirty="0" smtClean="0"/>
              <a:t>，保证被</a:t>
            </a:r>
            <a:r>
              <a:rPr lang="en-US" altLang="zh-CN" sz="2400" dirty="0" smtClean="0"/>
              <a:t>write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register</a:t>
            </a:r>
            <a:r>
              <a:rPr lang="zh-CN" altLang="en-US" sz="2400" dirty="0"/>
              <a:t>有</a:t>
            </a:r>
            <a:r>
              <a:rPr lang="zh-CN" altLang="en-US" sz="2400" dirty="0" smtClean="0"/>
              <a:t>机会不被一直改写，方便</a:t>
            </a:r>
            <a:r>
              <a:rPr lang="en-US" altLang="zh-CN" sz="2400" dirty="0" smtClean="0"/>
              <a:t>debug</a:t>
            </a:r>
            <a:endParaRPr lang="en-US" altLang="zh-CN" sz="2400" dirty="0" smtClean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7565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532" y="4854059"/>
            <a:ext cx="32563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确定大概是哪一种系统问题；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印</a:t>
            </a:r>
            <a:r>
              <a:rPr lang="en-US" altLang="zh-CN" dirty="0" smtClean="0"/>
              <a:t>log</a:t>
            </a:r>
            <a:r>
              <a:rPr lang="zh-CN" altLang="en-US" dirty="0" smtClean="0"/>
              <a:t>证明问题；</a:t>
            </a:r>
            <a:endParaRPr lang="en-US" altLang="zh-CN" dirty="0" smtClean="0"/>
          </a:p>
          <a:p>
            <a:r>
              <a:rPr lang="en-US" altLang="zh-CN" dirty="0" smtClean="0"/>
              <a:t>3. </a:t>
            </a:r>
            <a:r>
              <a:rPr lang="zh-CN" altLang="en-US" dirty="0" smtClean="0">
                <a:solidFill>
                  <a:srgbClr val="FF0000"/>
                </a:solidFill>
              </a:rPr>
              <a:t>该系统功能客户希望是什么应用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en-US" altLang="zh-CN" dirty="0" smtClean="0"/>
              <a:t>4. </a:t>
            </a:r>
            <a:r>
              <a:rPr lang="zh-CN" altLang="en-US" dirty="0" smtClean="0"/>
              <a:t>当前的问题哪里没有达到客户的应用；</a:t>
            </a:r>
            <a:endParaRPr lang="en-US" altLang="zh-CN" dirty="0" smtClean="0"/>
          </a:p>
          <a:p>
            <a:r>
              <a:rPr lang="en-US" altLang="zh-CN" dirty="0" smtClean="0"/>
              <a:t>5. </a:t>
            </a:r>
            <a:r>
              <a:rPr lang="zh-CN" altLang="en-US" dirty="0" smtClean="0"/>
              <a:t>查</a:t>
            </a:r>
            <a:r>
              <a:rPr lang="en-US" altLang="zh-CN" dirty="0" smtClean="0"/>
              <a:t>code</a:t>
            </a:r>
            <a:r>
              <a:rPr lang="zh-CN" altLang="en-US" dirty="0" smtClean="0"/>
              <a:t>的</a:t>
            </a:r>
            <a:r>
              <a:rPr lang="en-US" altLang="zh-CN" dirty="0" smtClean="0"/>
              <a:t>flow.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939933"/>
              </p:ext>
            </p:extLst>
          </p:nvPr>
        </p:nvGraphicFramePr>
        <p:xfrm>
          <a:off x="1691680" y="24656"/>
          <a:ext cx="7570051" cy="623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Visio" r:id="rId3" imgW="8973914" imgH="7470412" progId="Visio.Drawing.11">
                  <p:embed/>
                </p:oleObj>
              </mc:Choice>
              <mc:Fallback>
                <p:oleObj name="Visio" r:id="rId3" imgW="8973914" imgH="747041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24656"/>
                        <a:ext cx="7570051" cy="6237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altLang="zh-CN" dirty="0" smtClean="0"/>
              <a:t>Point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702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怎么计算</a:t>
            </a:r>
            <a:r>
              <a:rPr lang="en-US" altLang="zh-CN" sz="2800" dirty="0"/>
              <a:t>ME/MC/MV DMA</a:t>
            </a:r>
            <a:r>
              <a:rPr lang="zh-CN" altLang="en-US" sz="2800" dirty="0" smtClean="0"/>
              <a:t>需要的空间？</a:t>
            </a:r>
            <a:r>
              <a:rPr lang="en-US" altLang="zh-CN" sz="2800" dirty="0" smtClean="0"/>
              <a:t>(merlin2)</a:t>
            </a:r>
            <a:endParaRPr lang="zh-CN" alt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556792"/>
            <a:ext cx="8686043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50854" y="6516052"/>
            <a:ext cx="51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以</a:t>
            </a:r>
            <a:r>
              <a:rPr lang="en-US" altLang="zh-CN" dirty="0" err="1" smtClean="0">
                <a:solidFill>
                  <a:srgbClr val="FF0000"/>
                </a:solidFill>
              </a:rPr>
              <a:t>hw</a:t>
            </a:r>
            <a:r>
              <a:rPr lang="zh-CN" altLang="en-US" dirty="0" smtClean="0">
                <a:solidFill>
                  <a:srgbClr val="FF0000"/>
                </a:solidFill>
              </a:rPr>
              <a:t>给出的每块</a:t>
            </a:r>
            <a:r>
              <a:rPr lang="en-US" altLang="zh-CN" dirty="0" smtClean="0">
                <a:solidFill>
                  <a:srgbClr val="FF0000"/>
                </a:solidFill>
              </a:rPr>
              <a:t>buffer</a:t>
            </a:r>
            <a:r>
              <a:rPr lang="zh-CN" altLang="en-US" dirty="0" smtClean="0">
                <a:solidFill>
                  <a:srgbClr val="FF0000"/>
                </a:solidFill>
              </a:rPr>
              <a:t>的</a:t>
            </a:r>
            <a:r>
              <a:rPr lang="en-US" altLang="zh-CN" dirty="0" smtClean="0">
                <a:solidFill>
                  <a:srgbClr val="FF0000"/>
                </a:solidFill>
              </a:rPr>
              <a:t>bit number</a:t>
            </a:r>
            <a:r>
              <a:rPr lang="zh-CN" altLang="en-US" dirty="0" smtClean="0">
                <a:solidFill>
                  <a:srgbClr val="FF0000"/>
                </a:solidFill>
              </a:rPr>
              <a:t>和</a:t>
            </a:r>
            <a:r>
              <a:rPr lang="en-US" altLang="zh-CN" dirty="0" smtClean="0">
                <a:solidFill>
                  <a:srgbClr val="FF0000"/>
                </a:solidFill>
              </a:rPr>
              <a:t>size</a:t>
            </a:r>
            <a:r>
              <a:rPr lang="zh-CN" altLang="en-US" dirty="0" smtClean="0">
                <a:solidFill>
                  <a:srgbClr val="FF0000"/>
                </a:solidFill>
              </a:rPr>
              <a:t>为准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0112" y="1412776"/>
            <a:ext cx="1080120" cy="5112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07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怎么计算</a:t>
            </a:r>
            <a:r>
              <a:rPr lang="en-US" altLang="zh-CN" sz="2800" dirty="0"/>
              <a:t>ME/MC/MV DMA</a:t>
            </a:r>
            <a:r>
              <a:rPr lang="zh-CN" altLang="en-US" sz="2800" dirty="0"/>
              <a:t>需要的空间</a:t>
            </a:r>
            <a:r>
              <a:rPr lang="zh-CN" altLang="en-US" sz="2800" dirty="0" smtClean="0"/>
              <a:t>？</a:t>
            </a:r>
            <a:r>
              <a:rPr lang="en-US" altLang="zh-CN" sz="2800" dirty="0"/>
              <a:t>(merlin2)</a:t>
            </a:r>
            <a:endParaRPr lang="zh-CN" altLang="en-US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8568952" cy="4862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61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 smtClean="0"/>
              <a:t>DDR </a:t>
            </a:r>
            <a:r>
              <a:rPr lang="en-US" altLang="zh-CN" sz="3200" dirty="0"/>
              <a:t>Info(merlin2)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/>
          <a:lstStyle/>
          <a:p>
            <a:r>
              <a:rPr lang="en-US" altLang="zh-CN" dirty="0" smtClean="0"/>
              <a:t>ME 0-3,8-15</a:t>
            </a:r>
          </a:p>
          <a:p>
            <a:r>
              <a:rPr lang="en-US" altLang="zh-CN" dirty="0" smtClean="0"/>
              <a:t>MV 1-12</a:t>
            </a:r>
          </a:p>
          <a:p>
            <a:r>
              <a:rPr lang="en-US" altLang="zh-CN" dirty="0" smtClean="0"/>
              <a:t>MC 0/1,4-7</a:t>
            </a: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401598"/>
              </p:ext>
            </p:extLst>
          </p:nvPr>
        </p:nvGraphicFramePr>
        <p:xfrm>
          <a:off x="2699792" y="1495014"/>
          <a:ext cx="6408712" cy="49583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2179"/>
                <a:gridCol w="747681"/>
                <a:gridCol w="774386"/>
                <a:gridCol w="1789100"/>
                <a:gridCol w="1495366"/>
              </a:tblGrid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DMA 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R/W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Num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Exp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size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ipme1 data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960x540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ME01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ipme1 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lbme1_i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lbme1_p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logo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logo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logo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ME11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logo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ME12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logo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logo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logo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logo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me2 phmv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240x135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me1 </a:t>
                      </a:r>
                      <a:r>
                        <a:rPr lang="en-US" sz="1100" u="none" strike="noStrike" dirty="0" err="1">
                          <a:effectLst/>
                        </a:rPr>
                        <a:t>ppimv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me1 </a:t>
                      </a:r>
                      <a:r>
                        <a:rPr lang="en-US" sz="1100" u="none" strike="noStrike" dirty="0" err="1">
                          <a:effectLst/>
                        </a:rPr>
                        <a:t>ppi</a:t>
                      </a:r>
                      <a:r>
                        <a:rPr lang="en-US" sz="1100" u="none" strike="noStrike" dirty="0">
                          <a:effectLst/>
                        </a:rPr>
                        <a:t> mv </a:t>
                      </a:r>
                      <a:r>
                        <a:rPr lang="en-US" sz="1100" u="none" strike="noStrike" dirty="0" smtClean="0">
                          <a:effectLst/>
                        </a:rPr>
                        <a:t>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292451"/>
              </p:ext>
            </p:extLst>
          </p:nvPr>
        </p:nvGraphicFramePr>
        <p:xfrm>
          <a:off x="3923928" y="404664"/>
          <a:ext cx="4488858" cy="647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8858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DDR</a:t>
                      </a:r>
                      <a:r>
                        <a:rPr lang="zh-CN" altLang="en-US" sz="1000" u="none" strike="noStrike" dirty="0">
                          <a:effectLst/>
                        </a:rPr>
                        <a:t>排布顺序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b"/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ME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b"/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MV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b"/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MC(</a:t>
                      </a:r>
                      <a:r>
                        <a:rPr lang="zh-CN" altLang="en-US" sz="1000" u="none" strike="noStrike" dirty="0">
                          <a:effectLst/>
                        </a:rPr>
                        <a:t>当</a:t>
                      </a:r>
                      <a:r>
                        <a:rPr lang="en-US" altLang="zh-CN" sz="1000" u="none" strike="noStrike" dirty="0">
                          <a:effectLst/>
                        </a:rPr>
                        <a:t>444/422</a:t>
                      </a:r>
                      <a:r>
                        <a:rPr lang="zh-CN" altLang="en-US" sz="1000" u="none" strike="noStrike" dirty="0">
                          <a:effectLst/>
                        </a:rPr>
                        <a:t>切换时，</a:t>
                      </a:r>
                      <a:r>
                        <a:rPr lang="en-US" sz="1000" u="none" strike="noStrike" dirty="0">
                          <a:effectLst/>
                        </a:rPr>
                        <a:t>MC</a:t>
                      </a:r>
                      <a:r>
                        <a:rPr lang="zh-CN" altLang="en-US" sz="1000" u="none" strike="noStrike" dirty="0">
                          <a:effectLst/>
                        </a:rPr>
                        <a:t>的</a:t>
                      </a:r>
                      <a:r>
                        <a:rPr lang="en-US" sz="1000" u="none" strike="noStrike" dirty="0">
                          <a:effectLst/>
                        </a:rPr>
                        <a:t>buffer size</a:t>
                      </a:r>
                      <a:r>
                        <a:rPr lang="zh-CN" altLang="en-US" sz="1000" u="none" strike="noStrike" dirty="0">
                          <a:effectLst/>
                        </a:rPr>
                        <a:t>需要改，放后面的地址比较好</a:t>
                      </a:r>
                      <a:r>
                        <a:rPr lang="en-US" altLang="zh-CN" sz="1000" u="none" strike="noStrike" dirty="0">
                          <a:effectLst/>
                        </a:rPr>
                        <a:t>)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46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 smtClean="0"/>
              <a:t>DDR </a:t>
            </a:r>
            <a:r>
              <a:rPr lang="en-US" altLang="zh-CN" sz="3200" dirty="0"/>
              <a:t>Info(merlin2)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/>
          <a:lstStyle/>
          <a:p>
            <a:r>
              <a:rPr lang="en-US" altLang="zh-CN" dirty="0" smtClean="0"/>
              <a:t>ME 0-3,8-15</a:t>
            </a:r>
          </a:p>
          <a:p>
            <a:r>
              <a:rPr lang="en-US" altLang="zh-CN" dirty="0" smtClean="0"/>
              <a:t>MV 1-12</a:t>
            </a:r>
          </a:p>
          <a:p>
            <a:r>
              <a:rPr lang="en-US" altLang="zh-CN" dirty="0" smtClean="0"/>
              <a:t>MC 0/1,4-7</a:t>
            </a: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88878"/>
              </p:ext>
            </p:extLst>
          </p:nvPr>
        </p:nvGraphicFramePr>
        <p:xfrm>
          <a:off x="2699792" y="1484784"/>
          <a:ext cx="6408712" cy="5023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2179"/>
                <a:gridCol w="747681"/>
                <a:gridCol w="774386"/>
                <a:gridCol w="1789100"/>
                <a:gridCol w="1495366"/>
              </a:tblGrid>
              <a:tr h="3535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MV04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me1 </a:t>
                      </a:r>
                      <a:r>
                        <a:rPr 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ppfv</a:t>
                      </a:r>
                      <a:r>
                        <a:rPr lang="zh-CN" altLang="en-US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，在</a:t>
                      </a:r>
                      <a:r>
                        <a:rPr lang="en-US" altLang="zh-CN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me1</a:t>
                      </a:r>
                      <a:r>
                        <a:rPr lang="zh-CN" altLang="en-US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的</a:t>
                      </a:r>
                      <a:r>
                        <a:rPr lang="en-US" altLang="zh-CN" sz="11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lastphase</a:t>
                      </a:r>
                      <a:r>
                        <a:rPr lang="en-US" altLang="zh-CN" sz="11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zh-CN" altLang="en-US" sz="11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写进</a:t>
                      </a:r>
                      <a:r>
                        <a:rPr lang="en-US" altLang="zh-CN" sz="1100" u="none" strike="noStrike" baseline="0" dirty="0" err="1" smtClean="0">
                          <a:solidFill>
                            <a:srgbClr val="FF0000"/>
                          </a:solidFill>
                          <a:effectLst/>
                        </a:rPr>
                        <a:t>ddr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3535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MV05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me1 </a:t>
                      </a:r>
                      <a:r>
                        <a:rPr 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pfv</a:t>
                      </a:r>
                      <a:r>
                        <a:rPr lang="zh-CN" altLang="en-US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，</a:t>
                      </a:r>
                      <a:r>
                        <a:rPr lang="en-US" altLang="zh-CN" sz="11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pingpong</a:t>
                      </a:r>
                      <a:r>
                        <a:rPr lang="en-US" altLang="zh-CN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 buffer</a:t>
                      </a:r>
                      <a:r>
                        <a:rPr lang="zh-CN" altLang="en-US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的用法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524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me1 </a:t>
                      </a:r>
                      <a:r>
                        <a:rPr lang="en-US" sz="11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pfv</a:t>
                      </a: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r</a:t>
                      </a:r>
                      <a:r>
                        <a:rPr lang="zh-CN" altLang="en-US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，</a:t>
                      </a:r>
                      <a:r>
                        <a:rPr lang="en-US" altLang="zh-CN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me1</a:t>
                      </a:r>
                      <a:r>
                        <a:rPr lang="zh-CN" altLang="en-US" sz="11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的</a:t>
                      </a:r>
                      <a:r>
                        <a:rPr lang="en-US" altLang="zh-CN" sz="11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ipmv</a:t>
                      </a:r>
                      <a:r>
                        <a:rPr lang="en-US" altLang="zh-CN" sz="11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recursive</a:t>
                      </a:r>
                      <a:r>
                        <a:rPr lang="zh-CN" altLang="en-US" sz="11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其实是</a:t>
                      </a:r>
                      <a:r>
                        <a:rPr lang="en-US" altLang="zh-CN" sz="1100" u="none" strike="noStrike" baseline="0" dirty="0" err="1" smtClean="0">
                          <a:solidFill>
                            <a:srgbClr val="FF0000"/>
                          </a:solidFill>
                          <a:effectLst/>
                        </a:rPr>
                        <a:t>pfv</a:t>
                      </a:r>
                      <a:r>
                        <a:rPr lang="en-US" altLang="zh-CN" sz="1100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recursive</a:t>
                      </a:r>
                      <a:endParaRPr lang="en-US" altLang="zh-CN" sz="1100" b="0" i="0" u="none" strike="noStrike" dirty="0" smtClean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me2 phmv 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me2 </a:t>
                      </a:r>
                      <a:r>
                        <a:rPr lang="en-US" sz="1100" u="none" strike="noStrike" dirty="0" err="1">
                          <a:effectLst/>
                        </a:rPr>
                        <a:t>ppfv</a:t>
                      </a:r>
                      <a:r>
                        <a:rPr lang="en-US" sz="1100" u="none" strike="noStrike" dirty="0">
                          <a:effectLst/>
                        </a:rPr>
                        <a:t> 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me2 </a:t>
                      </a:r>
                      <a:r>
                        <a:rPr lang="en-US" sz="1100" u="none" strike="noStrike" dirty="0" err="1">
                          <a:effectLst/>
                        </a:rPr>
                        <a:t>pfv</a:t>
                      </a:r>
                      <a:r>
                        <a:rPr lang="en-US" sz="1100" u="none" strike="noStrike" dirty="0">
                          <a:effectLst/>
                        </a:rPr>
                        <a:t> 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lbme2_i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lbme2_p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MV12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ipme2 data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480x270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MC00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3840x2160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MC01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MC04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ilf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MC05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plf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MC06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ihf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  <a:tr h="29166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MC07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phf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8068" marR="8068" marT="8068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75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 smtClean="0"/>
              <a:t>DDR </a:t>
            </a:r>
            <a:r>
              <a:rPr lang="en-US" altLang="zh-CN" sz="3200" dirty="0"/>
              <a:t>Info(merlin2)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 smtClean="0"/>
              <a:t>DDR Size</a:t>
            </a:r>
            <a:r>
              <a:rPr lang="zh-CN" altLang="en-US" dirty="0" smtClean="0"/>
              <a:t>计算：</a:t>
            </a:r>
            <a:endParaRPr lang="en-US" altLang="zh-CN" dirty="0" smtClean="0"/>
          </a:p>
          <a:p>
            <a:r>
              <a:rPr lang="en-US" altLang="zh-CN" dirty="0" smtClean="0"/>
              <a:t>Pixels/row * bits/pixel * rows  /8 (bytes)</a:t>
            </a:r>
          </a:p>
          <a:p>
            <a:r>
              <a:rPr lang="en-US" altLang="zh-CN" dirty="0" smtClean="0"/>
              <a:t>(</a:t>
            </a:r>
            <a:r>
              <a:rPr lang="zh-CN" altLang="en-US" dirty="0" smtClean="0"/>
              <a:t>结果会取大于计算值的接近的整数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For MC</a:t>
            </a:r>
          </a:p>
          <a:p>
            <a:pPr lvl="1"/>
            <a:r>
              <a:rPr lang="zh-CN" altLang="en-US" dirty="0" smtClean="0"/>
              <a:t>考虑压缩，</a:t>
            </a:r>
            <a:r>
              <a:rPr lang="en-US" altLang="zh-CN" dirty="0" err="1" smtClean="0"/>
              <a:t>cpr_ratio</a:t>
            </a:r>
            <a:r>
              <a:rPr lang="en-US" altLang="zh-CN" dirty="0" smtClean="0"/>
              <a:t>=2</a:t>
            </a:r>
            <a:r>
              <a:rPr lang="zh-CN" altLang="en-US" dirty="0" smtClean="0"/>
              <a:t>，经验安全值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HF</a:t>
            </a:r>
          </a:p>
          <a:p>
            <a:pPr lvl="2"/>
            <a:r>
              <a:rPr lang="en-US" altLang="zh-CN" dirty="0" smtClean="0"/>
              <a:t>Line: 3840*22/2/8 = 5280 = 0x14A0 =~ 0x1500</a:t>
            </a:r>
          </a:p>
          <a:p>
            <a:pPr lvl="2"/>
            <a:r>
              <a:rPr lang="en-US" altLang="zh-CN" dirty="0" smtClean="0"/>
              <a:t>Frame: 0x1500*1080 = 0x589800</a:t>
            </a:r>
          </a:p>
          <a:p>
            <a:pPr lvl="1"/>
            <a:r>
              <a:rPr lang="en-US" altLang="zh-CN" dirty="0" smtClean="0"/>
              <a:t>LF </a:t>
            </a:r>
          </a:p>
          <a:p>
            <a:pPr lvl="2"/>
            <a:r>
              <a:rPr lang="en-US" altLang="zh-CN" dirty="0" smtClean="0"/>
              <a:t>Line: 3840*20/2/8 = 4800 = 0x12C0 =~ 0x1500</a:t>
            </a:r>
          </a:p>
          <a:p>
            <a:pPr lvl="2"/>
            <a:r>
              <a:rPr lang="en-US" altLang="zh-CN" dirty="0" smtClean="0"/>
              <a:t>Frame: 0x1500*1080 = 0x589800</a:t>
            </a:r>
          </a:p>
          <a:p>
            <a:pPr lvl="1"/>
            <a:r>
              <a:rPr lang="en-US" altLang="zh-CN" dirty="0" smtClean="0"/>
              <a:t>HF, 22bits/pixel; LF, 20bits/pixel</a:t>
            </a:r>
          </a:p>
          <a:p>
            <a:pPr lvl="2"/>
            <a:r>
              <a:rPr lang="en-US" altLang="zh-CN" dirty="0" smtClean="0"/>
              <a:t>RGB 30bits input, to YUV422 20bits</a:t>
            </a:r>
          </a:p>
          <a:p>
            <a:pPr lvl="2"/>
            <a:r>
              <a:rPr lang="en-US" altLang="zh-CN" dirty="0" smtClean="0"/>
              <a:t>HF: (top-bot), </a:t>
            </a:r>
            <a:r>
              <a:rPr lang="zh-CN" altLang="en-US" dirty="0" smtClean="0"/>
              <a:t>多算</a:t>
            </a:r>
            <a:r>
              <a:rPr lang="en-US" altLang="zh-CN" dirty="0" smtClean="0"/>
              <a:t>1 sign bit; LF: (</a:t>
            </a:r>
            <a:r>
              <a:rPr lang="en-US" altLang="zh-CN" dirty="0" err="1" smtClean="0"/>
              <a:t>top+bot</a:t>
            </a:r>
            <a:r>
              <a:rPr lang="en-US" altLang="zh-CN" dirty="0" smtClean="0"/>
              <a:t>)/2.</a:t>
            </a:r>
          </a:p>
          <a:p>
            <a:pPr lvl="2"/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3319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 smtClean="0"/>
              <a:t>DDR </a:t>
            </a:r>
            <a:r>
              <a:rPr lang="en-US" altLang="zh-CN" sz="3200" dirty="0"/>
              <a:t>Info(merlin2)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 smtClean="0"/>
              <a:t>Line_Offset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一行的长度，单位</a:t>
            </a:r>
            <a:r>
              <a:rPr lang="en-US" altLang="zh-CN" sz="2400" dirty="0" smtClean="0"/>
              <a:t>Bytes</a:t>
            </a:r>
          </a:p>
          <a:p>
            <a:r>
              <a:rPr lang="en-US" altLang="zh-CN" sz="2400" dirty="0" err="1" smtClean="0"/>
              <a:t>LR_Offset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3D</a:t>
            </a:r>
            <a:r>
              <a:rPr lang="zh-CN" altLang="en-US" sz="2400" dirty="0" smtClean="0"/>
              <a:t>时</a:t>
            </a:r>
            <a:r>
              <a:rPr lang="zh-CN" altLang="en-US" sz="2400" dirty="0"/>
              <a:t>一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frame</a:t>
            </a:r>
            <a:r>
              <a:rPr lang="zh-CN" altLang="en-US" sz="2400" dirty="0" smtClean="0"/>
              <a:t>的大小，单位</a:t>
            </a:r>
            <a:r>
              <a:rPr lang="en-US" altLang="zh-CN" sz="2400" dirty="0" smtClean="0"/>
              <a:t>Bytes</a:t>
            </a:r>
            <a:r>
              <a:rPr lang="zh-CN" altLang="en-US" sz="2400" dirty="0" smtClean="0"/>
              <a:t>，这个值告诉</a:t>
            </a:r>
            <a:r>
              <a:rPr lang="en-US" altLang="zh-CN" sz="2400" dirty="0" smtClean="0"/>
              <a:t>HW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R frame</a:t>
            </a:r>
            <a:r>
              <a:rPr lang="zh-CN" altLang="en-US" sz="2400" dirty="0" smtClean="0"/>
              <a:t>的起始地址相对</a:t>
            </a:r>
            <a:r>
              <a:rPr lang="en-US" altLang="zh-CN" sz="2400" dirty="0" smtClean="0"/>
              <a:t>L frame</a:t>
            </a:r>
            <a:r>
              <a:rPr lang="zh-CN" altLang="en-US" sz="2400" dirty="0" smtClean="0"/>
              <a:t>的起始地址的偏移</a:t>
            </a:r>
            <a:endParaRPr lang="en-US" altLang="zh-CN" sz="2400" dirty="0" smtClean="0"/>
          </a:p>
          <a:p>
            <a:r>
              <a:rPr lang="en-US" altLang="zh-CN" sz="2400" dirty="0" err="1" smtClean="0"/>
              <a:t>EndAddress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For </a:t>
            </a:r>
            <a:r>
              <a:rPr lang="en-US" altLang="zh-CN" sz="2000" dirty="0" err="1" smtClean="0"/>
              <a:t>Vflip</a:t>
            </a:r>
            <a:r>
              <a:rPr lang="en-US" altLang="zh-CN" sz="2000" dirty="0" smtClean="0"/>
              <a:t>, </a:t>
            </a:r>
            <a:r>
              <a:rPr lang="en-US" altLang="zh-CN" sz="2000" dirty="0" err="1" smtClean="0"/>
              <a:t>Vflip</a:t>
            </a:r>
            <a:r>
              <a:rPr lang="zh-CN" altLang="en-US" sz="2000" dirty="0" smtClean="0"/>
              <a:t>的起始地址</a:t>
            </a:r>
            <a:endParaRPr lang="en-US" altLang="zh-CN" sz="2000" dirty="0" smtClean="0"/>
          </a:p>
          <a:p>
            <a:r>
              <a:rPr lang="en-US" altLang="zh-CN" sz="2400" dirty="0" smtClean="0"/>
              <a:t>DMA, KMV06, ME1 </a:t>
            </a:r>
            <a:r>
              <a:rPr lang="en-US" altLang="zh-CN" sz="2400" dirty="0" err="1" smtClean="0"/>
              <a:t>pfv</a:t>
            </a:r>
            <a:r>
              <a:rPr lang="en-US" altLang="zh-CN" sz="2400" dirty="0" smtClean="0"/>
              <a:t> Read</a:t>
            </a:r>
          </a:p>
          <a:p>
            <a:pPr lvl="1"/>
            <a:r>
              <a:rPr lang="en-US" altLang="zh-CN" sz="2000" dirty="0" smtClean="0"/>
              <a:t>ME1</a:t>
            </a:r>
            <a:r>
              <a:rPr lang="zh-CN" altLang="en-US" sz="2000" dirty="0" smtClean="0"/>
              <a:t>的</a:t>
            </a:r>
            <a:r>
              <a:rPr lang="en-US" altLang="zh-CN" sz="2000" dirty="0" err="1" smtClean="0"/>
              <a:t>ipmv</a:t>
            </a:r>
            <a:r>
              <a:rPr lang="zh-CN" altLang="en-US" sz="2000" dirty="0" smtClean="0"/>
              <a:t>其实是</a:t>
            </a:r>
            <a:r>
              <a:rPr lang="en-US" altLang="zh-CN" sz="2000" dirty="0" err="1" smtClean="0"/>
              <a:t>pfv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recursive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5663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(FW) </a:t>
            </a:r>
            <a:r>
              <a:rPr lang="zh-CN" altLang="en-US" dirty="0" smtClean="0"/>
              <a:t>设定</a:t>
            </a:r>
            <a:r>
              <a:rPr lang="en-US" altLang="zh-CN" dirty="0" err="1" smtClean="0"/>
              <a:t>dma</a:t>
            </a:r>
            <a:r>
              <a:rPr lang="en-US" altLang="zh-CN" dirty="0" smtClean="0"/>
              <a:t> address ME(merlin2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22" y="1412776"/>
            <a:ext cx="8448675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68144" y="643847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该页写法未必是最好的写法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8316416" y="1916832"/>
            <a:ext cx="720080" cy="16491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23528" y="5613047"/>
            <a:ext cx="1412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需填：</a:t>
            </a:r>
            <a:endParaRPr lang="en-US" altLang="zh-CN" dirty="0" smtClean="0"/>
          </a:p>
          <a:p>
            <a:r>
              <a:rPr lang="en-US" altLang="zh-CN" dirty="0" err="1" smtClean="0"/>
              <a:t>StartAddress</a:t>
            </a:r>
            <a:endParaRPr lang="en-US" altLang="zh-CN" dirty="0" smtClean="0"/>
          </a:p>
          <a:p>
            <a:r>
              <a:rPr lang="en-US" altLang="zh-CN" dirty="0" err="1" smtClean="0"/>
              <a:t>LineOffset</a:t>
            </a:r>
            <a:endParaRPr lang="en-US" altLang="zh-CN" dirty="0" smtClean="0"/>
          </a:p>
          <a:p>
            <a:r>
              <a:rPr lang="en-US" altLang="zh-CN" dirty="0" err="1" smtClean="0">
                <a:solidFill>
                  <a:srgbClr val="FF0000"/>
                </a:solidFill>
              </a:rPr>
              <a:t>LROffset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411760" y="5733256"/>
            <a:ext cx="1330985" cy="1080120"/>
            <a:chOff x="7345471" y="4797152"/>
            <a:chExt cx="1330985" cy="1080120"/>
          </a:xfrm>
        </p:grpSpPr>
        <p:sp>
          <p:nvSpPr>
            <p:cNvPr id="7" name="矩形 6"/>
            <p:cNvSpPr/>
            <p:nvPr/>
          </p:nvSpPr>
          <p:spPr>
            <a:xfrm>
              <a:off x="7345471" y="4797152"/>
              <a:ext cx="1330985" cy="10801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>
              <a:stCxn id="7" idx="1"/>
              <a:endCxn id="7" idx="3"/>
            </p:cNvCxnSpPr>
            <p:nvPr/>
          </p:nvCxnSpPr>
          <p:spPr>
            <a:xfrm>
              <a:off x="7345471" y="5337212"/>
              <a:ext cx="133098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815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(FW) </a:t>
            </a:r>
            <a:r>
              <a:rPr lang="zh-CN" altLang="en-US" dirty="0"/>
              <a:t>设定</a:t>
            </a:r>
            <a:r>
              <a:rPr lang="en-US" altLang="zh-CN" dirty="0" err="1"/>
              <a:t>dma</a:t>
            </a:r>
            <a:r>
              <a:rPr lang="en-US" altLang="zh-CN" dirty="0"/>
              <a:t> </a:t>
            </a:r>
            <a:r>
              <a:rPr lang="en-US" altLang="zh-CN" dirty="0" smtClean="0"/>
              <a:t>address ME(merlin)</a:t>
            </a:r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" y="1412776"/>
            <a:ext cx="778192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84169" y="1268760"/>
            <a:ext cx="28083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猜</a:t>
            </a:r>
            <a:r>
              <a:rPr lang="en-US" altLang="zh-CN" dirty="0" smtClean="0"/>
              <a:t>:</a:t>
            </a:r>
          </a:p>
          <a:p>
            <a:r>
              <a:rPr lang="en-US" altLang="zh-CN" dirty="0" smtClean="0"/>
              <a:t>Merlin</a:t>
            </a:r>
            <a:r>
              <a:rPr lang="zh-CN" altLang="en-US" dirty="0" smtClean="0"/>
              <a:t>的</a:t>
            </a:r>
            <a:r>
              <a:rPr lang="en-US" altLang="zh-CN" dirty="0" smtClean="0"/>
              <a:t>ME</a:t>
            </a:r>
            <a:r>
              <a:rPr lang="zh-CN" altLang="en-US" dirty="0" smtClean="0"/>
              <a:t>没有</a:t>
            </a:r>
            <a:r>
              <a:rPr lang="en-US" altLang="zh-CN" dirty="0" err="1" smtClean="0"/>
              <a:t>LROffset</a:t>
            </a:r>
            <a:r>
              <a:rPr lang="zh-CN" altLang="en-US" dirty="0" smtClean="0"/>
              <a:t>，可能是</a:t>
            </a:r>
            <a:r>
              <a:rPr lang="en-US" altLang="zh-CN" dirty="0" smtClean="0"/>
              <a:t>merlin</a:t>
            </a:r>
            <a:r>
              <a:rPr lang="zh-CN" altLang="en-US" dirty="0" smtClean="0"/>
              <a:t>的</a:t>
            </a:r>
            <a:r>
              <a:rPr lang="en-US" altLang="zh-CN" dirty="0" smtClean="0"/>
              <a:t>3D</a:t>
            </a:r>
            <a:r>
              <a:rPr lang="zh-CN" altLang="en-US" dirty="0"/>
              <a:t> </a:t>
            </a:r>
            <a:r>
              <a:rPr lang="en-US" altLang="zh-CN" dirty="0" smtClean="0"/>
              <a:t>ME</a:t>
            </a:r>
            <a:r>
              <a:rPr lang="zh-CN" altLang="en-US" dirty="0" smtClean="0"/>
              <a:t>没有区分，</a:t>
            </a:r>
            <a:r>
              <a:rPr lang="en-US" altLang="zh-CN" dirty="0" smtClean="0"/>
              <a:t>merlin2</a:t>
            </a:r>
            <a:r>
              <a:rPr lang="zh-CN" altLang="en-US" dirty="0" smtClean="0"/>
              <a:t>可能改了</a:t>
            </a:r>
            <a:r>
              <a:rPr lang="en-US" altLang="zh-CN" dirty="0" smtClean="0"/>
              <a:t>3d</a:t>
            </a:r>
            <a:r>
              <a:rPr lang="zh-CN" altLang="en-US" dirty="0" smtClean="0"/>
              <a:t>的部分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565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(FW) </a:t>
            </a:r>
            <a:r>
              <a:rPr lang="zh-CN" altLang="en-US" dirty="0" smtClean="0"/>
              <a:t>设定</a:t>
            </a:r>
            <a:r>
              <a:rPr lang="en-US" altLang="zh-CN" dirty="0" err="1" smtClean="0"/>
              <a:t>dma</a:t>
            </a:r>
            <a:r>
              <a:rPr lang="en-US" altLang="zh-CN" dirty="0" smtClean="0"/>
              <a:t> address MV(merlin2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396561"/>
            <a:ext cx="845820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868144" y="643847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该页写法未必是最好的写法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8316416" y="2132856"/>
            <a:ext cx="720080" cy="41764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84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(FW) </a:t>
            </a:r>
            <a:r>
              <a:rPr lang="zh-CN" altLang="en-US" dirty="0" smtClean="0"/>
              <a:t>设定</a:t>
            </a:r>
            <a:r>
              <a:rPr lang="en-US" altLang="zh-CN" dirty="0" err="1" smtClean="0"/>
              <a:t>dma</a:t>
            </a:r>
            <a:r>
              <a:rPr lang="en-US" altLang="zh-CN" dirty="0" smtClean="0"/>
              <a:t> address MC(merlin2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52" y="1556792"/>
            <a:ext cx="8753475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45186" y="6165304"/>
            <a:ext cx="6370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VD_MODE_KMC_LR_OFFSET_ADDR=0x002C4C00 </a:t>
            </a:r>
            <a:r>
              <a:rPr lang="zh-CN" altLang="en-US" dirty="0" smtClean="0"/>
              <a:t>只是一半</a:t>
            </a:r>
            <a:r>
              <a:rPr lang="en-US" altLang="zh-CN" dirty="0" smtClean="0"/>
              <a:t>size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en-US" altLang="zh-CN" dirty="0" err="1" smtClean="0"/>
              <a:t>Hf</a:t>
            </a:r>
            <a:r>
              <a:rPr lang="en-US" altLang="zh-CN" dirty="0" smtClean="0"/>
              <a:t>/lf </a:t>
            </a:r>
            <a:r>
              <a:rPr lang="zh-CN" altLang="en-US" dirty="0" smtClean="0"/>
              <a:t>一张</a:t>
            </a:r>
            <a:r>
              <a:rPr lang="en-US" altLang="zh-CN" dirty="0" smtClean="0"/>
              <a:t>size ~= 0x589800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868144" y="643847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该页写法未必是最好的写法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8460432" y="2132856"/>
            <a:ext cx="576064" cy="37444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84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Debug Flow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Reference to </a:t>
            </a:r>
            <a:r>
              <a:rPr lang="en-US" altLang="zh-CN" dirty="0"/>
              <a:t>doc file(K2L_K3L_Debug</a:t>
            </a:r>
            <a:r>
              <a:rPr lang="zh-CN" altLang="en-US" dirty="0" smtClean="0"/>
              <a:t>整理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docx</a:t>
            </a:r>
            <a:r>
              <a:rPr lang="en-US" altLang="zh-CN" dirty="0" smtClean="0"/>
              <a:t>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941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995</Words>
  <Application>Microsoft Office PowerPoint</Application>
  <PresentationFormat>全屏显示(4:3)</PresentationFormat>
  <Paragraphs>270</Paragraphs>
  <Slides>25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Office 主题</vt:lpstr>
      <vt:lpstr>Visio</vt:lpstr>
      <vt:lpstr>Microsoft Visio 绘图</vt:lpstr>
      <vt:lpstr>FW MEMC Flow</vt:lpstr>
      <vt:lpstr>Outline</vt:lpstr>
      <vt:lpstr>PQL结构</vt:lpstr>
      <vt:lpstr>PQL结构</vt:lpstr>
      <vt:lpstr>RPC响应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PQL结构/interrupt processing function</vt:lpstr>
      <vt:lpstr>PQL结构</vt:lpstr>
      <vt:lpstr>Point</vt:lpstr>
      <vt:lpstr>Point</vt:lpstr>
      <vt:lpstr>怎么计算ME/MC/MV DMA需要的空间？(merlin2)</vt:lpstr>
      <vt:lpstr>怎么计算ME/MC/MV DMA需要的空间？(merlin2)</vt:lpstr>
      <vt:lpstr>DDR Info(merlin2)</vt:lpstr>
      <vt:lpstr>DDR Info(merlin2)</vt:lpstr>
      <vt:lpstr>DDR Info(merlin2)</vt:lpstr>
      <vt:lpstr>DDR Info(merlin2)</vt:lpstr>
      <vt:lpstr>(FW) 设定dma address ME(merlin2)</vt:lpstr>
      <vt:lpstr>(FW) 设定dma address ME(merlin)</vt:lpstr>
      <vt:lpstr>(FW) 设定dma address MV(merlin2)</vt:lpstr>
      <vt:lpstr>(FW) 设定dma address MC(merlin2)</vt:lpstr>
      <vt:lpstr>Debug Flow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FW MEMC Flow</dc:title>
  <dc:creator>rs-sd</dc:creator>
  <cp:lastModifiedBy>lyman</cp:lastModifiedBy>
  <cp:revision>114</cp:revision>
  <dcterms:created xsi:type="dcterms:W3CDTF">2017-02-24T08:30:06Z</dcterms:created>
  <dcterms:modified xsi:type="dcterms:W3CDTF">2017-03-03T08:36:03Z</dcterms:modified>
</cp:coreProperties>
</file>