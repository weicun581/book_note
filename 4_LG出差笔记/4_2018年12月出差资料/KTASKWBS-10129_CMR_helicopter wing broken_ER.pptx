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2" r:id="rId2"/>
  </p:sldMasterIdLst>
  <p:notesMasterIdLst>
    <p:notesMasterId r:id="rId7"/>
  </p:notesMasterIdLst>
  <p:handoutMasterIdLst>
    <p:handoutMasterId r:id="rId8"/>
  </p:handoutMasterIdLst>
  <p:sldIdLst>
    <p:sldId id="433" r:id="rId3"/>
    <p:sldId id="437" r:id="rId4"/>
    <p:sldId id="438" r:id="rId5"/>
    <p:sldId id="440" r:id="rId6"/>
  </p:sldIdLst>
  <p:sldSz cx="9906000" cy="6858000" type="A4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1pPr>
    <a:lvl2pPr marL="450850" indent="3175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2pPr>
    <a:lvl3pPr marL="909638" indent="3175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3pPr>
    <a:lvl4pPr marL="1365250" indent="3175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4pPr>
    <a:lvl5pPr marL="1824038" indent="3175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>
          <p15:clr>
            <a:srgbClr val="A4A3A4"/>
          </p15:clr>
        </p15:guide>
        <p15:guide id="2" pos="3120">
          <p15:clr>
            <a:srgbClr val="A4A3A4"/>
          </p15:clr>
        </p15:guide>
        <p15:guide id="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31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8000"/>
    <a:srgbClr val="00CC00"/>
    <a:srgbClr val="FFFFCC"/>
    <a:srgbClr val="969696"/>
    <a:srgbClr val="33CC33"/>
    <a:srgbClr val="0000CC"/>
    <a:srgbClr val="6666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6" autoAdjust="0"/>
    <p:restoredTop sz="84227" autoAdjust="0"/>
  </p:normalViewPr>
  <p:slideViewPr>
    <p:cSldViewPr>
      <p:cViewPr varScale="1">
        <p:scale>
          <a:sx n="85" d="100"/>
          <a:sy n="85" d="100"/>
        </p:scale>
        <p:origin x="-960" y="-96"/>
      </p:cViewPr>
      <p:guideLst>
        <p:guide orient="horz"/>
        <p:guide pos="3120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3954" y="-84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/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/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7FD21B0-B976-4D5B-99B5-D92A101BF4C5}" type="datetimeFigureOut">
              <a:rPr lang="ko-KR" altLang="en-US"/>
              <a:pPr>
                <a:defRPr/>
              </a:pPr>
              <a:t>2019-01-30</a:t>
            </a:fld>
            <a:endParaRPr lang="en-US" altLang="ko-KR"/>
          </a:p>
        </p:txBody>
      </p:sp>
      <p:sp>
        <p:nvSpPr>
          <p:cNvPr id="4" name="바닥글 개체 틀 3">
            <a:extLst/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/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b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101675FA-DDA2-4ADC-8BD9-D42B1883FC0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0485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/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3187" name="Rectangle 3">
            <a:extLst/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9" name="Rectangle 5">
            <a:extLst/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93190" name="Rectangle 6">
            <a:extLst/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3191" name="Rectangle 7">
            <a:extLst/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b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D9279650-6535-4603-A8D0-3497D3D5B80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3721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085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096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6525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40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4521" algn="l" defTabSz="91381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425" algn="l" defTabSz="91381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331" algn="l" defTabSz="91381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235" algn="l" defTabSz="91381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550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4" y="274638"/>
            <a:ext cx="8915400" cy="1143000"/>
          </a:xfrm>
          <a:prstGeom prst="rect">
            <a:avLst/>
          </a:prstGeom>
        </p:spPr>
        <p:txBody>
          <a:bodyPr lIns="91381" tIns="45691" rIns="91381" bIns="45691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4" y="1600205"/>
            <a:ext cx="8915400" cy="4525963"/>
          </a:xfrm>
          <a:prstGeom prst="rect">
            <a:avLst/>
          </a:prstGeom>
        </p:spPr>
        <p:txBody>
          <a:bodyPr lIns="91381" tIns="45691" rIns="91381" bIns="45691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89292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AA175347-CD6C-4CA2-9F47-7E298C33A98E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5" name="바닥글 개체 틀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054496F-9896-419E-BD9F-908155E4153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02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A19AD9DB-E06D-42A3-AB03-6D77888A58E8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5" name="바닥글 개체 틀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5A76BBC-747A-463C-ACD5-385E3DCAA10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3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A12BF677-3609-4D71-AC26-8BD00B70C40D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5" name="바닥글 개체 틀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11D1222-6E43-4F34-A15A-3365366F68D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35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8008512C-3F1C-4DBE-AEE2-C42D5D98735A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6" name="바닥글 개체 틀 5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3CB42D6-787B-42F5-9D73-79471FE5B6F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7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942C34C8-6BC9-4D7B-9852-4B95648BC1E7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8" name="바닥글 개체 틀 7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72E5F75-A2EC-4653-88C0-AC693F5A7EA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14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9E34679E-0A93-4636-BDB0-F187390B3852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4" name="바닥글 개체 틀 3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9C9C03D-64B6-463A-8447-90F84FEAB5A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32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51541508-530B-4A59-B228-4513E96906DD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3" name="바닥글 개체 틀 2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6D71758-D1F4-46C1-9BD3-D012DFF6EF6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80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94C71EE5-DB94-43FD-BFD0-D115F9C33A2A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6" name="바닥글 개체 틀 5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8D972C2-4FFC-4263-A4E1-408457C7318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74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DB1D9957-6E1E-42B3-8A11-33ACB2FFF340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6" name="바닥글 개체 틀 5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8D5F57F-897B-4048-8FC0-225E7EA505A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789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03EC9BD6-19C4-4D19-B4CA-3CBDD68C9384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5" name="바닥글 개체 틀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BC39967-1259-4ABF-A716-4D1A5AA8A7D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331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F680D509-63FC-42CD-9EBA-5F2EB6F61E86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5" name="바닥글 개체 틀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32A950C-6E19-4D88-838E-BD766C6266A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17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419" r:id="rId1"/>
    <p:sldLayoutId id="2147484420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6907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381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0714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761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36550" indent="-33655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5013" indent="-277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8238" indent="-22383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2263" indent="-2206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2638" indent="-223838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2974" indent="-22845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69880" indent="-22845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6782" indent="-22845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3688" indent="-22845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07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10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14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618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521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425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331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235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>
            <a:extLst/>
          </p:cNvPr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57D46A56-7D6D-4040-AEA6-719030008228}" type="datetimeFigureOut">
              <a:rPr lang="ko-KR" altLang="en-US"/>
              <a:pPr>
                <a:defRPr/>
              </a:pPr>
              <a:t>2019-01-30</a:t>
            </a:fld>
            <a:endParaRPr lang="ko-KR" altLang="en-US"/>
          </a:p>
        </p:txBody>
      </p:sp>
      <p:sp>
        <p:nvSpPr>
          <p:cNvPr id="5" name="바닥글 개체 틀 4">
            <a:extLst/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/>
          </p:cNvPr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b="0">
                <a:solidFill>
                  <a:srgbClr val="898989"/>
                </a:solidFill>
                <a:latin typeface="맑은 고딕" panose="020B0503020000020004" pitchFamily="50" charset="-127"/>
              </a:defRPr>
            </a:lvl1pPr>
          </a:lstStyle>
          <a:p>
            <a:pPr>
              <a:defRPr/>
            </a:pPr>
            <a:fld id="{FF50D6F6-7771-4818-B484-23A5B45B1C5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21" r:id="rId1"/>
    <p:sldLayoutId id="2147484422" r:id="rId2"/>
    <p:sldLayoutId id="2147484423" r:id="rId3"/>
    <p:sldLayoutId id="2147484424" r:id="rId4"/>
    <p:sldLayoutId id="2147484425" r:id="rId5"/>
    <p:sldLayoutId id="2147484426" r:id="rId6"/>
    <p:sldLayoutId id="2147484427" r:id="rId7"/>
    <p:sldLayoutId id="2147484428" r:id="rId8"/>
    <p:sldLayoutId id="2147484429" r:id="rId9"/>
    <p:sldLayoutId id="2147484430" r:id="rId10"/>
    <p:sldLayoutId id="2147484431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wfarmhub.lge.com:8100/#/c/41479/" TargetMode="Externa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/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458514"/>
              </p:ext>
            </p:extLst>
          </p:nvPr>
        </p:nvGraphicFramePr>
        <p:xfrm>
          <a:off x="128464" y="116632"/>
          <a:ext cx="9649072" cy="689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1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61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880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234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061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0613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0613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0613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12207"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Arial" charset="0"/>
                        </a:rPr>
                        <a:t>ENGINEERING  REPORT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Reviewer/Team(Development)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Review Date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Approval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Issue Owner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Team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Leader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632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Terrence /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TV Development MEMC Team </a:t>
                      </a:r>
                      <a:endParaRPr lang="ko-KR" altLang="en-US" sz="1000" b="1" kern="1200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2010.01.29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err="1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Andy_chen</a:t>
                      </a: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lang="en-US" altLang="ko-KR" sz="1000" b="1" kern="1200" dirty="0" err="1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jimmy_wei</a:t>
                      </a:r>
                      <a:endParaRPr lang="ko-KR" altLang="en-US" sz="1000" b="1" kern="1200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91443" marR="91443" marT="45713" marB="4571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James Park /Cavin Huang</a:t>
                      </a:r>
                      <a:endParaRPr lang="ko-KR" altLang="en-US" sz="11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1443" marR="91443" marT="45713" marB="4571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Jeffrey</a:t>
                      </a:r>
                      <a:endParaRPr lang="ko-KR" altLang="en-US" sz="1000" b="1" kern="1200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91443" marR="91443" marT="45713" marB="4571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6327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1.DQA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MM/</a:t>
                      </a:r>
                    </a:p>
                    <a:p>
                      <a:pPr marL="0" indent="0" algn="ctr" latinLnBrk="1">
                        <a:buNone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Test Cause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PQ/Claim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2.Date of Occurrence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2018.12.14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3.Title(Issue Description)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helicopter wing broken </a:t>
                      </a:r>
                      <a:endParaRPr lang="ko-KR" altLang="en-US" sz="1000" b="1" kern="1200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6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4. Model Name</a:t>
                      </a:r>
                    </a:p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(Product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Family)</a:t>
                      </a:r>
                      <a:endParaRPr lang="ko-KR" altLang="en-US" sz="1000" b="1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charset="0"/>
                        </a:rPr>
                        <a:t>K5LP 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 TV 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5. Event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SW Verification/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SW Qualification / MP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 Test Item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Place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of Occurrence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PQ/QA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7.Total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Occurrence</a:t>
                      </a:r>
                      <a:endParaRPr lang="ko-KR" altLang="en-US" sz="1000" b="1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2 100%</a:t>
                      </a:r>
                      <a:endParaRPr lang="ko-KR" altLang="en-US" sz="1000" b="1" kern="1200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63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Arial" charset="0"/>
                        </a:rPr>
                        <a:t>8.Statistical</a:t>
                      </a:r>
                      <a:r>
                        <a:rPr kumimoji="0"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Arial" charset="0"/>
                        </a:rPr>
                        <a:t> Verification</a:t>
                      </a:r>
                      <a:endParaRPr kumimoji="0"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Arial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No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9.Reason for not verifying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statistics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SW issues that can pass/fail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without statistical significance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4259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[Issue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Description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]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[Causes]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[Measures]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78680">
                <a:tc rowSpan="5"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Issue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Description</a:t>
                      </a:r>
                    </a:p>
                    <a:p>
                      <a:pPr algn="l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/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</a:br>
                      <a:r>
                        <a:rPr lang="en-US" altLang="zh-CN" sz="1000" b="1" kern="120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helicopter wing broken</a:t>
                      </a:r>
                      <a:endParaRPr lang="en-US" altLang="ko-KR" sz="1000" b="1" kern="1200" baseline="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algn="l" latinLnBrk="1"/>
                      <a:endParaRPr lang="en-US" altLang="ko-KR" sz="1000" b="1" baseline="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endParaRPr lang="en-US" altLang="ko-KR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Key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Quality Characteristics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:</a:t>
                      </a:r>
                      <a:endParaRPr lang="en-US" altLang="ko-KR" sz="1000" b="1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    Spec : </a:t>
                      </a:r>
                    </a:p>
                    <a:p>
                      <a:pPr algn="l" latinLnBrk="1"/>
                      <a:r>
                        <a:rPr lang="en-US" altLang="ko-KR" sz="1000" b="1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MEMC / MC</a:t>
                      </a:r>
                      <a:r>
                        <a:rPr lang="en-US" altLang="ko-KR" sz="1000" b="1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off / fall back</a:t>
                      </a:r>
                      <a:endParaRPr lang="en-US" altLang="ko-KR" sz="1000" b="1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endParaRPr lang="en-US" altLang="ko-KR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endParaRPr lang="en-US" altLang="ko-KR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Reproduction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Mode/Frequency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:</a:t>
                      </a:r>
                    </a:p>
                    <a:p>
                      <a:endParaRPr lang="en-US" altLang="zh-TW" sz="1050" b="1" i="0" kern="1200" dirty="0" smtClean="0">
                        <a:solidFill>
                          <a:srgbClr val="008000"/>
                        </a:solidFill>
                        <a:effectLst/>
                        <a:latin typeface="+mn-lt"/>
                        <a:ea typeface="LG스마트체 Regular"/>
                        <a:cs typeface="+mn-cs"/>
                      </a:endParaRPr>
                    </a:p>
                    <a:p>
                      <a:r>
                        <a:rPr lang="en-US" altLang="zh-TW" sz="1050" b="1" i="0" kern="120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Pattern:CMR_xmen_apocalypse.mp4</a:t>
                      </a:r>
                    </a:p>
                    <a:p>
                      <a:endParaRPr lang="en-US" altLang="zh-TW" sz="1050" b="1" i="0" kern="1200" dirty="0" smtClean="0">
                        <a:solidFill>
                          <a:srgbClr val="008000"/>
                        </a:solidFill>
                        <a:effectLst/>
                        <a:latin typeface="+mn-lt"/>
                        <a:ea typeface="LG스마트체 Regular"/>
                        <a:cs typeface="+mn-cs"/>
                      </a:endParaRPr>
                    </a:p>
                    <a:p>
                      <a:r>
                        <a:rPr lang="en-US" altLang="zh-TW" sz="1050" b="1" i="0" kern="120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TV :picture</a:t>
                      </a:r>
                      <a:r>
                        <a:rPr lang="en-US" altLang="zh-TW" sz="1050" b="1" i="0" kern="1200" baseline="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 mode :</a:t>
                      </a:r>
                      <a:r>
                        <a:rPr lang="en-US" altLang="zh-TW" sz="1050" b="1" i="0" kern="120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 standard</a:t>
                      </a:r>
                      <a:r>
                        <a:rPr lang="en-US" altLang="zh-TW" sz="1050" b="1" i="0" kern="1200" baseline="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zh-TW" sz="1050" b="1" i="0" kern="120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mode</a:t>
                      </a:r>
                    </a:p>
                    <a:p>
                      <a:r>
                        <a:rPr lang="en-US" altLang="ko-KR" sz="1050" b="1" i="0" kern="120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Frequency</a:t>
                      </a:r>
                      <a:r>
                        <a:rPr lang="en-US" altLang="ko-KR" sz="1050" b="1" i="0" kern="1200" baseline="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  : always</a:t>
                      </a:r>
                      <a:endParaRPr lang="en-US" altLang="ko-KR" sz="1000" b="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endParaRPr lang="en-US" altLang="ko-KR" sz="1000" b="1" baseline="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en-US" altLang="ko-KR" sz="1000" b="1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/>
                      </a:r>
                      <a:br>
                        <a:rPr lang="en-US" altLang="ko-KR" sz="1000" b="1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</a:br>
                      <a:r>
                        <a:rPr lang="en-US" altLang="ko-KR" sz="1000" b="1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 </a:t>
                      </a:r>
                      <a:endParaRPr lang="ko-KR" altLang="en-US" sz="1000" b="1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5-Why Description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(Need to be described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with objectivity and depth)</a:t>
                      </a:r>
                    </a:p>
                    <a:p>
                      <a:pPr algn="l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Improvement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Measures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(Temporary/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Fundamental Measures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latinLnBrk="1">
                        <a:buNone/>
                      </a:pPr>
                      <a:endParaRPr lang="en-US" altLang="zh-TW" sz="1000" b="1" baseline="0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zh-TW" sz="1000" b="0" baseline="0" dirty="0" smtClean="0">
                          <a:solidFill>
                            <a:srgbClr val="0099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Modify  the  threshold and let the broken frame  enter into Global fallback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6186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Improved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Result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- Total Occurrence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after improvement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0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0%(10/10</a:t>
                      </a:r>
                      <a:r>
                        <a:rPr lang="ko-KR" altLang="en-US" sz="10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OK)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zh-TW" sz="10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broken is disappear. </a:t>
                      </a:r>
                      <a:endParaRPr lang="en-US" altLang="ko-KR" sz="1000" b="1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457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Improvement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Reflected Date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en-US" altLang="ko-KR" sz="1000" b="1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2019.1.28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457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Side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effect Verification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00" b="0" kern="120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N/A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937247">
                <a:tc gridSpan="2" vMerge="1">
                  <a:txBody>
                    <a:bodyPr/>
                    <a:lstStyle/>
                    <a:p>
                      <a:pPr algn="l" latinLnBrk="1"/>
                      <a:endParaRPr lang="en-US" altLang="ko-KR" sz="1000" b="0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Preventive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Measures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rgbClr val="0099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When mv is messy,  current frame need enter to </a:t>
                      </a:r>
                      <a:r>
                        <a:rPr lang="en-US" altLang="zh-TW" sz="1000" b="0" baseline="0" dirty="0" smtClean="0">
                          <a:solidFill>
                            <a:srgbClr val="0099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Global </a:t>
                      </a:r>
                      <a:r>
                        <a:rPr lang="en-US" altLang="ko-KR" sz="1000" b="0" baseline="0" dirty="0" smtClean="0">
                          <a:solidFill>
                            <a:srgbClr val="0099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full back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539618">
                <a:tc rowSpan="2"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Test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Result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(Current Level)</a:t>
                      </a:r>
                    </a:p>
                    <a:p>
                      <a:pPr algn="l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 - Occurrence Rate before Improvement: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en-US" altLang="ko-KR" sz="10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9002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Horizontal Deployment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N/A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/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907806"/>
              </p:ext>
            </p:extLst>
          </p:nvPr>
        </p:nvGraphicFramePr>
        <p:xfrm>
          <a:off x="2576736" y="2924944"/>
          <a:ext cx="3377232" cy="4549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505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97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Why1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* W :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motion video is broken. MEMC off is OK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  → 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W1 : ME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or MC problem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7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Why2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* ME or MC problem, check MC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module.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  </a:t>
                      </a:r>
                      <a:r>
                        <a:rPr lang="ko-KR" altLang="en-US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→ 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W2 : Disable 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MC function is better</a:t>
                      </a:r>
                      <a:endParaRPr lang="ko-KR" altLang="en-US" sz="900" b="0" kern="12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7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Why3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* Show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mv mode, the mv on the area of broken  is messy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  </a:t>
                      </a:r>
                      <a:r>
                        <a:rPr lang="ko-KR" altLang="en-US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→ 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W3 : why is the mv messy ? </a:t>
                      </a:r>
                      <a:endParaRPr lang="ko-KR" altLang="en-US" sz="900" b="0" kern="12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761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Why4</a:t>
                      </a:r>
                      <a:endParaRPr lang="ko-KR" altLang="en-US" sz="9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* only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disable ME function ,use original source  the broken will gone.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→ 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W4 :only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disable ME function ,use original source  the broken will gone.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761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Why5</a:t>
                      </a:r>
                      <a:endParaRPr lang="ko-KR" altLang="en-US" sz="9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* if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the frame mv is messy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, It’s keep original source is better.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-&gt;W5 : Determine these special pattern, and let the frame enter to Global fallback.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2411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Root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Cause</a:t>
                      </a:r>
                      <a:endParaRPr lang="ko-KR" altLang="en-US" sz="9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Because the wing move complexly, the mv is messy. so sometimes will use wrong mv data to interpolation, we will se the broken video.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95250"/>
            <a:ext cx="8734425" cy="44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82" tIns="61091" rIns="122182" bIns="61091"/>
          <a:lstStyle/>
          <a:p>
            <a:pPr algn="l" eaLnBrk="1" hangingPunct="1"/>
            <a:r>
              <a:rPr lang="en-US" altLang="ko-KR" sz="20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Review Result Report</a:t>
            </a:r>
            <a:endParaRPr lang="ko-KR" altLang="en-US" sz="2000" smtClean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85255" name="Group 2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817608"/>
              </p:ext>
            </p:extLst>
          </p:nvPr>
        </p:nvGraphicFramePr>
        <p:xfrm>
          <a:off x="200472" y="582934"/>
          <a:ext cx="9505056" cy="5845478"/>
        </p:xfrm>
        <a:graphic>
          <a:graphicData uri="http://schemas.openxmlformats.org/drawingml/2006/table">
            <a:tbl>
              <a:tblPr/>
              <a:tblGrid>
                <a:gridCol w="117678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42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58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9213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764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309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40868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50695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Project</a:t>
                      </a: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webOS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 4.5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Event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PV</a:t>
                      </a:r>
                      <a:endParaRPr kumimoji="0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Review Date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2018.XX.XX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689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Review Title</a:t>
                      </a:r>
                      <a:endParaRPr kumimoji="1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돋움" panose="020B0600000101010101" pitchFamily="50" charset="-127"/>
                          <a:cs typeface="+mn-cs"/>
                        </a:rPr>
                        <a:t>[KTASKWBS-10129][MEMC]improve propeller broken</a:t>
                      </a:r>
                      <a:endParaRPr lang="ko-KR" altLang="en-US" sz="1200" b="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Review Item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Document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Source Code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0695">
                <a:tc grid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Review Document/ Source Code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Author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Reviewer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312641">
                <a:tc grid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  <a:hlinkClick r:id="rId2"/>
                        </a:rPr>
                        <a:t>https://swfarmhub.lge.com:8100/#/c/41479/</a:t>
                      </a:r>
                      <a:r>
                        <a:rPr kumimoji="1" lang="en-US" altLang="zh-CN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 </a:t>
                      </a:r>
                      <a:endParaRPr kumimoji="1" lang="en-US" altLang="ko-KR" sz="12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Andy_chen</a:t>
                      </a: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/Jimmy_wei</a:t>
                      </a: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Jerry/Terrence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851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Key Changes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6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indent="0" algn="l" defTabSz="757238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Fixed broken video when pure video input</a:t>
                      </a:r>
                      <a:endParaRPr kumimoji="1" lang="ko-KR" altLang="en-US" sz="1000" b="0" kern="120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1988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35124">
                <a:tc gridSpan="4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Expected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Side Effect 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Action </a:t>
                      </a:r>
                      <a:endParaRPr kumimoji="1" lang="ko-KR" alt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818061">
                <a:tc gridSpan="4">
                  <a:txBody>
                    <a:bodyPr/>
                    <a:lstStyle>
                      <a:lvl1pPr marL="88900" indent="-88900"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Some frame may enter to local full back wrongly, and the frame may occur sudden broken.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1988" marR="35994" marT="35995" marB="3599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Action result per each Side Effect item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zh-TW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zh-TW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 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71988" marR="35994" marT="35995" marB="3599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9263" name="Text Box 85"/>
          <p:cNvSpPr txBox="1">
            <a:spLocks noChangeArrowheads="1"/>
          </p:cNvSpPr>
          <p:nvPr/>
        </p:nvSpPr>
        <p:spPr bwMode="auto">
          <a:xfrm>
            <a:off x="4639464" y="6597352"/>
            <a:ext cx="627073" cy="246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 marL="82550" indent="-825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 – 1/3</a:t>
            </a:r>
            <a:endParaRPr lang="en-US" altLang="ko-KR" b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264" name="자유형 3"/>
          <p:cNvSpPr>
            <a:spLocks noChangeArrowheads="1"/>
          </p:cNvSpPr>
          <p:nvPr/>
        </p:nvSpPr>
        <p:spPr bwMode="auto">
          <a:xfrm>
            <a:off x="8532813" y="1018136"/>
            <a:ext cx="112713" cy="124619"/>
          </a:xfrm>
          <a:custGeom>
            <a:avLst/>
            <a:gdLst>
              <a:gd name="T0" fmla="*/ 0 w 126124"/>
              <a:gd name="T1" fmla="*/ 2 h 189186"/>
              <a:gd name="T2" fmla="*/ 180 w 126124"/>
              <a:gd name="T3" fmla="*/ 2 h 189186"/>
              <a:gd name="T4" fmla="*/ 718 w 126124"/>
              <a:gd name="T5" fmla="*/ 0 h 189186"/>
              <a:gd name="T6" fmla="*/ 718 w 126124"/>
              <a:gd name="T7" fmla="*/ 0 h 189186"/>
              <a:gd name="T8" fmla="*/ 0 60000 65536"/>
              <a:gd name="T9" fmla="*/ 0 60000 65536"/>
              <a:gd name="T10" fmla="*/ 0 60000 65536"/>
              <a:gd name="T11" fmla="*/ 0 60000 65536"/>
              <a:gd name="T12" fmla="*/ 0 w 126124"/>
              <a:gd name="T13" fmla="*/ 0 h 189186"/>
              <a:gd name="T14" fmla="*/ 126124 w 126124"/>
              <a:gd name="T15" fmla="*/ 189186 h 1891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6124" h="189186">
                <a:moveTo>
                  <a:pt x="0" y="55179"/>
                </a:moveTo>
                <a:lnTo>
                  <a:pt x="31531" y="189186"/>
                </a:lnTo>
                <a:lnTo>
                  <a:pt x="126124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538163"/>
            <a:ext cx="9906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7239" y="6525344"/>
            <a:ext cx="9906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39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656854"/>
              </p:ext>
            </p:extLst>
          </p:nvPr>
        </p:nvGraphicFramePr>
        <p:xfrm>
          <a:off x="271495" y="642937"/>
          <a:ext cx="9324975" cy="4377251"/>
        </p:xfrm>
        <a:graphic>
          <a:graphicData uri="http://schemas.openxmlformats.org/drawingml/2006/table">
            <a:tbl>
              <a:tblPr/>
              <a:tblGrid>
                <a:gridCol w="24669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456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Test Item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Test Script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Expected Result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Owner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Test Result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0261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MEMC Test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Check Internal signal of PS/DIL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No broken video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OK</a:t>
                      </a: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cxnSp>
        <p:nvCxnSpPr>
          <p:cNvPr id="5" name="직선 연결선 4"/>
          <p:cNvCxnSpPr/>
          <p:nvPr/>
        </p:nvCxnSpPr>
        <p:spPr>
          <a:xfrm>
            <a:off x="0" y="538163"/>
            <a:ext cx="9906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95250"/>
            <a:ext cx="873442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182" tIns="61091" rIns="122182" bIns="61091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 eaLnBrk="1" hangingPunct="1"/>
            <a:r>
              <a:rPr kumimoji="0" lang="en-US" altLang="ko-KR" sz="2000" b="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Test Result Report</a:t>
            </a:r>
            <a:endParaRPr kumimoji="0" lang="ko-KR" altLang="en-US" sz="2000" b="0" smtClean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7239" y="6525344"/>
            <a:ext cx="9906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85"/>
          <p:cNvSpPr txBox="1">
            <a:spLocks noChangeArrowheads="1"/>
          </p:cNvSpPr>
          <p:nvPr/>
        </p:nvSpPr>
        <p:spPr bwMode="auto">
          <a:xfrm>
            <a:off x="4639464" y="6597352"/>
            <a:ext cx="627073" cy="246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 marL="82550" indent="-825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 – 2/3</a:t>
            </a:r>
            <a:endParaRPr lang="en-US" altLang="ko-KR" b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257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/>
        </p:nvSpPr>
        <p:spPr bwMode="auto">
          <a:xfrm>
            <a:off x="39688" y="71438"/>
            <a:ext cx="8734425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82" tIns="61091" rIns="122182" bIns="61091"/>
          <a:lstStyle>
            <a:lvl1pPr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2000" b="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Source Code </a:t>
            </a:r>
            <a:r>
              <a:rPr kumimoji="0" lang="en-US" altLang="ko-KR" sz="2000" b="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Changes</a:t>
            </a:r>
            <a:endParaRPr kumimoji="0" lang="ko-KR" altLang="en-US" sz="2000" b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476672"/>
            <a:ext cx="9906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5"/>
          <p:cNvSpPr txBox="1">
            <a:spLocks noChangeArrowheads="1"/>
          </p:cNvSpPr>
          <p:nvPr/>
        </p:nvSpPr>
        <p:spPr bwMode="auto">
          <a:xfrm>
            <a:off x="4639464" y="6597352"/>
            <a:ext cx="627073" cy="246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 marL="82550" indent="-825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 – 3/3</a:t>
            </a:r>
            <a:endParaRPr lang="en-US" altLang="ko-KR" b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-15552" y="514350"/>
            <a:ext cx="3390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99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Before/After Changes Source Code diff capture</a:t>
            </a:r>
            <a:endParaRPr lang="ko-KR" altLang="en-US" dirty="0">
              <a:solidFill>
                <a:srgbClr val="0099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980728"/>
            <a:ext cx="614362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394998" y="3997513"/>
            <a:ext cx="61436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dirty="0" smtClean="0">
                <a:solidFill>
                  <a:srgbClr val="008000"/>
                </a:solidFill>
                <a:ea typeface="LG스마트체 Regular"/>
              </a:rPr>
              <a:t>Firmware </a:t>
            </a:r>
            <a:r>
              <a:rPr lang="en-US" altLang="zh-TW" dirty="0">
                <a:solidFill>
                  <a:srgbClr val="008000"/>
                </a:solidFill>
                <a:ea typeface="LG스마트체 Regular"/>
              </a:rPr>
              <a:t>will </a:t>
            </a:r>
            <a:r>
              <a:rPr lang="en-US" altLang="zh-TW" dirty="0" smtClean="0">
                <a:solidFill>
                  <a:srgbClr val="008000"/>
                </a:solidFill>
                <a:ea typeface="LG스마트체 Regular"/>
              </a:rPr>
              <a:t>detect </a:t>
            </a:r>
            <a:r>
              <a:rPr lang="en-US" altLang="zh-TW" dirty="0">
                <a:solidFill>
                  <a:srgbClr val="008000"/>
                </a:solidFill>
                <a:ea typeface="LG스마트체 Regular"/>
              </a:rPr>
              <a:t>current frame’s characteristic </a:t>
            </a:r>
            <a:r>
              <a:rPr lang="en-US" altLang="zh-TW" dirty="0" smtClean="0">
                <a:solidFill>
                  <a:srgbClr val="008000"/>
                </a:solidFill>
                <a:ea typeface="LG스마트체 Regular"/>
              </a:rPr>
              <a:t>value, the </a:t>
            </a:r>
            <a:r>
              <a:rPr lang="en-US" altLang="zh-TW" dirty="0">
                <a:solidFill>
                  <a:srgbClr val="008000"/>
                </a:solidFill>
                <a:ea typeface="LG스마트체 Regular"/>
              </a:rPr>
              <a:t>characteristic value is </a:t>
            </a:r>
            <a:r>
              <a:rPr lang="en-US" altLang="zh-TW" dirty="0" smtClean="0">
                <a:solidFill>
                  <a:srgbClr val="008000"/>
                </a:solidFill>
                <a:ea typeface="LG스마트체 Regular"/>
              </a:rPr>
              <a:t>composed </a:t>
            </a:r>
            <a:r>
              <a:rPr lang="en-US" altLang="zh-TW" dirty="0">
                <a:solidFill>
                  <a:srgbClr val="008000"/>
                </a:solidFill>
                <a:ea typeface="LG스마트체 Regular"/>
              </a:rPr>
              <a:t>of  y/hue </a:t>
            </a:r>
            <a:r>
              <a:rPr lang="en-US" altLang="zh-TW" dirty="0" smtClean="0">
                <a:solidFill>
                  <a:srgbClr val="008000"/>
                </a:solidFill>
                <a:ea typeface="LG스마트체 Regular"/>
              </a:rPr>
              <a:t>histogram flag \frame detail info\still frame flag. When current frame’s characteristic </a:t>
            </a:r>
            <a:r>
              <a:rPr lang="en-US" altLang="zh-TW" dirty="0">
                <a:solidFill>
                  <a:srgbClr val="008000"/>
                </a:solidFill>
                <a:ea typeface="LG스마트체 Regular"/>
              </a:rPr>
              <a:t>value is </a:t>
            </a:r>
            <a:r>
              <a:rPr lang="en-US" altLang="zh-TW" dirty="0" smtClean="0">
                <a:solidFill>
                  <a:srgbClr val="008000"/>
                </a:solidFill>
                <a:ea typeface="LG스마트체 Regular"/>
              </a:rPr>
              <a:t>within </a:t>
            </a:r>
            <a:r>
              <a:rPr lang="en-US" altLang="zh-TW" dirty="0">
                <a:solidFill>
                  <a:srgbClr val="008000"/>
                </a:solidFill>
                <a:ea typeface="LG스마트체 Regular"/>
              </a:rPr>
              <a:t>the threshold range , </a:t>
            </a:r>
            <a:r>
              <a:rPr lang="en-US" altLang="zh-TW" dirty="0" smtClean="0">
                <a:solidFill>
                  <a:srgbClr val="008000"/>
                </a:solidFill>
                <a:ea typeface="LG스마트체 Regular"/>
              </a:rPr>
              <a:t>Firmware </a:t>
            </a:r>
            <a:r>
              <a:rPr lang="en-US" altLang="zh-TW" dirty="0">
                <a:solidFill>
                  <a:srgbClr val="008000"/>
                </a:solidFill>
                <a:ea typeface="LG스마트체 Regular"/>
              </a:rPr>
              <a:t>will </a:t>
            </a:r>
            <a:r>
              <a:rPr lang="en-US" altLang="zh-TW" dirty="0">
                <a:solidFill>
                  <a:srgbClr val="008000"/>
                </a:solidFill>
                <a:ea typeface="LG스마트체 Regular"/>
              </a:rPr>
              <a:t>Modify  the  threshold and </a:t>
            </a:r>
            <a:r>
              <a:rPr lang="en-US" altLang="zh-TW" dirty="0" smtClean="0">
                <a:solidFill>
                  <a:srgbClr val="008000"/>
                </a:solidFill>
                <a:ea typeface="LG스마트체 Regular"/>
              </a:rPr>
              <a:t> let  the </a:t>
            </a:r>
            <a:r>
              <a:rPr lang="en-US" altLang="zh-TW" dirty="0">
                <a:solidFill>
                  <a:srgbClr val="008000"/>
                </a:solidFill>
                <a:ea typeface="LG스마트체 Regular"/>
              </a:rPr>
              <a:t>broken frame  enter into Global </a:t>
            </a:r>
            <a:r>
              <a:rPr lang="en-US" altLang="zh-TW" dirty="0" smtClean="0">
                <a:solidFill>
                  <a:srgbClr val="008000"/>
                </a:solidFill>
                <a:ea typeface="LG스마트체 Regular"/>
              </a:rPr>
              <a:t>fallback.</a:t>
            </a:r>
            <a:endParaRPr lang="en-US" altLang="zh-TW" dirty="0">
              <a:solidFill>
                <a:srgbClr val="008000"/>
              </a:solidFill>
              <a:ea typeface="LG스마트체 Regular"/>
            </a:endParaRPr>
          </a:p>
          <a:p>
            <a:endParaRPr lang="en-US" altLang="zh-TW" dirty="0">
              <a:solidFill>
                <a:srgbClr val="008000"/>
              </a:solidFill>
              <a:ea typeface="LG스마트체 Regular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2844924"/>
            <a:ext cx="72009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808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26851</TotalTime>
  <Words>528</Words>
  <Application>Microsoft Office PowerPoint</Application>
  <PresentationFormat>A4 纸张(210x297 毫米)</PresentationFormat>
  <Paragraphs>143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1_기본 디자인</vt:lpstr>
      <vt:lpstr>Office 테마</vt:lpstr>
      <vt:lpstr>PowerPoint 演示文稿</vt:lpstr>
      <vt:lpstr>Review Result Report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rssd</cp:lastModifiedBy>
  <cp:revision>1766</cp:revision>
  <dcterms:created xsi:type="dcterms:W3CDTF">2008-11-26T05:44:28Z</dcterms:created>
  <dcterms:modified xsi:type="dcterms:W3CDTF">2019-01-30T08:03:27Z</dcterms:modified>
</cp:coreProperties>
</file>