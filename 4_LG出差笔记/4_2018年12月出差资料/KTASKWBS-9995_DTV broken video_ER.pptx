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2" r:id="rId2"/>
  </p:sldMasterIdLst>
  <p:notesMasterIdLst>
    <p:notesMasterId r:id="rId7"/>
  </p:notesMasterIdLst>
  <p:handoutMasterIdLst>
    <p:handoutMasterId r:id="rId8"/>
  </p:handoutMasterIdLst>
  <p:sldIdLst>
    <p:sldId id="433" r:id="rId3"/>
    <p:sldId id="437" r:id="rId4"/>
    <p:sldId id="438" r:id="rId5"/>
    <p:sldId id="440" r:id="rId6"/>
  </p:sldIdLst>
  <p:sldSz cx="9906000" cy="6858000" type="A4"/>
  <p:notesSz cx="6807200" cy="99393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1200" b="1" kern="1200">
        <a:solidFill>
          <a:schemeClr val="tx1"/>
        </a:solidFill>
        <a:latin typeface="Arial" panose="020B0604020202020204" pitchFamily="34" charset="0"/>
        <a:ea typeface="맑은 고딕" panose="020B0503020000020004" pitchFamily="50" charset="-127"/>
        <a:cs typeface="+mn-cs"/>
      </a:defRPr>
    </a:lvl1pPr>
    <a:lvl2pPr marL="450850" indent="3175" algn="l" rtl="0" eaLnBrk="0" fontAlgn="base" hangingPunct="0">
      <a:spcBef>
        <a:spcPct val="0"/>
      </a:spcBef>
      <a:spcAft>
        <a:spcPct val="0"/>
      </a:spcAft>
      <a:defRPr kumimoji="1" sz="1200" b="1" kern="1200">
        <a:solidFill>
          <a:schemeClr val="tx1"/>
        </a:solidFill>
        <a:latin typeface="Arial" panose="020B0604020202020204" pitchFamily="34" charset="0"/>
        <a:ea typeface="맑은 고딕" panose="020B0503020000020004" pitchFamily="50" charset="-127"/>
        <a:cs typeface="+mn-cs"/>
      </a:defRPr>
    </a:lvl2pPr>
    <a:lvl3pPr marL="909638" indent="3175" algn="l" rtl="0" eaLnBrk="0" fontAlgn="base" hangingPunct="0">
      <a:spcBef>
        <a:spcPct val="0"/>
      </a:spcBef>
      <a:spcAft>
        <a:spcPct val="0"/>
      </a:spcAft>
      <a:defRPr kumimoji="1" sz="1200" b="1" kern="1200">
        <a:solidFill>
          <a:schemeClr val="tx1"/>
        </a:solidFill>
        <a:latin typeface="Arial" panose="020B0604020202020204" pitchFamily="34" charset="0"/>
        <a:ea typeface="맑은 고딕" panose="020B0503020000020004" pitchFamily="50" charset="-127"/>
        <a:cs typeface="+mn-cs"/>
      </a:defRPr>
    </a:lvl3pPr>
    <a:lvl4pPr marL="1365250" indent="3175" algn="l" rtl="0" eaLnBrk="0" fontAlgn="base" hangingPunct="0">
      <a:spcBef>
        <a:spcPct val="0"/>
      </a:spcBef>
      <a:spcAft>
        <a:spcPct val="0"/>
      </a:spcAft>
      <a:defRPr kumimoji="1" sz="1200" b="1" kern="1200">
        <a:solidFill>
          <a:schemeClr val="tx1"/>
        </a:solidFill>
        <a:latin typeface="Arial" panose="020B0604020202020204" pitchFamily="34" charset="0"/>
        <a:ea typeface="맑은 고딕" panose="020B0503020000020004" pitchFamily="50" charset="-127"/>
        <a:cs typeface="+mn-cs"/>
      </a:defRPr>
    </a:lvl4pPr>
    <a:lvl5pPr marL="1824038" indent="3175" algn="l" rtl="0" eaLnBrk="0" fontAlgn="base" hangingPunct="0">
      <a:spcBef>
        <a:spcPct val="0"/>
      </a:spcBef>
      <a:spcAft>
        <a:spcPct val="0"/>
      </a:spcAft>
      <a:defRPr kumimoji="1" sz="1200" b="1" kern="1200">
        <a:solidFill>
          <a:schemeClr val="tx1"/>
        </a:solidFill>
        <a:latin typeface="Arial" panose="020B0604020202020204" pitchFamily="34" charset="0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kumimoji="1" sz="1200" b="1" kern="1200">
        <a:solidFill>
          <a:schemeClr val="tx1"/>
        </a:solidFill>
        <a:latin typeface="Arial" panose="020B0604020202020204" pitchFamily="34" charset="0"/>
        <a:ea typeface="맑은 고딕" panose="020B0503020000020004" pitchFamily="50" charset="-127"/>
        <a:cs typeface="+mn-cs"/>
      </a:defRPr>
    </a:lvl6pPr>
    <a:lvl7pPr marL="2743200" algn="l" defTabSz="914400" rtl="0" eaLnBrk="1" latinLnBrk="1" hangingPunct="1">
      <a:defRPr kumimoji="1" sz="1200" b="1" kern="1200">
        <a:solidFill>
          <a:schemeClr val="tx1"/>
        </a:solidFill>
        <a:latin typeface="Arial" panose="020B0604020202020204" pitchFamily="34" charset="0"/>
        <a:ea typeface="맑은 고딕" panose="020B0503020000020004" pitchFamily="50" charset="-127"/>
        <a:cs typeface="+mn-cs"/>
      </a:defRPr>
    </a:lvl7pPr>
    <a:lvl8pPr marL="3200400" algn="l" defTabSz="914400" rtl="0" eaLnBrk="1" latinLnBrk="1" hangingPunct="1">
      <a:defRPr kumimoji="1" sz="1200" b="1" kern="1200">
        <a:solidFill>
          <a:schemeClr val="tx1"/>
        </a:solidFill>
        <a:latin typeface="Arial" panose="020B0604020202020204" pitchFamily="34" charset="0"/>
        <a:ea typeface="맑은 고딕" panose="020B0503020000020004" pitchFamily="50" charset="-127"/>
        <a:cs typeface="+mn-cs"/>
      </a:defRPr>
    </a:lvl8pPr>
    <a:lvl9pPr marL="3657600" algn="l" defTabSz="914400" rtl="0" eaLnBrk="1" latinLnBrk="1" hangingPunct="1">
      <a:defRPr kumimoji="1" sz="1200" b="1" kern="1200">
        <a:solidFill>
          <a:schemeClr val="tx1"/>
        </a:solidFill>
        <a:latin typeface="Arial" panose="020B0604020202020204" pitchFamily="34" charset="0"/>
        <a:ea typeface="맑은 고딕" panose="020B0503020000020004" pitchFamily="50" charset="-127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>
          <p15:clr>
            <a:srgbClr val="A4A3A4"/>
          </p15:clr>
        </p15:guide>
        <p15:guide id="2" pos="3120">
          <p15:clr>
            <a:srgbClr val="A4A3A4"/>
          </p15:clr>
        </p15:guide>
        <p15:guide id="3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3131">
          <p15:clr>
            <a:srgbClr val="A4A3A4"/>
          </p15:clr>
        </p15:guide>
        <p15:guide id="2" pos="214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009900"/>
    <a:srgbClr val="00CC00"/>
    <a:srgbClr val="FFFFCC"/>
    <a:srgbClr val="969696"/>
    <a:srgbClr val="33CC33"/>
    <a:srgbClr val="0000CC"/>
    <a:srgbClr val="6666FF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76" autoAdjust="0"/>
    <p:restoredTop sz="84227" autoAdjust="0"/>
  </p:normalViewPr>
  <p:slideViewPr>
    <p:cSldViewPr>
      <p:cViewPr>
        <p:scale>
          <a:sx n="100" d="100"/>
          <a:sy n="100" d="100"/>
        </p:scale>
        <p:origin x="-504" y="216"/>
      </p:cViewPr>
      <p:guideLst>
        <p:guide orient="horz"/>
        <p:guide pos="3120"/>
        <p:guide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4" d="100"/>
          <a:sy n="84" d="100"/>
        </p:scale>
        <p:origin x="-3954" y="-84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/>
            </a:extLst>
          </p:cNvPr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4957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0" tIns="45714" rIns="91430" bIns="45714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/>
            </a:extLst>
          </p:cNvPr>
          <p:cNvSpPr>
            <a:spLocks noGrp="1"/>
          </p:cNvSpPr>
          <p:nvPr>
            <p:ph type="dt" sz="quarter" idx="1"/>
          </p:nvPr>
        </p:nvSpPr>
        <p:spPr bwMode="auto">
          <a:xfrm>
            <a:off x="3856038" y="0"/>
            <a:ext cx="294957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0" tIns="45714" rIns="91430" bIns="45714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77FD21B0-B976-4D5B-99B5-D92A101BF4C5}" type="datetimeFigureOut">
              <a:rPr lang="ko-KR" altLang="en-US"/>
              <a:pPr>
                <a:defRPr/>
              </a:pPr>
              <a:t>2019-01-28</a:t>
            </a:fld>
            <a:endParaRPr lang="en-US" altLang="ko-KR"/>
          </a:p>
        </p:txBody>
      </p:sp>
      <p:sp>
        <p:nvSpPr>
          <p:cNvPr id="4" name="바닥글 개체 틀 3">
            <a:extLst>
              <a:ext uri="{FF2B5EF4-FFF2-40B4-BE49-F238E27FC236}"/>
            </a:extLst>
          </p:cNvPr>
          <p:cNvSpPr>
            <a:spLocks noGrp="1"/>
          </p:cNvSpPr>
          <p:nvPr>
            <p:ph type="ftr" sz="quarter" idx="2"/>
          </p:nvPr>
        </p:nvSpPr>
        <p:spPr bwMode="auto">
          <a:xfrm>
            <a:off x="0" y="9440863"/>
            <a:ext cx="2949575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0" tIns="45714" rIns="91430" bIns="45714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/>
            </a:extLst>
          </p:cNvPr>
          <p:cNvSpPr>
            <a:spLocks noGrp="1"/>
          </p:cNvSpPr>
          <p:nvPr>
            <p:ph type="sldNum" sz="quarter" idx="3"/>
          </p:nvPr>
        </p:nvSpPr>
        <p:spPr bwMode="auto">
          <a:xfrm>
            <a:off x="3856038" y="9440863"/>
            <a:ext cx="2949575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0" tIns="45714" rIns="91430" bIns="45714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b="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101675FA-DDA2-4ADC-8BD9-D42B1883FC02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604851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957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0" tIns="45714" rIns="91430" bIns="45714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3187" name="Rectangle 3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56038" y="0"/>
            <a:ext cx="294957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0" tIns="45714" rIns="91430" bIns="45714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2788" y="746125"/>
            <a:ext cx="5381625" cy="3725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3189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1225"/>
            <a:ext cx="5445125" cy="4471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0" tIns="45714" rIns="91430" bIns="457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93190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0863"/>
            <a:ext cx="2949575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0" tIns="45714" rIns="91430" bIns="45714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3191" name="Rectangle 7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6038" y="9440863"/>
            <a:ext cx="2949575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0" tIns="45714" rIns="91430" bIns="45714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b="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D9279650-6535-4603-A8D0-3497D3D5B80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537219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085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0963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6525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403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4521" algn="l" defTabSz="91381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425" algn="l" defTabSz="91381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331" algn="l" defTabSz="91381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235" algn="l" defTabSz="91381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9550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4" y="274638"/>
            <a:ext cx="8915400" cy="1143000"/>
          </a:xfrm>
          <a:prstGeom prst="rect">
            <a:avLst/>
          </a:prstGeom>
        </p:spPr>
        <p:txBody>
          <a:bodyPr lIns="91381" tIns="45691" rIns="91381" bIns="45691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4" y="1600205"/>
            <a:ext cx="8915400" cy="4525963"/>
          </a:xfrm>
          <a:prstGeom prst="rect">
            <a:avLst/>
          </a:prstGeom>
        </p:spPr>
        <p:txBody>
          <a:bodyPr lIns="91381" tIns="45691" rIns="91381" bIns="45691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889292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/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 b="1">
                <a:latin typeface="Arial" charset="0"/>
                <a:ea typeface="맑은 고딕" pitchFamily="50" charset="-127"/>
              </a:defRPr>
            </a:lvl1pPr>
          </a:lstStyle>
          <a:p>
            <a:pPr>
              <a:defRPr/>
            </a:pPr>
            <a:fld id="{AA175347-CD6C-4CA2-9F47-7E298C33A98E}" type="datetimeFigureOut">
              <a:rPr lang="ko-KR" altLang="en-US"/>
              <a:pPr>
                <a:defRPr/>
              </a:pPr>
              <a:t>2019-01-28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/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 b="1">
                <a:latin typeface="Arial" charset="0"/>
                <a:ea typeface="맑은 고딕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/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 b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054496F-9896-419E-BD9F-908155E4153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4023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/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 b="1">
                <a:latin typeface="Arial" charset="0"/>
                <a:ea typeface="맑은 고딕" pitchFamily="50" charset="-127"/>
              </a:defRPr>
            </a:lvl1pPr>
          </a:lstStyle>
          <a:p>
            <a:pPr>
              <a:defRPr/>
            </a:pPr>
            <a:fld id="{A19AD9DB-E06D-42A3-AB03-6D77888A58E8}" type="datetimeFigureOut">
              <a:rPr lang="ko-KR" altLang="en-US"/>
              <a:pPr>
                <a:defRPr/>
              </a:pPr>
              <a:t>2019-01-28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/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 b="1">
                <a:latin typeface="Arial" charset="0"/>
                <a:ea typeface="맑은 고딕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/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 b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5A76BBC-747A-463C-ACD5-385E3DCAA10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0396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/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 b="1">
                <a:latin typeface="Arial" charset="0"/>
                <a:ea typeface="맑은 고딕" pitchFamily="50" charset="-127"/>
              </a:defRPr>
            </a:lvl1pPr>
          </a:lstStyle>
          <a:p>
            <a:pPr>
              <a:defRPr/>
            </a:pPr>
            <a:fld id="{A12BF677-3609-4D71-AC26-8BD00B70C40D}" type="datetimeFigureOut">
              <a:rPr lang="ko-KR" altLang="en-US"/>
              <a:pPr>
                <a:defRPr/>
              </a:pPr>
              <a:t>2019-01-28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/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 b="1">
                <a:latin typeface="Arial" charset="0"/>
                <a:ea typeface="맑은 고딕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/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 b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11D1222-6E43-4F34-A15A-3365366F68D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5354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/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 b="1">
                <a:latin typeface="Arial" charset="0"/>
                <a:ea typeface="맑은 고딕" pitchFamily="50" charset="-127"/>
              </a:defRPr>
            </a:lvl1pPr>
          </a:lstStyle>
          <a:p>
            <a:pPr>
              <a:defRPr/>
            </a:pPr>
            <a:fld id="{8008512C-3F1C-4DBE-AEE2-C42D5D98735A}" type="datetimeFigureOut">
              <a:rPr lang="ko-KR" altLang="en-US"/>
              <a:pPr>
                <a:defRPr/>
              </a:pPr>
              <a:t>2019-01-28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/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 b="1">
                <a:latin typeface="Arial" charset="0"/>
                <a:ea typeface="맑은 고딕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/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 b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3CB42D6-787B-42F5-9D73-79471FE5B6F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077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/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 b="1">
                <a:latin typeface="Arial" charset="0"/>
                <a:ea typeface="맑은 고딕" pitchFamily="50" charset="-127"/>
              </a:defRPr>
            </a:lvl1pPr>
          </a:lstStyle>
          <a:p>
            <a:pPr>
              <a:defRPr/>
            </a:pPr>
            <a:fld id="{942C34C8-6BC9-4D7B-9852-4B95648BC1E7}" type="datetimeFigureOut">
              <a:rPr lang="ko-KR" altLang="en-US"/>
              <a:pPr>
                <a:defRPr/>
              </a:pPr>
              <a:t>2019-01-28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/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 b="1">
                <a:latin typeface="Arial" charset="0"/>
                <a:ea typeface="맑은 고딕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/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 b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72E5F75-A2EC-4653-88C0-AC693F5A7EA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7140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/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 b="1">
                <a:latin typeface="Arial" charset="0"/>
                <a:ea typeface="맑은 고딕" pitchFamily="50" charset="-127"/>
              </a:defRPr>
            </a:lvl1pPr>
          </a:lstStyle>
          <a:p>
            <a:pPr>
              <a:defRPr/>
            </a:pPr>
            <a:fld id="{9E34679E-0A93-4636-BDB0-F187390B3852}" type="datetimeFigureOut">
              <a:rPr lang="ko-KR" altLang="en-US"/>
              <a:pPr>
                <a:defRPr/>
              </a:pPr>
              <a:t>2019-01-28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/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 b="1">
                <a:latin typeface="Arial" charset="0"/>
                <a:ea typeface="맑은 고딕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/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 b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9C9C03D-64B6-463A-8447-90F84FEAB5A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5324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/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 b="1">
                <a:latin typeface="Arial" charset="0"/>
                <a:ea typeface="맑은 고딕" pitchFamily="50" charset="-127"/>
              </a:defRPr>
            </a:lvl1pPr>
          </a:lstStyle>
          <a:p>
            <a:pPr>
              <a:defRPr/>
            </a:pPr>
            <a:fld id="{51541508-530B-4A59-B228-4513E96906DD}" type="datetimeFigureOut">
              <a:rPr lang="ko-KR" altLang="en-US"/>
              <a:pPr>
                <a:defRPr/>
              </a:pPr>
              <a:t>2019-01-28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/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 b="1">
                <a:latin typeface="Arial" charset="0"/>
                <a:ea typeface="맑은 고딕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/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 b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6D71758-D1F4-46C1-9BD3-D012DFF6EF6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2809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>
            <a:extLst>
              <a:ext uri="{FF2B5EF4-FFF2-40B4-BE49-F238E27FC236}"/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 b="1">
                <a:latin typeface="Arial" charset="0"/>
                <a:ea typeface="맑은 고딕" pitchFamily="50" charset="-127"/>
              </a:defRPr>
            </a:lvl1pPr>
          </a:lstStyle>
          <a:p>
            <a:pPr>
              <a:defRPr/>
            </a:pPr>
            <a:fld id="{94C71EE5-DB94-43FD-BFD0-D115F9C33A2A}" type="datetimeFigureOut">
              <a:rPr lang="ko-KR" altLang="en-US"/>
              <a:pPr>
                <a:defRPr/>
              </a:pPr>
              <a:t>2019-01-28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/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 b="1">
                <a:latin typeface="Arial" charset="0"/>
                <a:ea typeface="맑은 고딕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/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 b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8D972C2-4FFC-4263-A4E1-408457C7318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6747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>
            <a:extLst>
              <a:ext uri="{FF2B5EF4-FFF2-40B4-BE49-F238E27FC236}"/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 b="1">
                <a:latin typeface="Arial" charset="0"/>
                <a:ea typeface="맑은 고딕" pitchFamily="50" charset="-127"/>
              </a:defRPr>
            </a:lvl1pPr>
          </a:lstStyle>
          <a:p>
            <a:pPr>
              <a:defRPr/>
            </a:pPr>
            <a:fld id="{DB1D9957-6E1E-42B3-8A11-33ACB2FFF340}" type="datetimeFigureOut">
              <a:rPr lang="ko-KR" altLang="en-US"/>
              <a:pPr>
                <a:defRPr/>
              </a:pPr>
              <a:t>2019-01-28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/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 b="1">
                <a:latin typeface="Arial" charset="0"/>
                <a:ea typeface="맑은 고딕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/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 b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8D5F57F-897B-4048-8FC0-225E7EA505A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07898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/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 b="1">
                <a:latin typeface="Arial" charset="0"/>
                <a:ea typeface="맑은 고딕" pitchFamily="50" charset="-127"/>
              </a:defRPr>
            </a:lvl1pPr>
          </a:lstStyle>
          <a:p>
            <a:pPr>
              <a:defRPr/>
            </a:pPr>
            <a:fld id="{03EC9BD6-19C4-4D19-B4CA-3CBDD68C9384}" type="datetimeFigureOut">
              <a:rPr lang="ko-KR" altLang="en-US"/>
              <a:pPr>
                <a:defRPr/>
              </a:pPr>
              <a:t>2019-01-28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/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 b="1">
                <a:latin typeface="Arial" charset="0"/>
                <a:ea typeface="맑은 고딕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/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 b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BC39967-1259-4ABF-A716-4D1A5AA8A7D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63316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780337" y="274639"/>
            <a:ext cx="2414588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6575" y="274639"/>
            <a:ext cx="7078663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/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 b="1">
                <a:latin typeface="Arial" charset="0"/>
                <a:ea typeface="맑은 고딕" pitchFamily="50" charset="-127"/>
              </a:defRPr>
            </a:lvl1pPr>
          </a:lstStyle>
          <a:p>
            <a:pPr>
              <a:defRPr/>
            </a:pPr>
            <a:fld id="{F680D509-63FC-42CD-9EBA-5F2EB6F61E86}" type="datetimeFigureOut">
              <a:rPr lang="ko-KR" altLang="en-US"/>
              <a:pPr>
                <a:defRPr/>
              </a:pPr>
              <a:t>2019-01-28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/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kumimoji="1" b="1">
                <a:latin typeface="Arial" charset="0"/>
                <a:ea typeface="맑은 고딕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/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 b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32A950C-6E19-4D88-838E-BD766C6266A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8173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419" r:id="rId1"/>
    <p:sldLayoutId id="2147484420" r:id="rId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6907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381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0714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7618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36550" indent="-33655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35013" indent="-27781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38238" indent="-223838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+mn-lt"/>
          <a:ea typeface="+mn-ea"/>
        </a:defRPr>
      </a:lvl3pPr>
      <a:lvl4pPr marL="1592263" indent="-2206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2638" indent="-223838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2974" indent="-228453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69880" indent="-228453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6782" indent="-228453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3688" indent="-228453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381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6907" algn="l" defTabSz="91381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3810" algn="l" defTabSz="91381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714" algn="l" defTabSz="91381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618" algn="l" defTabSz="91381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521" algn="l" defTabSz="91381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425" algn="l" defTabSz="91381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331" algn="l" defTabSz="91381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235" algn="l" defTabSz="91381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/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 b="0">
                <a:solidFill>
                  <a:prstClr val="black">
                    <a:tint val="75000"/>
                  </a:prstClr>
                </a:solidFill>
                <a:latin typeface="맑은 고딕"/>
                <a:ea typeface="맑은 고딕"/>
              </a:defRPr>
            </a:lvl1pPr>
          </a:lstStyle>
          <a:p>
            <a:pPr>
              <a:defRPr/>
            </a:pPr>
            <a:fld id="{57D46A56-7D6D-4040-AEA6-719030008228}" type="datetimeFigureOut">
              <a:rPr lang="ko-KR" altLang="en-US"/>
              <a:pPr>
                <a:defRPr/>
              </a:pPr>
              <a:t>2019-01-28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/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 b="0">
                <a:solidFill>
                  <a:prstClr val="black">
                    <a:tint val="75000"/>
                  </a:prstClr>
                </a:solidFill>
                <a:latin typeface="맑은 고딕"/>
                <a:ea typeface="맑은 고딕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/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b="0">
                <a:solidFill>
                  <a:srgbClr val="898989"/>
                </a:solidFill>
                <a:latin typeface="맑은 고딕" panose="020B0503020000020004" pitchFamily="50" charset="-127"/>
              </a:defRPr>
            </a:lvl1pPr>
          </a:lstStyle>
          <a:p>
            <a:pPr>
              <a:defRPr/>
            </a:pPr>
            <a:fld id="{FF50D6F6-7771-4818-B484-23A5B45B1C5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21" r:id="rId1"/>
    <p:sldLayoutId id="2147484422" r:id="rId2"/>
    <p:sldLayoutId id="2147484423" r:id="rId3"/>
    <p:sldLayoutId id="2147484424" r:id="rId4"/>
    <p:sldLayoutId id="2147484425" r:id="rId5"/>
    <p:sldLayoutId id="2147484426" r:id="rId6"/>
    <p:sldLayoutId id="2147484427" r:id="rId7"/>
    <p:sldLayoutId id="2147484428" r:id="rId8"/>
    <p:sldLayoutId id="2147484429" r:id="rId9"/>
    <p:sldLayoutId id="2147484430" r:id="rId10"/>
    <p:sldLayoutId id="2147484431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/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8125884"/>
              </p:ext>
            </p:extLst>
          </p:nvPr>
        </p:nvGraphicFramePr>
        <p:xfrm>
          <a:off x="128464" y="116632"/>
          <a:ext cx="9649072" cy="7128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6134">
                  <a:extLst>
                    <a:ext uri="{9D8B030D-6E8A-4147-A177-3AD203B41FA5}"/>
                  </a:extLst>
                </a:gridCol>
                <a:gridCol w="1206134">
                  <a:extLst>
                    <a:ext uri="{9D8B030D-6E8A-4147-A177-3AD203B41FA5}"/>
                  </a:extLst>
                </a:gridCol>
                <a:gridCol w="1288806"/>
                <a:gridCol w="1123462">
                  <a:extLst>
                    <a:ext uri="{9D8B030D-6E8A-4147-A177-3AD203B41FA5}"/>
                  </a:extLst>
                </a:gridCol>
                <a:gridCol w="1206134">
                  <a:extLst>
                    <a:ext uri="{9D8B030D-6E8A-4147-A177-3AD203B41FA5}"/>
                  </a:extLst>
                </a:gridCol>
                <a:gridCol w="1206134"/>
                <a:gridCol w="1206134">
                  <a:extLst>
                    <a:ext uri="{9D8B030D-6E8A-4147-A177-3AD203B41FA5}"/>
                  </a:extLst>
                </a:gridCol>
                <a:gridCol w="1206134">
                  <a:extLst>
                    <a:ext uri="{9D8B030D-6E8A-4147-A177-3AD203B41FA5}"/>
                  </a:extLst>
                </a:gridCol>
              </a:tblGrid>
              <a:tr h="212207">
                <a:tc rowSpan="2" grid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Arial" charset="0"/>
                        </a:rPr>
                        <a:t>ENGINEERING  REPORT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Reviewer/Team(Development)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Review Date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Approval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Issue Owner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PL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Team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Leader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/>
                </a:extLst>
              </a:tr>
              <a:tr h="356327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Reviewer Name /</a:t>
                      </a:r>
                    </a:p>
                    <a:p>
                      <a:pPr marL="0" algn="ctr" defTabSz="914400" rtl="0" eaLnBrk="1" latinLnBrk="1" hangingPunct="1"/>
                      <a:r>
                        <a:rPr lang="en-US" altLang="ko-KR" sz="1000" b="1" kern="120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TV Development XXX Team </a:t>
                      </a:r>
                      <a:endParaRPr lang="ko-KR" altLang="en-US" sz="1000" b="1" kern="1200" dirty="0">
                        <a:solidFill>
                          <a:srgbClr val="008000"/>
                        </a:solidFill>
                        <a:latin typeface="LG스마트체 Regular" panose="020B0600000101010101" pitchFamily="50" charset="-127"/>
                        <a:ea typeface="LG스마트체 Regular"/>
                        <a:cs typeface="+mn-cs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2018.12.14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 err="1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Champion.Yu</a:t>
                      </a:r>
                      <a:endParaRPr lang="ko-KR" altLang="en-US" sz="1000" b="1" kern="1200" dirty="0">
                        <a:solidFill>
                          <a:srgbClr val="008000"/>
                        </a:solidFill>
                        <a:latin typeface="LG스마트체 Regular" panose="020B0600000101010101" pitchFamily="50" charset="-127"/>
                        <a:ea typeface="LG스마트체 Regular"/>
                        <a:cs typeface="+mn-cs"/>
                      </a:endParaRPr>
                    </a:p>
                  </a:txBody>
                  <a:tcPr marL="91443" marR="91443" marT="45713" marB="4571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James Park /Cavin Huang</a:t>
                      </a:r>
                      <a:endParaRPr lang="ko-KR" altLang="en-US" sz="1100" b="1" dirty="0" smtClean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1443" marR="91443" marT="45713" marB="4571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Jeffrey</a:t>
                      </a:r>
                      <a:endParaRPr lang="ko-KR" altLang="en-US" sz="1000" b="1" kern="1200" dirty="0">
                        <a:solidFill>
                          <a:srgbClr val="008000"/>
                        </a:solidFill>
                        <a:latin typeface="LG스마트체 Regular" panose="020B0600000101010101" pitchFamily="50" charset="-127"/>
                        <a:ea typeface="LG스마트체 Regular"/>
                        <a:cs typeface="+mn-cs"/>
                      </a:endParaRPr>
                    </a:p>
                  </a:txBody>
                  <a:tcPr marL="91443" marR="91443" marT="45713" marB="4571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356327"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1.DQA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 MM/</a:t>
                      </a:r>
                    </a:p>
                    <a:p>
                      <a:pPr marL="0" indent="0" algn="ctr" latinLnBrk="1">
                        <a:buNone/>
                      </a:pP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Test Cause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PQ/Claim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2.Date of Occurrence</a:t>
                      </a:r>
                      <a:endParaRPr lang="ko-KR" altLang="en-US" sz="1000" b="1" dirty="0" smtClean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2018.12.14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3.Title(Issue Description)</a:t>
                      </a:r>
                      <a:endParaRPr lang="ko-KR" altLang="en-US" sz="1000" b="1" dirty="0" smtClean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DTV broken video</a:t>
                      </a:r>
                      <a:endParaRPr lang="ko-KR" altLang="en-US" sz="1000" b="1" kern="1200" dirty="0">
                        <a:solidFill>
                          <a:srgbClr val="008000"/>
                        </a:solidFill>
                        <a:latin typeface="LG스마트체 Regular" panose="020B0600000101010101" pitchFamily="50" charset="-127"/>
                        <a:ea typeface="LG스마트체 Regular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563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4. Model Name</a:t>
                      </a:r>
                    </a:p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(Product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 Family)</a:t>
                      </a:r>
                      <a:endParaRPr lang="ko-KR" altLang="en-US" sz="1000" b="1" smtClean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charset="0"/>
                        </a:rPr>
                        <a:t>K5LP </a:t>
                      </a:r>
                      <a:endParaRPr lang="en-US" altLang="ko-KR" sz="1000" b="1" dirty="0" smtClean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 TV )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5. Event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SW Verification/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SW Qualification / MP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6. Test Item</a:t>
                      </a:r>
                      <a:r>
                        <a:rPr lang="ko-KR" altLang="en-US" sz="1000" b="1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</a:p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Place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of Occurrence</a:t>
                      </a:r>
                      <a:endParaRPr lang="ko-KR" altLang="en-US" sz="1000" b="1" dirty="0" smtClean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PQ/QA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kern="1200" dirty="0" smtClean="0">
                        <a:solidFill>
                          <a:srgbClr val="008000"/>
                        </a:solidFill>
                        <a:latin typeface="LG스마트체 Regular" panose="020B0600000101010101" pitchFamily="50" charset="-127"/>
                        <a:ea typeface="LG스마트체 Regular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7.Total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Occurrence</a:t>
                      </a:r>
                      <a:endParaRPr lang="ko-KR" altLang="en-US" sz="1000" b="1" smtClean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2 100%</a:t>
                      </a:r>
                      <a:endParaRPr lang="ko-KR" altLang="en-US" sz="1000" b="1" kern="1200" dirty="0">
                        <a:solidFill>
                          <a:srgbClr val="008000"/>
                        </a:solidFill>
                        <a:latin typeface="LG스마트체 Regular" panose="020B0600000101010101" pitchFamily="50" charset="-127"/>
                        <a:ea typeface="LG스마트체 Regular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35632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Arial" charset="0"/>
                        </a:rPr>
                        <a:t>8.Statistical</a:t>
                      </a:r>
                      <a:r>
                        <a:rPr kumimoji="0" lang="en-US" altLang="ko-KR" sz="1000" b="1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Arial" charset="0"/>
                        </a:rPr>
                        <a:t> Verification</a:t>
                      </a:r>
                      <a:endParaRPr kumimoji="0" lang="ko-KR" altLang="en-US" sz="1000" b="1" dirty="0" smtClean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/>
                        <a:cs typeface="Arial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No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9.Reason for not verifying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statistics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SW issues that can pass/fail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without statistical significance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1" dirty="0" smtClean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1" dirty="0" smtClean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1" dirty="0" smtClean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24259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[Issue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 Description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]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[Causes]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[Measures]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1278680">
                <a:tc rowSpan="5"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■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Issue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 Description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/>
                      </a:r>
                      <a:b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</a:br>
                      <a:r>
                        <a:rPr lang="en-US" altLang="ko-KR" sz="1000" b="1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DTV</a:t>
                      </a:r>
                      <a:r>
                        <a:rPr lang="en-US" altLang="ko-KR" sz="1000" b="1" baseline="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 broken video</a:t>
                      </a:r>
                    </a:p>
                    <a:p>
                      <a:pPr algn="l" latinLnBrk="1"/>
                      <a:endParaRPr lang="en-US" altLang="ko-KR" sz="1000" b="1" baseline="0" dirty="0" smtClean="0">
                        <a:solidFill>
                          <a:srgbClr val="008000"/>
                        </a:solidFill>
                        <a:latin typeface="LG스마트체 Regular" panose="020B0600000101010101" pitchFamily="50" charset="-127"/>
                        <a:ea typeface="LG스마트체 Regular"/>
                      </a:endParaRPr>
                    </a:p>
                    <a:p>
                      <a:pPr algn="l" latinLnBrk="1"/>
                      <a:r>
                        <a:rPr lang="en-US" altLang="ko-KR" sz="1000" b="1" baseline="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channel #83 on the right side of upper PIP video, or change ARC on analog channel( 4:3 , auto ) </a:t>
                      </a:r>
                    </a:p>
                    <a:p>
                      <a:pPr algn="l" latinLnBrk="1"/>
                      <a:endParaRPr lang="en-US" altLang="ko-KR" sz="1000" b="1" baseline="0" dirty="0" smtClean="0">
                        <a:solidFill>
                          <a:srgbClr val="008000"/>
                        </a:solidFill>
                        <a:latin typeface="LG스마트체 Regular" panose="020B0600000101010101" pitchFamily="50" charset="-127"/>
                        <a:ea typeface="LG스마트체 Regular"/>
                      </a:endParaRPr>
                    </a:p>
                    <a:p>
                      <a:pPr algn="l" latinLnBrk="1"/>
                      <a:r>
                        <a:rPr lang="en-US" altLang="ko-KR" sz="1000" b="1" baseline="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CAR motion the background video broken</a:t>
                      </a:r>
                      <a:endParaRPr lang="en-US" altLang="ko-KR" sz="1000" b="1" dirty="0" smtClean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/>
                      </a:endParaRPr>
                    </a:p>
                    <a:p>
                      <a:pPr algn="l" latinLnBrk="1"/>
                      <a:endParaRPr lang="en-US" altLang="ko-KR" sz="1000" b="1" dirty="0" smtClean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/>
                      </a:endParaRPr>
                    </a:p>
                    <a:p>
                      <a:pPr algn="l" latinLnBrk="1"/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■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Key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 Quality Characteristics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:</a:t>
                      </a:r>
                      <a:endParaRPr lang="en-US" altLang="ko-KR" sz="1000" b="1" dirty="0" smtClean="0">
                        <a:solidFill>
                          <a:srgbClr val="008000"/>
                        </a:solidFill>
                        <a:latin typeface="LG스마트체 Regular" panose="020B0600000101010101" pitchFamily="50" charset="-127"/>
                        <a:ea typeface="LG스마트체 Regular"/>
                      </a:endParaRPr>
                    </a:p>
                    <a:p>
                      <a:pPr algn="l" latinLnBrk="1"/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     Spec : </a:t>
                      </a:r>
                    </a:p>
                    <a:p>
                      <a:pPr algn="l" latinLnBrk="1"/>
                      <a:r>
                        <a:rPr lang="en-US" altLang="ko-KR" sz="1000" b="1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MEMC / MC</a:t>
                      </a:r>
                      <a:r>
                        <a:rPr lang="en-US" altLang="ko-KR" sz="1000" b="1" baseline="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 off / fall back</a:t>
                      </a:r>
                      <a:endParaRPr lang="en-US" altLang="ko-KR" sz="1000" b="1" dirty="0" smtClean="0">
                        <a:solidFill>
                          <a:srgbClr val="008000"/>
                        </a:solidFill>
                        <a:latin typeface="LG스마트체 Regular" panose="020B0600000101010101" pitchFamily="50" charset="-127"/>
                        <a:ea typeface="LG스마트체 Regular"/>
                      </a:endParaRPr>
                    </a:p>
                    <a:p>
                      <a:pPr algn="l" latinLnBrk="1"/>
                      <a:endParaRPr lang="en-US" altLang="ko-KR" sz="1000" b="1" dirty="0" smtClean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/>
                      </a:endParaRPr>
                    </a:p>
                    <a:p>
                      <a:pPr algn="l" latinLnBrk="1"/>
                      <a:endParaRPr lang="en-US" altLang="ko-KR" sz="1000" b="1" dirty="0" smtClean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/>
                      </a:endParaRPr>
                    </a:p>
                    <a:p>
                      <a:pPr algn="l" latinLnBrk="1"/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■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Reproduction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 Mode/Frequency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:</a:t>
                      </a:r>
                    </a:p>
                    <a:p>
                      <a:r>
                        <a:rPr lang="en-US" altLang="zh-TW" sz="1050" b="1" i="0" kern="1200" dirty="0" smtClean="0">
                          <a:solidFill>
                            <a:srgbClr val="008000"/>
                          </a:solidFill>
                          <a:effectLst/>
                          <a:latin typeface="+mn-lt"/>
                          <a:ea typeface="LG스마트체 Regular"/>
                          <a:cs typeface="+mn-cs"/>
                        </a:rPr>
                        <a:t>Internal signal</a:t>
                      </a:r>
                      <a:r>
                        <a:rPr lang="en-US" altLang="zh-TW" sz="1050" b="1" i="0" kern="1200" baseline="0" dirty="0" smtClean="0">
                          <a:solidFill>
                            <a:srgbClr val="008000"/>
                          </a:solidFill>
                          <a:effectLst/>
                          <a:latin typeface="+mn-lt"/>
                          <a:ea typeface="LG스마트체 Regular"/>
                          <a:cs typeface="+mn-cs"/>
                        </a:rPr>
                        <a:t> PS/DIL</a:t>
                      </a:r>
                    </a:p>
                    <a:p>
                      <a:r>
                        <a:rPr lang="en-US" altLang="zh-TW" sz="1050" b="1" i="0" kern="1200" baseline="0" dirty="0" smtClean="0">
                          <a:solidFill>
                            <a:srgbClr val="008000"/>
                          </a:solidFill>
                          <a:effectLst/>
                          <a:latin typeface="+mn-lt"/>
                          <a:ea typeface="LG스마트체 Regular"/>
                          <a:cs typeface="+mn-cs"/>
                        </a:rPr>
                        <a:t>Channel #83</a:t>
                      </a:r>
                      <a:endParaRPr lang="en-US" altLang="zh-TW" sz="1050" b="1" i="0" kern="1200" dirty="0" smtClean="0">
                        <a:solidFill>
                          <a:srgbClr val="008000"/>
                        </a:solidFill>
                        <a:effectLst/>
                        <a:latin typeface="+mn-lt"/>
                        <a:ea typeface="LG스마트체 Regular"/>
                        <a:cs typeface="+mn-cs"/>
                      </a:endParaRPr>
                    </a:p>
                    <a:p>
                      <a:endParaRPr lang="en-US" altLang="zh-TW" sz="1050" b="1" i="0" kern="1200" dirty="0" smtClean="0">
                        <a:solidFill>
                          <a:srgbClr val="008000"/>
                        </a:solidFill>
                        <a:effectLst/>
                        <a:latin typeface="+mn-lt"/>
                        <a:ea typeface="LG스마트체 Regular"/>
                        <a:cs typeface="+mn-cs"/>
                      </a:endParaRPr>
                    </a:p>
                    <a:p>
                      <a:r>
                        <a:rPr lang="en-US" altLang="zh-TW" sz="1050" b="1" i="0" kern="1200" dirty="0" smtClean="0">
                          <a:solidFill>
                            <a:srgbClr val="008000"/>
                          </a:solidFill>
                          <a:effectLst/>
                          <a:latin typeface="+mn-lt"/>
                          <a:ea typeface="LG스마트체 Regular"/>
                          <a:cs typeface="+mn-cs"/>
                        </a:rPr>
                        <a:t>TV :picture</a:t>
                      </a:r>
                      <a:r>
                        <a:rPr lang="en-US" altLang="zh-TW" sz="1050" b="1" i="0" kern="1200" baseline="0" dirty="0" smtClean="0">
                          <a:solidFill>
                            <a:srgbClr val="008000"/>
                          </a:solidFill>
                          <a:effectLst/>
                          <a:latin typeface="+mn-lt"/>
                          <a:ea typeface="LG스마트체 Regular"/>
                          <a:cs typeface="+mn-cs"/>
                        </a:rPr>
                        <a:t> mode :</a:t>
                      </a:r>
                      <a:r>
                        <a:rPr lang="en-US" altLang="zh-TW" sz="1050" b="1" i="0" kern="1200" dirty="0" smtClean="0">
                          <a:solidFill>
                            <a:srgbClr val="008000"/>
                          </a:solidFill>
                          <a:effectLst/>
                          <a:latin typeface="+mn-lt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lang="en-US" altLang="zh-TW" sz="1050" b="1" i="0" kern="1200" dirty="0" err="1" smtClean="0">
                          <a:solidFill>
                            <a:srgbClr val="008000"/>
                          </a:solidFill>
                          <a:effectLst/>
                          <a:latin typeface="+mn-lt"/>
                          <a:ea typeface="LG스마트체 Regular"/>
                          <a:cs typeface="+mn-cs"/>
                        </a:rPr>
                        <a:t>vivide</a:t>
                      </a:r>
                      <a:r>
                        <a:rPr lang="en-US" altLang="zh-TW" sz="1050" b="1" i="0" kern="1200" dirty="0" smtClean="0">
                          <a:solidFill>
                            <a:srgbClr val="008000"/>
                          </a:solidFill>
                          <a:effectLst/>
                          <a:latin typeface="+mn-lt"/>
                          <a:ea typeface="LG스마트체 Regular"/>
                          <a:cs typeface="+mn-cs"/>
                        </a:rPr>
                        <a:t> mode</a:t>
                      </a:r>
                    </a:p>
                    <a:p>
                      <a:r>
                        <a:rPr lang="en-US" altLang="ko-KR" sz="1050" b="1" i="0" kern="1200" dirty="0" smtClean="0">
                          <a:solidFill>
                            <a:srgbClr val="008000"/>
                          </a:solidFill>
                          <a:effectLst/>
                          <a:latin typeface="+mn-lt"/>
                          <a:ea typeface="LG스마트체 Regular"/>
                          <a:cs typeface="+mn-cs"/>
                        </a:rPr>
                        <a:t>Frequency</a:t>
                      </a:r>
                      <a:r>
                        <a:rPr lang="en-US" altLang="ko-KR" sz="1050" b="1" i="0" kern="1200" baseline="0" dirty="0" smtClean="0">
                          <a:solidFill>
                            <a:srgbClr val="008000"/>
                          </a:solidFill>
                          <a:effectLst/>
                          <a:latin typeface="+mn-lt"/>
                          <a:ea typeface="LG스마트체 Regular"/>
                          <a:cs typeface="+mn-cs"/>
                        </a:rPr>
                        <a:t>  : always</a:t>
                      </a:r>
                      <a:endParaRPr lang="en-US" altLang="ko-KR" sz="1000" b="0" dirty="0" smtClean="0">
                        <a:solidFill>
                          <a:srgbClr val="008000"/>
                        </a:solidFill>
                        <a:latin typeface="LG스마트체 Regular" panose="020B0600000101010101" pitchFamily="50" charset="-127"/>
                        <a:ea typeface="LG스마트체 Regular"/>
                      </a:endParaRPr>
                    </a:p>
                    <a:p>
                      <a:pPr algn="l" latinLnBrk="1"/>
                      <a:endParaRPr lang="en-US" altLang="ko-KR" sz="1000" b="1" baseline="0" dirty="0" smtClean="0">
                        <a:solidFill>
                          <a:srgbClr val="008000"/>
                        </a:solidFill>
                        <a:latin typeface="LG스마트체 Regular" panose="020B0600000101010101" pitchFamily="50" charset="-127"/>
                        <a:ea typeface="LG스마트체 Regular"/>
                      </a:endParaRPr>
                    </a:p>
                    <a:p>
                      <a:pPr algn="l" latinLnBrk="1"/>
                      <a:r>
                        <a:rPr lang="en-US" altLang="ko-KR" sz="1000" b="1" baseline="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/>
                      </a:r>
                      <a:br>
                        <a:rPr lang="en-US" altLang="ko-KR" sz="1000" b="1" baseline="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</a:br>
                      <a:r>
                        <a:rPr lang="en-US" altLang="ko-KR" sz="1000" b="1" baseline="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  </a:t>
                      </a:r>
                      <a:endParaRPr lang="ko-KR" altLang="en-US" sz="1000" b="1" dirty="0">
                        <a:solidFill>
                          <a:srgbClr val="008000"/>
                        </a:solidFill>
                        <a:latin typeface="LG스마트체 Regular" panose="020B0600000101010101" pitchFamily="50" charset="-127"/>
                        <a:ea typeface="LG스마트체 Regular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7" gridSpan="3"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■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5-Why Description</a:t>
                      </a: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(Need to be described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with objectivity and depth)</a:t>
                      </a:r>
                    </a:p>
                    <a:p>
                      <a:pPr algn="l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■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Improvement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Measures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(Temporary/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Fundamental Measures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indent="0" algn="l" latinLnBrk="1">
                        <a:buNone/>
                      </a:pPr>
                      <a:endParaRPr lang="en-US" altLang="zh-TW" sz="1000" b="1" baseline="0" dirty="0" smtClean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zh-TW" sz="1000" b="1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Modify condition when pure video input , MC do nothing , just keep original data output.</a:t>
                      </a:r>
                    </a:p>
                    <a:p>
                      <a:pPr marL="0" indent="0" algn="l" latinLnBrk="1">
                        <a:buNone/>
                      </a:pPr>
                      <a:endParaRPr lang="en-US" altLang="zh-TW" sz="1000" b="1" baseline="0" dirty="0" smtClean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561869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■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Improved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Result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b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 - Total Occurrence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after improvement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en-US" altLang="ko-KR" sz="1000" b="0" baseline="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0%(10/10</a:t>
                      </a:r>
                      <a:r>
                        <a:rPr lang="ko-KR" altLang="en-US" sz="1000" b="0" baseline="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baseline="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OK)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zh-TW" altLang="en-US" sz="1000" b="0" baseline="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 </a:t>
                      </a:r>
                      <a:r>
                        <a:rPr lang="en-US" altLang="zh-TW" sz="1000" b="0" baseline="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check aliasing is disappear. </a:t>
                      </a:r>
                      <a:endParaRPr lang="en-US" altLang="ko-KR" sz="1000" b="1" dirty="0" smtClean="0">
                        <a:solidFill>
                          <a:srgbClr val="008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74579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■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Improvement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Reflected Date</a:t>
                      </a: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en-US" altLang="ko-KR" sz="1000" b="1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2018.12.14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74579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■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Side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effect Verification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000" b="0" kern="1200" baseline="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- N/A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937247">
                <a:tc gridSpan="2" vMerge="1">
                  <a:txBody>
                    <a:bodyPr/>
                    <a:lstStyle/>
                    <a:p>
                      <a:pPr algn="l" latinLnBrk="1"/>
                      <a:endParaRPr lang="en-US" altLang="ko-KR" sz="1000" b="0" dirty="0" smtClean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■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Preventive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Measures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baseline="0" dirty="0" smtClean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When  input is 50/60 and no film mode, fall back level must FULL </a:t>
                      </a:r>
                      <a:r>
                        <a:rPr lang="en-US" altLang="ko-KR" sz="1000" b="1" baseline="0" dirty="0" err="1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full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back.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539618">
                <a:tc rowSpan="2"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■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Test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 Result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(Current Level)</a:t>
                      </a:r>
                    </a:p>
                    <a:p>
                      <a:pPr algn="l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  - Occurrence Rate before Improvement:</a:t>
                      </a:r>
                      <a:endParaRPr lang="en-US" altLang="ko-KR" sz="1000" b="0" baseline="0" dirty="0" smtClean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/>
                      </a:endParaRPr>
                    </a:p>
                    <a:p>
                      <a:pPr algn="l" latinLnBrk="1"/>
                      <a:r>
                        <a:rPr lang="en-US" altLang="ko-KR" sz="1000" b="0" baseline="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100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90025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■ 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Horizontal Deployment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baseline="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- N/A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/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078379"/>
              </p:ext>
            </p:extLst>
          </p:nvPr>
        </p:nvGraphicFramePr>
        <p:xfrm>
          <a:off x="2576736" y="2924944"/>
          <a:ext cx="3377232" cy="4912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640">
                  <a:extLst>
                    <a:ext uri="{9D8B030D-6E8A-4147-A177-3AD203B41FA5}"/>
                  </a:extLst>
                </a:gridCol>
                <a:gridCol w="2950592">
                  <a:extLst>
                    <a:ext uri="{9D8B030D-6E8A-4147-A177-3AD203B41FA5}"/>
                  </a:extLst>
                </a:gridCol>
              </a:tblGrid>
              <a:tr h="5976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Why1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* W :</a:t>
                      </a:r>
                      <a:r>
                        <a:rPr lang="en-US" altLang="ko-KR" sz="900" b="0" kern="1200" baseline="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 motion video is broken. MEMC off is OK</a:t>
                      </a:r>
                      <a:endParaRPr lang="en-US" altLang="ko-KR" sz="900" b="0" kern="1200" dirty="0" smtClean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   → </a:t>
                      </a:r>
                      <a:r>
                        <a:rPr lang="en-US" altLang="ko-KR" sz="900" b="0" kern="120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W1 : ME</a:t>
                      </a:r>
                      <a:r>
                        <a:rPr lang="en-US" altLang="ko-KR" sz="900" b="0" kern="1200" baseline="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 or MC problem</a:t>
                      </a:r>
                      <a:endParaRPr lang="en-US" altLang="ko-KR" sz="900" b="0" kern="1200" dirty="0" smtClean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/>
                        <a:cs typeface="+mn-cs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/>
                </a:extLst>
              </a:tr>
              <a:tr h="5976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Why2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* ME or MC problem, check </a:t>
                      </a:r>
                      <a:r>
                        <a:rPr lang="en-US" altLang="ko-KR" sz="900" b="0" kern="1200" dirty="0" err="1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Dehalo</a:t>
                      </a:r>
                      <a:r>
                        <a:rPr lang="en-US" altLang="ko-KR" sz="900" b="0" kern="120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 module. 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   </a:t>
                      </a:r>
                      <a:r>
                        <a:rPr lang="ko-KR" altLang="en-US" sz="900" b="0" kern="120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 → </a:t>
                      </a:r>
                      <a:r>
                        <a:rPr lang="en-US" altLang="ko-KR" sz="900" b="0" kern="120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W2 : Disable </a:t>
                      </a:r>
                      <a:r>
                        <a:rPr lang="en-US" altLang="ko-KR" sz="900" b="0" kern="1200" dirty="0" err="1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Dehalo</a:t>
                      </a:r>
                      <a:r>
                        <a:rPr lang="en-US" altLang="ko-KR" sz="900" b="0" kern="1200" baseline="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 function is better</a:t>
                      </a:r>
                      <a:endParaRPr lang="ko-KR" altLang="en-US" sz="900" b="0" kern="120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/>
                        <a:cs typeface="+mn-cs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/>
                </a:extLst>
              </a:tr>
              <a:tr h="5976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Why3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* This</a:t>
                      </a:r>
                      <a:r>
                        <a:rPr lang="en-US" altLang="ko-KR" sz="900" b="0" kern="1200" baseline="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 is a </a:t>
                      </a:r>
                      <a:r>
                        <a:rPr lang="en-US" altLang="ko-KR" sz="900" b="0" kern="1200" baseline="0" dirty="0" err="1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purev</a:t>
                      </a:r>
                      <a:r>
                        <a:rPr lang="en-US" altLang="ko-KR" sz="900" b="0" kern="1200" baseline="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lang="en-US" altLang="ko-KR" sz="900" b="0" kern="1200" baseline="0" dirty="0" err="1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ideo</a:t>
                      </a:r>
                      <a:r>
                        <a:rPr lang="en-US" altLang="ko-KR" sz="900" b="0" kern="1200" baseline="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 input, pure video mean 50/60 input frame and no film mode</a:t>
                      </a:r>
                      <a:endParaRPr lang="ko-KR" altLang="en-US" sz="900" b="0" kern="1200" dirty="0" smtClean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   </a:t>
                      </a:r>
                      <a:r>
                        <a:rPr lang="ko-KR" altLang="en-US" sz="900" b="0" kern="120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 → </a:t>
                      </a:r>
                      <a:r>
                        <a:rPr lang="en-US" altLang="ko-KR" sz="900" b="0" kern="120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W3 : why pure video still do MEMC, for most reason, It’s keep original source is better.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/>
                        <a:cs typeface="+mn-cs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/>
                </a:extLst>
              </a:tr>
              <a:tr h="59761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Why4</a:t>
                      </a:r>
                      <a:endParaRPr lang="ko-KR" altLang="en-US" sz="900" b="1" dirty="0" smtClean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* </a:t>
                      </a:r>
                      <a:r>
                        <a:rPr lang="en-US" altLang="ko-KR" sz="900" b="0" kern="1200" baseline="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Determine pure video flag , and disable </a:t>
                      </a:r>
                      <a:r>
                        <a:rPr lang="en-US" altLang="ko-KR" sz="900" b="0" kern="1200" baseline="0" dirty="0" err="1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Dehalo</a:t>
                      </a:r>
                      <a:r>
                        <a:rPr lang="en-US" altLang="ko-KR" sz="900" b="0" kern="1200" baseline="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 Module.</a:t>
                      </a:r>
                      <a:endParaRPr lang="en-US" altLang="ko-KR" sz="900" b="0" kern="1200" dirty="0" smtClean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   </a:t>
                      </a:r>
                      <a:r>
                        <a:rPr lang="ko-KR" altLang="en-US" sz="900" b="0" kern="120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 → </a:t>
                      </a:r>
                      <a:r>
                        <a:rPr lang="en-US" altLang="ko-KR" sz="900" b="0" kern="120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W4 : only</a:t>
                      </a:r>
                      <a:r>
                        <a:rPr lang="en-US" altLang="ko-KR" sz="900" b="0" kern="1200" baseline="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 disable </a:t>
                      </a:r>
                      <a:r>
                        <a:rPr lang="en-US" altLang="ko-KR" sz="900" b="0" kern="1200" baseline="0" dirty="0" err="1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dehalo</a:t>
                      </a:r>
                      <a:r>
                        <a:rPr lang="en-US" altLang="ko-KR" sz="900" b="0" kern="1200" baseline="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 not enough get good performance, still have some broken garbage.</a:t>
                      </a:r>
                      <a:endParaRPr lang="en-US" altLang="ko-KR" sz="900" b="0" kern="1200" dirty="0" smtClean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/>
                        <a:cs typeface="+mn-cs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/>
                </a:extLst>
              </a:tr>
              <a:tr h="59761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Why5</a:t>
                      </a:r>
                      <a:endParaRPr lang="ko-KR" altLang="en-US" sz="900" b="1" dirty="0" smtClean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Keep</a:t>
                      </a:r>
                      <a:r>
                        <a:rPr lang="en-US" altLang="ko-KR" sz="900" b="0" kern="1200" baseline="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 real source output, use fallback to get good performance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lang="en-US" altLang="ko-KR" sz="900" b="0" kern="1200" baseline="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    </a:t>
                      </a:r>
                      <a:r>
                        <a:rPr lang="ko-KR" altLang="en-US" sz="900" b="0" kern="120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→ </a:t>
                      </a:r>
                      <a:r>
                        <a:rPr lang="en-US" altLang="ko-KR" sz="900" b="0" kern="120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W5 : final setting is when</a:t>
                      </a:r>
                      <a:r>
                        <a:rPr lang="en-US" altLang="ko-KR" sz="900" b="0" kern="1200" baseline="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 pure video , MC do nothing. </a:t>
                      </a:r>
                      <a:endParaRPr lang="en-US" altLang="ko-KR" sz="900" b="0" kern="1200" dirty="0" smtClean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/>
                        <a:cs typeface="+mn-cs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24115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Root</a:t>
                      </a:r>
                      <a:r>
                        <a:rPr lang="en-US" altLang="ko-KR" sz="900" b="1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Cause</a:t>
                      </a:r>
                      <a:endParaRPr lang="ko-KR" altLang="en-US" sz="900" b="1" dirty="0" smtClean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err="1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Dehalo</a:t>
                      </a:r>
                      <a:r>
                        <a:rPr lang="en-US" altLang="ko-KR" sz="900" b="0" kern="120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 function determine cover/uncover flag for ME module.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In</a:t>
                      </a:r>
                      <a:r>
                        <a:rPr lang="en-US" altLang="ko-KR" sz="900" b="0" kern="1200" baseline="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 cover uncover region , Motion Compensation (MC) use single frame to interpolation (Pre / Cur frame) to reduce halo effect.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baseline="0" dirty="0" smtClean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baseline="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Because this is a PIP video, if Motion Vector(MV) from Motion Estimation (ME) not stable. </a:t>
                      </a:r>
                      <a:r>
                        <a:rPr lang="en-US" altLang="ko-KR" sz="900" b="0" kern="1200" baseline="0" dirty="0" err="1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Dehalo</a:t>
                      </a:r>
                      <a:r>
                        <a:rPr lang="en-US" altLang="ko-KR" sz="900" b="0" kern="1200" baseline="0" dirty="0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 module will mistake to set cover/uncover flag, so sometimes will use wrong mv data(outside black background) to interpolation, we will se the broken </a:t>
                      </a:r>
                      <a:r>
                        <a:rPr lang="en-US" altLang="ko-KR" sz="900" b="0" kern="1200" baseline="0" dirty="0" err="1" smtClean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/>
                          <a:cs typeface="+mn-cs"/>
                        </a:rPr>
                        <a:t>video.l</a:t>
                      </a:r>
                      <a:endParaRPr lang="en-US" altLang="ko-KR" sz="900" b="0" kern="1200" dirty="0" smtClean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/>
                        <a:cs typeface="+mn-cs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0" y="95250"/>
            <a:ext cx="8734425" cy="442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2182" tIns="61091" rIns="122182" bIns="61091"/>
          <a:lstStyle/>
          <a:p>
            <a:pPr algn="l" eaLnBrk="1" hangingPunct="1"/>
            <a:r>
              <a:rPr lang="en-US" altLang="ko-KR" sz="2000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Review Result Report</a:t>
            </a:r>
            <a:endParaRPr lang="ko-KR" altLang="en-US" sz="2000" smtClean="0"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graphicFrame>
        <p:nvGraphicFramePr>
          <p:cNvPr id="85255" name="Group 2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3858520"/>
              </p:ext>
            </p:extLst>
          </p:nvPr>
        </p:nvGraphicFramePr>
        <p:xfrm>
          <a:off x="200472" y="582934"/>
          <a:ext cx="9505056" cy="5845478"/>
        </p:xfrm>
        <a:graphic>
          <a:graphicData uri="http://schemas.openxmlformats.org/drawingml/2006/table">
            <a:tbl>
              <a:tblPr/>
              <a:tblGrid>
                <a:gridCol w="117678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8423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3589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9213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7642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3090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2408682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250695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Project</a:t>
                      </a:r>
                    </a:p>
                  </a:txBody>
                  <a:tcPr marL="35994" marR="35994" marT="35995" marB="35995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sym typeface="Wingdings" panose="05000000000000000000" pitchFamily="2" charset="2"/>
                        </a:rPr>
                        <a:t>webOS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sym typeface="Wingdings" panose="05000000000000000000" pitchFamily="2" charset="2"/>
                        </a:rPr>
                        <a:t> 4.5</a:t>
                      </a:r>
                    </a:p>
                  </a:txBody>
                  <a:tcPr marL="35994" marR="35994" marT="35995" marB="359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Event</a:t>
                      </a:r>
                    </a:p>
                  </a:txBody>
                  <a:tcPr marL="35994" marR="35994" marT="35995" marB="359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2"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PV</a:t>
                      </a:r>
                      <a:endParaRPr kumimoji="0" lang="ko-KR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5994" marR="35994" marT="35995" marB="359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Review Date</a:t>
                      </a:r>
                    </a:p>
                  </a:txBody>
                  <a:tcPr marL="35994" marR="35994" marT="35995" marB="359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2018.XX.XX</a:t>
                      </a:r>
                    </a:p>
                  </a:txBody>
                  <a:tcPr marL="35994" marR="35994" marT="35995" marB="359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4689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Review Title</a:t>
                      </a:r>
                      <a:endParaRPr kumimoji="1" lang="ko-KR" alt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5994" marR="35994" marT="35995" marB="35995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4"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Improve</a:t>
                      </a:r>
                      <a:r>
                        <a:rPr lang="en-US" altLang="ko-KR" sz="1200" b="0" baseline="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zh-TW" sz="1200" b="0" baseline="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XXX</a:t>
                      </a:r>
                      <a:r>
                        <a:rPr lang="zh-TW" altLang="en-US" sz="1200" b="0" baseline="0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之類</a:t>
                      </a:r>
                      <a:endParaRPr lang="ko-KR" altLang="en-US" sz="1200" b="0" dirty="0" smtClean="0">
                        <a:solidFill>
                          <a:srgbClr val="008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5994" marR="35994" marT="35995" marB="359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Review Item</a:t>
                      </a:r>
                    </a:p>
                  </a:txBody>
                  <a:tcPr marL="35994" marR="35994" marT="35995" marB="359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□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Document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□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Source Code</a:t>
                      </a:r>
                    </a:p>
                  </a:txBody>
                  <a:tcPr marL="35994" marR="35994" marT="35995" marB="359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50695">
                <a:tc gridSpan="3"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Review Document/ Source Code</a:t>
                      </a:r>
                      <a:endParaRPr kumimoji="1" lang="ko-KR" alt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5994" marR="35994" marT="35995" marB="35995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Author</a:t>
                      </a:r>
                    </a:p>
                  </a:txBody>
                  <a:tcPr marL="35994" marR="35994" marT="35995" marB="359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Reviewer</a:t>
                      </a:r>
                    </a:p>
                  </a:txBody>
                  <a:tcPr marL="35994" marR="35994" marT="35995" marB="359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312641">
                <a:tc gridSpan="3"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https://swfarmhub.lge.com:8100/#/c/40930/</a:t>
                      </a:r>
                    </a:p>
                  </a:txBody>
                  <a:tcPr marL="35994" marR="35994" marT="35995" marB="35995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csFanChiang</a:t>
                      </a:r>
                      <a:endParaRPr kumimoji="1" lang="ko-KR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5994" marR="35994" marT="35995" marB="359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Jerry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Learnrpg</a:t>
                      </a:r>
                      <a:endParaRPr kumimoji="1" lang="en-US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Rord.tsao</a:t>
                      </a:r>
                      <a:endParaRPr kumimoji="1" lang="ko-KR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5994" marR="35994" marT="35995" marB="359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1851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Key Changes</a:t>
                      </a:r>
                      <a:endParaRPr kumimoji="1" lang="ko-KR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5994" marR="35994" marT="35995" marB="35995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6"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indent="0" algn="l" defTabSz="757238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rgbClr val="008000"/>
                          </a:solidFill>
                          <a:latin typeface="LG스마트체 Regular" panose="020B0600000101010101" pitchFamily="50" charset="-127"/>
                          <a:ea typeface="LG스마트체 Regular"/>
                        </a:rPr>
                        <a:t>Fixed broken video when pure video input</a:t>
                      </a:r>
                      <a:endParaRPr kumimoji="1" lang="ko-KR" altLang="en-US" sz="1000" b="0" kern="1200" dirty="0" smtClean="0">
                        <a:solidFill>
                          <a:srgbClr val="008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1988" marR="35994" marT="35995" marB="359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35124">
                <a:tc gridSpan="4"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Expected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Side Effect </a:t>
                      </a:r>
                      <a:endParaRPr kumimoji="1" lang="ko-KR" alt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5994" marR="35994" marT="35995" marB="35995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Action </a:t>
                      </a:r>
                      <a:endParaRPr kumimoji="1" lang="ko-KR" altLang="en-US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5994" marR="35994" marT="35995" marB="35995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818061">
                <a:tc gridSpan="4">
                  <a:txBody>
                    <a:bodyPr/>
                    <a:lstStyle>
                      <a:lvl1pPr marL="88900" indent="-88900" latinLnBrk="1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88900" marR="0" lvl="0" indent="-88900" algn="l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228600" marR="0" lvl="0" indent="-228600" algn="l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when pure video input , we still can see MEMC function work.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71988" marR="35994" marT="35995" marB="35995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Action result per each Side Effect item</a:t>
                      </a:r>
                    </a:p>
                    <a:p>
                      <a:pPr marL="228600" marR="0" lvl="0" indent="-228600" algn="l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en-US" altLang="zh-TW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N/A</a:t>
                      </a:r>
                    </a:p>
                    <a:p>
                      <a:pPr marL="228600" marR="0" lvl="0" indent="-228600" algn="l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en-US" altLang="zh-TW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N/A</a:t>
                      </a:r>
                    </a:p>
                    <a:p>
                      <a:pPr marL="228600" marR="0" lvl="0" indent="-228600" algn="l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N/A</a:t>
                      </a:r>
                      <a:endParaRPr kumimoji="0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N/A</a:t>
                      </a:r>
                    </a:p>
                    <a:p>
                      <a:pPr marL="228600" marR="0" lvl="0" indent="-228600" algn="l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N/A</a:t>
                      </a:r>
                    </a:p>
                    <a:p>
                      <a:pPr marL="228600" marR="0" lvl="0" indent="-228600" algn="l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N/A</a:t>
                      </a:r>
                    </a:p>
                    <a:p>
                      <a:pPr marL="228600" marR="0" lvl="0" indent="-228600" algn="l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N/A</a:t>
                      </a:r>
                    </a:p>
                    <a:p>
                      <a:pPr marL="228600" marR="0" lvl="0" indent="-228600" algn="l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N/A</a:t>
                      </a:r>
                    </a:p>
                    <a:p>
                      <a:pPr marL="228600" marR="0" lvl="0" indent="-228600" algn="l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N/A</a:t>
                      </a:r>
                    </a:p>
                    <a:p>
                      <a:pPr marL="228600" marR="0" lvl="0" indent="-228600" algn="l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N/A </a:t>
                      </a:r>
                    </a:p>
                    <a:p>
                      <a:pPr marL="228600" marR="0" lvl="0" indent="-228600" algn="l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N/A</a:t>
                      </a:r>
                    </a:p>
                    <a:p>
                      <a:pPr marL="228600" marR="0" lvl="0" indent="-228600" algn="l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N/A</a:t>
                      </a:r>
                    </a:p>
                  </a:txBody>
                  <a:tcPr marL="71988" marR="35994" marT="35995" marB="35995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9263" name="Text Box 85"/>
          <p:cNvSpPr txBox="1">
            <a:spLocks noChangeArrowheads="1"/>
          </p:cNvSpPr>
          <p:nvPr/>
        </p:nvSpPr>
        <p:spPr bwMode="auto">
          <a:xfrm>
            <a:off x="4639464" y="6597352"/>
            <a:ext cx="627073" cy="246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9" tIns="45714" rIns="91429" bIns="45714">
            <a:spAutoFit/>
          </a:bodyPr>
          <a:lstStyle>
            <a:lvl1pPr marL="82550" indent="-8255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b="0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 – 1/3</a:t>
            </a:r>
            <a:endParaRPr lang="en-US" altLang="ko-KR" b="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264" name="자유형 3"/>
          <p:cNvSpPr>
            <a:spLocks noChangeArrowheads="1"/>
          </p:cNvSpPr>
          <p:nvPr/>
        </p:nvSpPr>
        <p:spPr bwMode="auto">
          <a:xfrm>
            <a:off x="8532813" y="1018136"/>
            <a:ext cx="112713" cy="124619"/>
          </a:xfrm>
          <a:custGeom>
            <a:avLst/>
            <a:gdLst>
              <a:gd name="T0" fmla="*/ 0 w 126124"/>
              <a:gd name="T1" fmla="*/ 2 h 189186"/>
              <a:gd name="T2" fmla="*/ 180 w 126124"/>
              <a:gd name="T3" fmla="*/ 2 h 189186"/>
              <a:gd name="T4" fmla="*/ 718 w 126124"/>
              <a:gd name="T5" fmla="*/ 0 h 189186"/>
              <a:gd name="T6" fmla="*/ 718 w 126124"/>
              <a:gd name="T7" fmla="*/ 0 h 189186"/>
              <a:gd name="T8" fmla="*/ 0 60000 65536"/>
              <a:gd name="T9" fmla="*/ 0 60000 65536"/>
              <a:gd name="T10" fmla="*/ 0 60000 65536"/>
              <a:gd name="T11" fmla="*/ 0 60000 65536"/>
              <a:gd name="T12" fmla="*/ 0 w 126124"/>
              <a:gd name="T13" fmla="*/ 0 h 189186"/>
              <a:gd name="T14" fmla="*/ 126124 w 126124"/>
              <a:gd name="T15" fmla="*/ 189186 h 18918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6124" h="189186">
                <a:moveTo>
                  <a:pt x="0" y="55179"/>
                </a:moveTo>
                <a:lnTo>
                  <a:pt x="31531" y="189186"/>
                </a:lnTo>
                <a:lnTo>
                  <a:pt x="126124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0" y="538163"/>
            <a:ext cx="9906000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/>
        </p:nvCxnSpPr>
        <p:spPr>
          <a:xfrm>
            <a:off x="7239" y="6525344"/>
            <a:ext cx="9906000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9392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874772"/>
              </p:ext>
            </p:extLst>
          </p:nvPr>
        </p:nvGraphicFramePr>
        <p:xfrm>
          <a:off x="271495" y="642937"/>
          <a:ext cx="9324975" cy="4377251"/>
        </p:xfrm>
        <a:graphic>
          <a:graphicData uri="http://schemas.openxmlformats.org/drawingml/2006/table">
            <a:tbl>
              <a:tblPr/>
              <a:tblGrid>
                <a:gridCol w="246697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50031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7156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5456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Test Item</a:t>
                      </a:r>
                      <a:endParaRPr kumimoji="1" lang="ko-KR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Test Script</a:t>
                      </a:r>
                      <a:endParaRPr kumimoji="1" lang="ko-KR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Expected Result</a:t>
                      </a:r>
                      <a:endParaRPr kumimoji="1" lang="ko-KR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Owner</a:t>
                      </a:r>
                      <a:endParaRPr kumimoji="1" lang="ko-KR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Test Result</a:t>
                      </a:r>
                      <a:endParaRPr kumimoji="1" lang="ko-KR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40261"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MEMC Test</a:t>
                      </a: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Check Internal signal of PS/DIL</a:t>
                      </a: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No broken video</a:t>
                      </a: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Champion.Yu</a:t>
                      </a: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OK</a:t>
                      </a: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8308"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08308"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08308"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08308"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08308"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08308"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08308"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08308"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08308"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08308"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308308"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</a:tbl>
          </a:graphicData>
        </a:graphic>
      </p:graphicFrame>
      <p:cxnSp>
        <p:nvCxnSpPr>
          <p:cNvPr id="5" name="직선 연결선 4"/>
          <p:cNvCxnSpPr/>
          <p:nvPr/>
        </p:nvCxnSpPr>
        <p:spPr>
          <a:xfrm>
            <a:off x="0" y="538163"/>
            <a:ext cx="9906000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0" y="95250"/>
            <a:ext cx="8734425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2182" tIns="61091" rIns="122182" bIns="61091" numCol="1" anchor="ctr" anchorCtr="0" compatLnSpc="1">
            <a:prstTxWarp prst="textNoShape">
              <a:avLst/>
            </a:prstTxWarp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l" eaLnBrk="1" hangingPunct="1"/>
            <a:r>
              <a:rPr kumimoji="0" lang="en-US" altLang="ko-KR" sz="2000" b="0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Test Result Report</a:t>
            </a:r>
            <a:endParaRPr kumimoji="0" lang="ko-KR" altLang="en-US" sz="2000" b="0" smtClean="0"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7239" y="6525344"/>
            <a:ext cx="9906000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Box 85"/>
          <p:cNvSpPr txBox="1">
            <a:spLocks noChangeArrowheads="1"/>
          </p:cNvSpPr>
          <p:nvPr/>
        </p:nvSpPr>
        <p:spPr bwMode="auto">
          <a:xfrm>
            <a:off x="4639464" y="6597352"/>
            <a:ext cx="627073" cy="246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9" tIns="45714" rIns="91429" bIns="45714">
            <a:spAutoFit/>
          </a:bodyPr>
          <a:lstStyle>
            <a:lvl1pPr marL="82550" indent="-8255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b="0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 – 2/3</a:t>
            </a:r>
            <a:endParaRPr lang="en-US" altLang="ko-KR" b="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2578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/>
        </p:nvSpPr>
        <p:spPr bwMode="auto">
          <a:xfrm>
            <a:off x="39688" y="71438"/>
            <a:ext cx="8734425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2182" tIns="61091" rIns="122182" bIns="61091"/>
          <a:lstStyle>
            <a:lvl1pPr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en-US" altLang="ko-KR" sz="2000" b="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Source Code </a:t>
            </a:r>
            <a:r>
              <a:rPr kumimoji="0" lang="en-US" altLang="ko-KR" sz="2000" b="0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Changes</a:t>
            </a:r>
            <a:endParaRPr kumimoji="0" lang="ko-KR" altLang="en-US" sz="2000" b="0"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0" y="476672"/>
            <a:ext cx="9906000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85"/>
          <p:cNvSpPr txBox="1">
            <a:spLocks noChangeArrowheads="1"/>
          </p:cNvSpPr>
          <p:nvPr/>
        </p:nvSpPr>
        <p:spPr bwMode="auto">
          <a:xfrm>
            <a:off x="4639464" y="6597352"/>
            <a:ext cx="627073" cy="246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9" tIns="45714" rIns="91429" bIns="45714">
            <a:spAutoFit/>
          </a:bodyPr>
          <a:lstStyle>
            <a:lvl1pPr marL="82550" indent="-8255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b="0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 – 3/3</a:t>
            </a:r>
            <a:endParaRPr lang="en-US" altLang="ko-KR" b="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" name="TextBox 2"/>
          <p:cNvSpPr txBox="1"/>
          <p:nvPr/>
        </p:nvSpPr>
        <p:spPr>
          <a:xfrm>
            <a:off x="-15552" y="514350"/>
            <a:ext cx="33906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rgbClr val="0099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Before/After Changes Source Code diff capture</a:t>
            </a:r>
            <a:endParaRPr lang="ko-KR" altLang="en-US" dirty="0">
              <a:solidFill>
                <a:srgbClr val="0099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914" y="1412776"/>
            <a:ext cx="8801100" cy="344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38081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기본 디자인">
  <a:themeElements>
    <a:clrScheme name="1_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26640</TotalTime>
  <Words>549</Words>
  <Application>Microsoft Office PowerPoint</Application>
  <PresentationFormat>A4 纸张(210x297 毫米)</PresentationFormat>
  <Paragraphs>149</Paragraphs>
  <Slides>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6" baseType="lpstr">
      <vt:lpstr>1_기본 디자인</vt:lpstr>
      <vt:lpstr>Office 테마</vt:lpstr>
      <vt:lpstr>PowerPoint 演示文稿</vt:lpstr>
      <vt:lpstr>Review Result Report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admin</dc:creator>
  <cp:lastModifiedBy>rssd</cp:lastModifiedBy>
  <cp:revision>1750</cp:revision>
  <dcterms:created xsi:type="dcterms:W3CDTF">2008-11-26T05:44:28Z</dcterms:created>
  <dcterms:modified xsi:type="dcterms:W3CDTF">2019-01-28T07:47:04Z</dcterms:modified>
</cp:coreProperties>
</file>